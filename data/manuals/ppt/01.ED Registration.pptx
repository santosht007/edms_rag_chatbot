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5"/>
    <p:sldMasterId id="2147483666" r:id="rId6"/>
    <p:sldMasterId id="2147483659" r:id="rId7"/>
  </p:sldMasterIdLst>
  <p:notesMasterIdLst>
    <p:notesMasterId r:id="rId33"/>
  </p:notesMasterIdLst>
  <p:handoutMasterIdLst>
    <p:handoutMasterId r:id="rId34"/>
  </p:handoutMasterIdLst>
  <p:sldIdLst>
    <p:sldId id="457" r:id="rId8"/>
    <p:sldId id="460" r:id="rId9"/>
    <p:sldId id="427" r:id="rId10"/>
    <p:sldId id="429" r:id="rId11"/>
    <p:sldId id="397" r:id="rId12"/>
    <p:sldId id="398" r:id="rId13"/>
    <p:sldId id="428" r:id="rId14"/>
    <p:sldId id="431" r:id="rId15"/>
    <p:sldId id="430" r:id="rId16"/>
    <p:sldId id="432" r:id="rId17"/>
    <p:sldId id="433" r:id="rId18"/>
    <p:sldId id="434" r:id="rId19"/>
    <p:sldId id="435" r:id="rId20"/>
    <p:sldId id="436" r:id="rId21"/>
    <p:sldId id="437" r:id="rId22"/>
    <p:sldId id="438" r:id="rId23"/>
    <p:sldId id="439" r:id="rId24"/>
    <p:sldId id="440" r:id="rId25"/>
    <p:sldId id="441" r:id="rId26"/>
    <p:sldId id="442" r:id="rId27"/>
    <p:sldId id="443" r:id="rId28"/>
    <p:sldId id="444" r:id="rId29"/>
    <p:sldId id="445" r:id="rId30"/>
    <p:sldId id="446" r:id="rId31"/>
    <p:sldId id="458" r:id="rId32"/>
  </p:sldIdLst>
  <p:sldSz cx="12192000" cy="6858000"/>
  <p:notesSz cx="10007600" cy="14363700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umimoji="1"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umimoji="1"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umimoji="1"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umimoji="1"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6" pos="166" userDrawn="1">
          <p15:clr>
            <a:srgbClr val="A4A3A4"/>
          </p15:clr>
        </p15:guide>
        <p15:guide id="7" orient="horz" pos="119" userDrawn="1">
          <p15:clr>
            <a:srgbClr val="A4A3A4"/>
          </p15:clr>
        </p15:guide>
        <p15:guide id="9" orient="horz" pos="2160" userDrawn="1">
          <p15:clr>
            <a:srgbClr val="A4A3A4"/>
          </p15:clr>
        </p15:guide>
        <p15:guide id="10" pos="3840" userDrawn="1">
          <p15:clr>
            <a:srgbClr val="A4A3A4"/>
          </p15:clr>
        </p15:guide>
        <p15:guide id="16" orient="horz" pos="4178" userDrawn="1">
          <p15:clr>
            <a:srgbClr val="A4A3A4"/>
          </p15:clr>
        </p15:guide>
        <p15:guide id="17" pos="7514" userDrawn="1">
          <p15:clr>
            <a:srgbClr val="A4A3A4"/>
          </p15:clr>
        </p15:guide>
        <p15:guide id="19" orient="horz" pos="61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795BB"/>
    <a:srgbClr val="808080"/>
    <a:srgbClr val="003F66"/>
    <a:srgbClr val="E60012"/>
    <a:srgbClr val="DDDDDD"/>
    <a:srgbClr val="002A66"/>
    <a:srgbClr val="CF1818"/>
    <a:srgbClr val="EAECEE"/>
    <a:srgbClr val="CC0000"/>
    <a:srgbClr val="ADADAD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27102A9-8310-4765-A935-A1911B00CA55}" styleName="淡色スタイル 1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D083AE6-46FA-4A59-8FB0-9F97EB10719F}" styleName="淡色スタイル 3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7292A2E-F333-43FB-9621-5CBBE7FDCDCB}" styleName="淡色スタイル 2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淡色スタイル 2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269D01E-BC32-4049-B463-5C60D7B0CCD2}" styleName="テーマ スタイル 2 - アクセント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テーマ スタイル 1 - アクセント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792" autoAdjust="0"/>
  </p:normalViewPr>
  <p:slideViewPr>
    <p:cSldViewPr snapToGrid="0" showGuides="1">
      <p:cViewPr varScale="1">
        <p:scale>
          <a:sx n="82" d="100"/>
          <a:sy n="82" d="100"/>
        </p:scale>
        <p:origin x="720" y="72"/>
      </p:cViewPr>
      <p:guideLst>
        <p:guide pos="166"/>
        <p:guide orient="horz" pos="119"/>
        <p:guide orient="horz" pos="2160"/>
        <p:guide pos="3840"/>
        <p:guide orient="horz" pos="4178"/>
        <p:guide pos="7514"/>
        <p:guide orient="horz" pos="61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400" d="100"/>
        <a:sy n="4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202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34" Type="http://schemas.openxmlformats.org/officeDocument/2006/relationships/handoutMaster" Target="handoutMasters/handoutMaster1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presProps" Target="presProps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36627" cy="720679"/>
          </a:xfrm>
          <a:prstGeom prst="rect">
            <a:avLst/>
          </a:prstGeom>
        </p:spPr>
        <p:txBody>
          <a:bodyPr vert="horz" lIns="139263" tIns="69632" rIns="139263" bIns="69632" rtlCol="0"/>
          <a:lstStyle>
            <a:lvl1pPr algn="l">
              <a:defRPr sz="18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5668657" y="0"/>
            <a:ext cx="4336627" cy="720679"/>
          </a:xfrm>
          <a:prstGeom prst="rect">
            <a:avLst/>
          </a:prstGeom>
        </p:spPr>
        <p:txBody>
          <a:bodyPr vert="horz" lIns="139263" tIns="69632" rIns="139263" bIns="69632" rtlCol="0"/>
          <a:lstStyle>
            <a:lvl1pPr algn="r">
              <a:defRPr sz="1800"/>
            </a:lvl1pPr>
          </a:lstStyle>
          <a:p>
            <a:fld id="{2EAA5521-74A0-4497-BD3C-B34596D79315}" type="datetimeFigureOut">
              <a:rPr kumimoji="1" lang="ja-JP" altLang="en-US" smtClean="0"/>
              <a:t>2025/9/23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13643023"/>
            <a:ext cx="4336627" cy="720678"/>
          </a:xfrm>
          <a:prstGeom prst="rect">
            <a:avLst/>
          </a:prstGeom>
        </p:spPr>
        <p:txBody>
          <a:bodyPr vert="horz" lIns="139263" tIns="69632" rIns="139263" bIns="69632" rtlCol="0" anchor="b"/>
          <a:lstStyle>
            <a:lvl1pPr algn="l">
              <a:defRPr sz="18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5668657" y="13643023"/>
            <a:ext cx="4336627" cy="720678"/>
          </a:xfrm>
          <a:prstGeom prst="rect">
            <a:avLst/>
          </a:prstGeom>
        </p:spPr>
        <p:txBody>
          <a:bodyPr vert="horz" lIns="139263" tIns="69632" rIns="139263" bIns="69632" rtlCol="0" anchor="b"/>
          <a:lstStyle>
            <a:lvl1pPr algn="r">
              <a:defRPr sz="1800"/>
            </a:lvl1pPr>
          </a:lstStyle>
          <a:p>
            <a:fld id="{DA3E434F-EFAF-4CC8-962E-737203C16E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735990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36627" cy="718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9263" tIns="69632" rIns="139263" bIns="69632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68657" y="0"/>
            <a:ext cx="4336627" cy="718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9263" tIns="69632" rIns="139263" bIns="69632" numCol="1" anchor="t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5900" y="1077913"/>
            <a:ext cx="9575800" cy="5386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99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000760" y="6822758"/>
            <a:ext cx="8006080" cy="6463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9263" tIns="69632" rIns="139263" bIns="6963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399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13643022"/>
            <a:ext cx="4336627" cy="718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9263" tIns="69632" rIns="139263" bIns="69632" numCol="1" anchor="b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99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68657" y="13643022"/>
            <a:ext cx="4336627" cy="718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9263" tIns="69632" rIns="139263" bIns="69632" numCol="1" anchor="b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pPr>
              <a:defRPr/>
            </a:pPr>
            <a:fld id="{87A636EC-557D-4F00-BFDF-6F57ED43287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0818637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プレースホルダー 2"/>
          <p:cNvSpPr>
            <a:spLocks noGrp="1"/>
          </p:cNvSpPr>
          <p:nvPr>
            <p:ph type="body" sz="quarter" idx="12" hasCustomPrompt="1"/>
          </p:nvPr>
        </p:nvSpPr>
        <p:spPr>
          <a:xfrm>
            <a:off x="515939" y="3788390"/>
            <a:ext cx="11160124" cy="9702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aseline="0">
                <a:solidFill>
                  <a:schemeClr val="tx1"/>
                </a:solidFill>
                <a:latin typeface="Nissan Pro Regular" panose="02000503030000020003" pitchFamily="50" charset="0"/>
              </a:defRPr>
            </a:lvl1pPr>
          </a:lstStyle>
          <a:p>
            <a:pPr lvl="0"/>
            <a:r>
              <a:rPr kumimoji="1" lang="en-US" altLang="ja-JP" dirty="0"/>
              <a:t>Presentation Title</a:t>
            </a:r>
          </a:p>
        </p:txBody>
      </p:sp>
      <p:sp>
        <p:nvSpPr>
          <p:cNvPr id="7" name="テキスト プレースホルダー 2"/>
          <p:cNvSpPr>
            <a:spLocks noGrp="1"/>
          </p:cNvSpPr>
          <p:nvPr>
            <p:ph type="body" sz="quarter" idx="13" hasCustomPrompt="1"/>
          </p:nvPr>
        </p:nvSpPr>
        <p:spPr>
          <a:xfrm>
            <a:off x="515939" y="4836920"/>
            <a:ext cx="11160124" cy="127049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chemeClr val="tx1"/>
                </a:solidFill>
                <a:latin typeface="Nissan Pro Regular" panose="02000503030000020003" pitchFamily="50" charset="0"/>
              </a:defRPr>
            </a:lvl1pPr>
          </a:lstStyle>
          <a:p>
            <a:pPr lvl="0"/>
            <a:r>
              <a:rPr kumimoji="1" lang="en-US" altLang="ja-JP" dirty="0"/>
              <a:t>Presenter Name, Title</a:t>
            </a:r>
          </a:p>
          <a:p>
            <a:pPr lvl="0"/>
            <a:r>
              <a:rPr kumimoji="1" lang="en-US" altLang="ja-JP" dirty="0"/>
              <a:t>Department/Division</a:t>
            </a:r>
          </a:p>
          <a:p>
            <a:pPr lvl="0"/>
            <a:r>
              <a:rPr kumimoji="1" lang="en-US" altLang="ja-JP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393861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Template with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0555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pec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29"/>
          <p:cNvSpPr>
            <a:spLocks noChangeShapeType="1"/>
          </p:cNvSpPr>
          <p:nvPr userDrawn="1"/>
        </p:nvSpPr>
        <p:spPr bwMode="auto">
          <a:xfrm>
            <a:off x="407989" y="1614578"/>
            <a:ext cx="11376024" cy="0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" name="タイトル 1"/>
          <p:cNvSpPr txBox="1">
            <a:spLocks/>
          </p:cNvSpPr>
          <p:nvPr userDrawn="1"/>
        </p:nvSpPr>
        <p:spPr>
          <a:xfrm>
            <a:off x="263525" y="188914"/>
            <a:ext cx="4142481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5pPr>
            <a:lvl6pPr marL="457216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6pPr>
            <a:lvl7pPr marL="91443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7pPr>
            <a:lvl8pPr marL="1371645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8pPr>
            <a:lvl9pPr marL="1828861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b="0" kern="0" dirty="0">
                <a:solidFill>
                  <a:schemeClr val="tx1"/>
                </a:solidFill>
                <a:latin typeface="Nissan Pro Bold" panose="02000803050000020004" pitchFamily="50" charset="0"/>
              </a:rPr>
              <a:t>Today’s Expectation</a:t>
            </a:r>
          </a:p>
        </p:txBody>
      </p:sp>
      <p:pic>
        <p:nvPicPr>
          <p:cNvPr id="9" name="図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33011" y="6563989"/>
            <a:ext cx="925983" cy="209354"/>
          </a:xfrm>
          <a:prstGeom prst="rect">
            <a:avLst/>
          </a:prstGeom>
        </p:spPr>
      </p:pic>
      <p:sp>
        <p:nvSpPr>
          <p:cNvPr id="10" name="Text Box 25"/>
          <p:cNvSpPr txBox="1">
            <a:spLocks noChangeArrowheads="1"/>
          </p:cNvSpPr>
          <p:nvPr userDrawn="1"/>
        </p:nvSpPr>
        <p:spPr bwMode="gray">
          <a:xfrm>
            <a:off x="339642" y="6538771"/>
            <a:ext cx="64702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>
              <a:defRPr/>
            </a:pPr>
            <a:fld id="{BE0D9DC2-A27A-4EFB-883B-E13F148AC0E4}" type="slidenum">
              <a:rPr kumimoji="0" lang="en-US" altLang="ja-JP" sz="1200">
                <a:solidFill>
                  <a:srgbClr val="808080"/>
                </a:solidFill>
                <a:latin typeface="Nissan Pro Regular" panose="02000503030000020003" pitchFamily="50" charset="0"/>
                <a:ea typeface="Verdana" panose="020B0604030504040204" pitchFamily="34" charset="0"/>
                <a:cs typeface="Verdana" panose="020B0604030504040204" pitchFamily="34" charset="0"/>
              </a:rPr>
              <a:pPr>
                <a:defRPr/>
              </a:pPr>
              <a:t>‹#›</a:t>
            </a:fld>
            <a:endParaRPr kumimoji="0" lang="en-US" altLang="ja-JP" sz="1200" dirty="0">
              <a:solidFill>
                <a:srgbClr val="808080"/>
              </a:solidFill>
              <a:latin typeface="Nissan Pro Regular" panose="02000503030000020003" pitchFamily="50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685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37602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8154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プレースホルダー 5"/>
          <p:cNvSpPr>
            <a:spLocks noGrp="1"/>
          </p:cNvSpPr>
          <p:nvPr>
            <p:ph type="body" sz="quarter" idx="10" hasCustomPrompt="1"/>
          </p:nvPr>
        </p:nvSpPr>
        <p:spPr>
          <a:xfrm>
            <a:off x="263524" y="208032"/>
            <a:ext cx="11664951" cy="5635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latin typeface="Nissan Pro Bold" panose="02000803050000020004" pitchFamily="50" charset="0"/>
              </a:defRPr>
            </a:lvl1pPr>
          </a:lstStyle>
          <a:p>
            <a:pPr lvl="0"/>
            <a:r>
              <a:rPr kumimoji="1" lang="en-US" altLang="ja-JP" dirty="0"/>
              <a:t>Title, Nissan Pro Bold 32pt</a:t>
            </a:r>
            <a:endParaRPr kumimoji="1" lang="ja-JP" altLang="en-US" dirty="0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1" hasCustomPrompt="1"/>
          </p:nvPr>
        </p:nvSpPr>
        <p:spPr>
          <a:xfrm>
            <a:off x="270415" y="976343"/>
            <a:ext cx="11658059" cy="446057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n"/>
              <a:defRPr sz="2400" baseline="0">
                <a:latin typeface="Nissan Pro Regular" panose="02000503030000020003" pitchFamily="50" charset="0"/>
              </a:defRPr>
            </a:lvl1pPr>
          </a:lstStyle>
          <a:p>
            <a:pPr lvl="0"/>
            <a:r>
              <a:rPr kumimoji="1" lang="en-US" altLang="ja-JP" dirty="0"/>
              <a:t>Body Title, Nissan Pro Regular 24pt</a:t>
            </a:r>
            <a:endParaRPr kumimoji="1" lang="ja-JP" altLang="en-US" dirty="0"/>
          </a:p>
        </p:txBody>
      </p:sp>
      <p:sp>
        <p:nvSpPr>
          <p:cNvPr id="9" name="テキスト プレースホルダー 7"/>
          <p:cNvSpPr>
            <a:spLocks noGrp="1"/>
          </p:cNvSpPr>
          <p:nvPr>
            <p:ph type="body" sz="quarter" idx="12" hasCustomPrompt="1"/>
          </p:nvPr>
        </p:nvSpPr>
        <p:spPr>
          <a:xfrm>
            <a:off x="270415" y="1422400"/>
            <a:ext cx="11658059" cy="46228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 baseline="0">
                <a:latin typeface="Nissan Pro Regular" panose="02000503030000020003" pitchFamily="50" charset="0"/>
              </a:defRPr>
            </a:lvl1pPr>
          </a:lstStyle>
          <a:p>
            <a:pPr lvl="0"/>
            <a:r>
              <a:rPr kumimoji="1" lang="en-US" altLang="ja-JP" dirty="0"/>
              <a:t>Body Text, Nissan Pro Regular 18pt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987941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19" userDrawn="1">
          <p15:clr>
            <a:srgbClr val="FBAE40"/>
          </p15:clr>
        </p15:guide>
        <p15:guide id="5" orient="horz" pos="618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" b="55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正方形/長方形 5"/>
          <p:cNvSpPr/>
          <p:nvPr userDrawn="1"/>
        </p:nvSpPr>
        <p:spPr>
          <a:xfrm flipH="1">
            <a:off x="-1" y="0"/>
            <a:ext cx="12192000" cy="6858000"/>
          </a:xfrm>
          <a:prstGeom prst="rect">
            <a:avLst/>
          </a:prstGeom>
          <a:gradFill>
            <a:gsLst>
              <a:gs pos="0">
                <a:sysClr val="window" lastClr="FFFFFF">
                  <a:lumMod val="95000"/>
                  <a:alpha val="0"/>
                </a:sysClr>
              </a:gs>
              <a:gs pos="100000">
                <a:srgbClr val="B3B5B5">
                  <a:lumMod val="23000"/>
                  <a:lumOff val="77000"/>
                </a:srgbClr>
              </a:gs>
            </a:gsLst>
            <a:lin ang="3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50" charset="-128"/>
              <a:cs typeface="+mn-cs"/>
            </a:endParaRPr>
          </a:p>
        </p:txBody>
      </p:sp>
      <p:pic>
        <p:nvPicPr>
          <p:cNvPr id="4" name="図 3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427111" y="1635979"/>
            <a:ext cx="3337777" cy="754632"/>
          </a:xfrm>
          <a:prstGeom prst="rect">
            <a:avLst/>
          </a:prstGeom>
        </p:spPr>
      </p:pic>
      <p:sp>
        <p:nvSpPr>
          <p:cNvPr id="7" name="Alliance_Labeling"/>
          <p:cNvSpPr txBox="1"/>
          <p:nvPr userDrawn="1"/>
        </p:nvSpPr>
        <p:spPr>
          <a:xfrm>
            <a:off x="10338964" y="6605004"/>
            <a:ext cx="1128048" cy="226591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0000"/>
            </a:solidFill>
          </a:ln>
        </p:spPr>
        <p:txBody>
          <a:bodyPr vert="horz" wrap="none" lIns="72000" tIns="36000" rIns="72000" bIns="3600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ja-JP" sz="1000" b="0" dirty="0">
                <a:solidFill>
                  <a:srgbClr val="000000"/>
                </a:solidFill>
                <a:latin typeface="Verdana" panose="020B0604030504040204" pitchFamily="34" charset="0"/>
              </a:rPr>
              <a:t>Nissan Internal</a:t>
            </a:r>
            <a:endParaRPr kumimoji="1" lang="ja-JP" altLang="en-US" sz="1000" b="0" dirty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pic>
        <p:nvPicPr>
          <p:cNvPr id="2" name="図 1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4588" y="173410"/>
            <a:ext cx="1739432" cy="61349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70" r:id="rId2"/>
  </p:sldLayoutIdLs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5pPr>
      <a:lvl6pPr marL="457216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6pPr>
      <a:lvl7pPr marL="91443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7pPr>
      <a:lvl8pPr marL="1371645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8pPr>
      <a:lvl9pPr marL="1828861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9pPr>
    </p:titleStyle>
    <p:bodyStyle>
      <a:lvl1pPr marL="342911" indent="-342911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75" indent="-285759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38" indent="-228608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53" indent="-228608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69" indent="-228608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83" indent="-228608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99" indent="-228608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114" indent="-228608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330" indent="-228608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3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6" algn="l" defTabSz="91443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30" algn="l" defTabSz="91443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45" algn="l" defTabSz="91443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61" algn="l" defTabSz="91443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77" algn="l" defTabSz="91443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91" algn="l" defTabSz="91443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07" algn="l" defTabSz="91443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22" algn="l" defTabSz="91443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userDrawn="1">
          <p15:clr>
            <a:srgbClr val="F26B43"/>
          </p15:clr>
        </p15:guide>
        <p15:guide id="4" orient="horz" pos="4320" userDrawn="1">
          <p15:clr>
            <a:srgbClr val="F26B43"/>
          </p15:clr>
        </p15:guide>
        <p15:guide id="5" userDrawn="1">
          <p15:clr>
            <a:srgbClr val="F26B43"/>
          </p15:clr>
        </p15:guide>
        <p15:guide id="6" pos="7680" userDrawn="1">
          <p15:clr>
            <a:srgbClr val="F26B43"/>
          </p15:clr>
        </p15:guide>
        <p15:guide id="7" pos="325" userDrawn="1">
          <p15:clr>
            <a:srgbClr val="F26B43"/>
          </p15:clr>
        </p15:guide>
        <p15:guide id="8" pos="7355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" b="55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正方形/長方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ysClr val="window" lastClr="FFFFFF">
                  <a:lumMod val="95000"/>
                  <a:alpha val="0"/>
                </a:sysClr>
              </a:gs>
              <a:gs pos="100000">
                <a:srgbClr val="B3B5B5">
                  <a:lumMod val="23000"/>
                  <a:lumOff val="77000"/>
                </a:srgbClr>
              </a:gs>
            </a:gsLst>
            <a:lin ang="3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9" name="Alliance_Labeling"/>
          <p:cNvSpPr txBox="1"/>
          <p:nvPr userDrawn="1"/>
        </p:nvSpPr>
        <p:spPr>
          <a:xfrm>
            <a:off x="10124688" y="6571294"/>
            <a:ext cx="1128048" cy="226591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0000"/>
            </a:solidFill>
          </a:ln>
        </p:spPr>
        <p:txBody>
          <a:bodyPr vert="horz" wrap="none" lIns="72000" tIns="36000" rIns="72000" bIns="3600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ja-JP" sz="1000" b="0" dirty="0">
                <a:solidFill>
                  <a:srgbClr val="000000"/>
                </a:solidFill>
                <a:latin typeface="Verdana" panose="020B0604030504040204" pitchFamily="34" charset="0"/>
              </a:rPr>
              <a:t>Nissan Internal</a:t>
            </a:r>
            <a:endParaRPr kumimoji="1" lang="ja-JP" altLang="en-US" sz="1000" b="0" dirty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pic>
        <p:nvPicPr>
          <p:cNvPr id="6" name="図 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4588" y="173410"/>
            <a:ext cx="1739432" cy="61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948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7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3011" y="6563989"/>
            <a:ext cx="925983" cy="209354"/>
          </a:xfrm>
          <a:prstGeom prst="rect">
            <a:avLst/>
          </a:prstGeom>
        </p:spPr>
      </p:pic>
      <p:sp>
        <p:nvSpPr>
          <p:cNvPr id="16" name="Text Box 25"/>
          <p:cNvSpPr txBox="1">
            <a:spLocks noChangeArrowheads="1"/>
          </p:cNvSpPr>
          <p:nvPr/>
        </p:nvSpPr>
        <p:spPr bwMode="gray">
          <a:xfrm>
            <a:off x="339642" y="6538771"/>
            <a:ext cx="64702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>
              <a:defRPr/>
            </a:pPr>
            <a:fld id="{BE0D9DC2-A27A-4EFB-883B-E13F148AC0E4}" type="slidenum">
              <a:rPr kumimoji="0" lang="en-US" altLang="ja-JP" sz="1200">
                <a:solidFill>
                  <a:srgbClr val="808080"/>
                </a:solidFill>
                <a:latin typeface="Nissan Pro Regular" panose="02000503030000020003" pitchFamily="50" charset="0"/>
                <a:ea typeface="Verdana" panose="020B0604030504040204" pitchFamily="34" charset="0"/>
                <a:cs typeface="Verdana" panose="020B0604030504040204" pitchFamily="34" charset="0"/>
              </a:rPr>
              <a:pPr>
                <a:defRPr/>
              </a:pPr>
              <a:t>‹#›</a:t>
            </a:fld>
            <a:endParaRPr kumimoji="0" lang="en-US" altLang="ja-JP" sz="1200" dirty="0">
              <a:solidFill>
                <a:srgbClr val="808080"/>
              </a:solidFill>
              <a:latin typeface="Nissan Pro Regular" panose="02000503030000020003" pitchFamily="50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Alliance_Labeling"/>
          <p:cNvSpPr txBox="1"/>
          <p:nvPr userDrawn="1"/>
        </p:nvSpPr>
        <p:spPr>
          <a:xfrm>
            <a:off x="10358015" y="6589179"/>
            <a:ext cx="1128048" cy="226591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0000"/>
            </a:solidFill>
          </a:ln>
        </p:spPr>
        <p:txBody>
          <a:bodyPr vert="horz" wrap="none" lIns="72000" tIns="36000" rIns="72000" bIns="3600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ja-JP" sz="1000" b="0" dirty="0">
                <a:solidFill>
                  <a:srgbClr val="000000"/>
                </a:solidFill>
                <a:latin typeface="Verdana" panose="020B0604030504040204" pitchFamily="34" charset="0"/>
              </a:rPr>
              <a:t>Nissan Internal</a:t>
            </a:r>
            <a:endParaRPr kumimoji="1" lang="ja-JP" altLang="en-US" sz="1000" b="0" dirty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pic>
        <p:nvPicPr>
          <p:cNvPr id="6" name="図 5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4588" y="173410"/>
            <a:ext cx="1739432" cy="61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264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514" userDrawn="1">
          <p15:clr>
            <a:srgbClr val="F26B43"/>
          </p15:clr>
        </p15:guide>
        <p15:guide id="4" pos="16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7" Type="http://schemas.openxmlformats.org/officeDocument/2006/relationships/slide" Target="slide9.xml"/><Relationship Id="rId2" Type="http://schemas.openxmlformats.org/officeDocument/2006/relationships/slide" Target="slide3.xml"/><Relationship Id="rId1" Type="http://schemas.openxmlformats.org/officeDocument/2006/relationships/slideLayout" Target="../slideLayouts/slideLayout4.xml"/><Relationship Id="rId6" Type="http://schemas.openxmlformats.org/officeDocument/2006/relationships/slide" Target="slide8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jp.nissan.biz/EDMS_RL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jp.nissan.biz/EDMS_RL/ui/#!/doc/03fcf131-4a12-4699-bd6f-684119116cb2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#'Folder Actions'!A1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" Target="slide14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ja-JP" dirty="0"/>
              <a:t>Engineering Documents (ED) Registration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RNTBCI EDMS AMO Team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15805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0BD8-344D-9F6A-B330-8D9A31409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  <a:endParaRPr lang="en-IN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A9BC14B1-BD1C-F9D6-642A-61722ECDC023}"/>
              </a:ext>
            </a:extLst>
          </p:cNvPr>
          <p:cNvSpPr txBox="1"/>
          <p:nvPr/>
        </p:nvSpPr>
        <p:spPr>
          <a:xfrm>
            <a:off x="161952" y="773145"/>
            <a:ext cx="11083648" cy="3503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6239510">
              <a:spcBef>
                <a:spcPts val="195"/>
              </a:spcBef>
              <a:buClr>
                <a:srgbClr val="0562C1"/>
              </a:buClr>
              <a:tabLst>
                <a:tab pos="279400" algn="l"/>
              </a:tabLst>
            </a:pPr>
            <a:r>
              <a:rPr lang="en-US" sz="1400" b="1" u="sng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Meiryo UI" panose="020B0604030504040204" pitchFamily="34" charset="-128"/>
                <a:cs typeface="Arial" panose="020B0604020202020204" pitchFamily="34" charset="0"/>
                <a:hlinkClick r:id="rId2" action="ppaction://hlinksldjump"/>
              </a:rPr>
              <a:t>1 .</a:t>
            </a:r>
            <a:r>
              <a:rPr lang="en-US" sz="1400" b="1" u="sng" dirty="0">
                <a:solidFill>
                  <a:srgbClr val="0070C0"/>
                </a:solidFill>
                <a:uFill>
                  <a:solidFill>
                    <a:srgbClr val="0562C1"/>
                  </a:solidFill>
                </a:uFill>
                <a:latin typeface="Arial" panose="020B0604020202020204" pitchFamily="34" charset="0"/>
                <a:ea typeface="Meiryo UI" panose="020B0604030504040204" pitchFamily="34" charset="-128"/>
                <a:cs typeface="Arial" panose="020B0604020202020204" pitchFamily="34" charset="0"/>
                <a:hlinkClick r:id="rId2" action="ppaction://hlinksldjump"/>
              </a:rPr>
              <a:t>ED </a:t>
            </a:r>
            <a:r>
              <a:rPr lang="en-US" altLang="ja-JP" sz="1400" b="1" dirty="0">
                <a:solidFill>
                  <a:srgbClr val="0070C0"/>
                </a:solidFill>
                <a:effectLst/>
                <a:uFill>
                  <a:solidFill>
                    <a:srgbClr val="0562C1"/>
                  </a:solidFill>
                </a:uFill>
                <a:latin typeface="Arial" panose="020B0604020202020204" pitchFamily="34" charset="0"/>
                <a:ea typeface="Arial MT"/>
                <a:cs typeface="Arial" panose="020B0604020202020204" pitchFamily="34" charset="0"/>
                <a:hlinkClick r:id="rId2" action="ppaction://hlinksldjump"/>
              </a:rPr>
              <a:t> – Introduction</a:t>
            </a:r>
            <a:endParaRPr lang="en-IN" sz="1400" b="1" u="sng" dirty="0">
              <a:solidFill>
                <a:srgbClr val="0070C0"/>
              </a:solidFill>
              <a:latin typeface="Arial" panose="020B0604020202020204" pitchFamily="34" charset="0"/>
              <a:ea typeface="Meiryo UI" panose="020B0604030504040204" pitchFamily="34" charset="-128"/>
              <a:cs typeface="Arial" panose="020B0604020202020204" pitchFamily="34" charset="0"/>
            </a:endParaRPr>
          </a:p>
          <a:p>
            <a:pPr marR="6239510" lvl="0">
              <a:spcBef>
                <a:spcPts val="195"/>
              </a:spcBef>
              <a:spcAft>
                <a:spcPts val="0"/>
              </a:spcAft>
              <a:buClr>
                <a:srgbClr val="0562C1"/>
              </a:buClr>
              <a:tabLst>
                <a:tab pos="279400" algn="l"/>
              </a:tabLst>
            </a:pPr>
            <a:r>
              <a:rPr lang="en-US" sz="1400" b="0" u="none" strike="noStrike" dirty="0">
                <a:solidFill>
                  <a:srgbClr val="0070C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Meiryo UI" panose="020B0604030504040204" pitchFamily="34" charset="-128"/>
                <a:cs typeface="Arial" panose="020B0604020202020204" pitchFamily="34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1-1.EDMS</a:t>
            </a:r>
            <a:endParaRPr lang="en-IN" sz="1400" b="1" u="sng" dirty="0">
              <a:solidFill>
                <a:srgbClr val="0070C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Meiryo UI" panose="020B0604030504040204" pitchFamily="34" charset="-128"/>
              <a:cs typeface="Arial" panose="020B0604020202020204" pitchFamily="34" charset="0"/>
            </a:endParaRPr>
          </a:p>
          <a:p>
            <a:pPr marR="6239510" lvl="0">
              <a:spcBef>
                <a:spcPts val="195"/>
              </a:spcBef>
              <a:spcAft>
                <a:spcPts val="0"/>
              </a:spcAft>
              <a:buClr>
                <a:srgbClr val="0562C1"/>
              </a:buClr>
              <a:tabLst>
                <a:tab pos="279400" algn="l"/>
              </a:tabLst>
            </a:pPr>
            <a:r>
              <a:rPr lang="en-US" sz="1400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Meiryo UI" panose="020B0604030504040204" pitchFamily="34" charset="-128"/>
                <a:cs typeface="Arial" panose="020B0604020202020204" pitchFamily="34" charset="0"/>
              </a:rPr>
              <a:t>1-2.ED</a:t>
            </a:r>
            <a:endParaRPr lang="en-US" sz="1400" b="0" u="none" strike="noStrike" dirty="0">
              <a:solidFill>
                <a:srgbClr val="0070C0"/>
              </a:solidFill>
              <a:effectLst/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Meiryo UI" panose="020B0604030504040204" pitchFamily="34" charset="-128"/>
              <a:cs typeface="Arial" panose="020B0604020202020204" pitchFamily="34" charset="0"/>
            </a:endParaRPr>
          </a:p>
          <a:p>
            <a:pPr marR="6239510" lvl="0">
              <a:spcBef>
                <a:spcPts val="195"/>
              </a:spcBef>
              <a:spcAft>
                <a:spcPts val="0"/>
              </a:spcAft>
              <a:buClr>
                <a:srgbClr val="0562C1"/>
              </a:buClr>
              <a:tabLst>
                <a:tab pos="279400" algn="l"/>
              </a:tabLst>
            </a:pPr>
            <a:endParaRPr lang="en-US" sz="1400" b="1" u="sng" dirty="0">
              <a:solidFill>
                <a:srgbClr val="0070C0"/>
              </a:solidFill>
              <a:effectLst/>
              <a:latin typeface="Arial" panose="020B0604020202020204" pitchFamily="34" charset="0"/>
              <a:ea typeface="Meiryo UI" panose="020B0604030504040204" pitchFamily="34" charset="-128"/>
              <a:cs typeface="Arial" panose="020B0604020202020204" pitchFamily="34" charset="0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R="6239510" lvl="0">
              <a:spcBef>
                <a:spcPts val="195"/>
              </a:spcBef>
              <a:spcAft>
                <a:spcPts val="0"/>
              </a:spcAft>
              <a:buClr>
                <a:srgbClr val="0562C1"/>
              </a:buClr>
              <a:tabLst>
                <a:tab pos="279400" algn="l"/>
              </a:tabLst>
            </a:pPr>
            <a:r>
              <a:rPr lang="en-US" sz="1400" b="1" u="sng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Meiryo UI" panose="020B0604030504040204" pitchFamily="34" charset="-128"/>
                <a:cs typeface="Arial" panose="020B0604020202020204" pitchFamily="34" charset="0"/>
                <a:hlinkClick r:id="rId3" action="ppaction://hlinksldjump"/>
              </a:rPr>
              <a:t>2. </a:t>
            </a:r>
            <a:r>
              <a:rPr lang="en-US" altLang="ja-JP" sz="1400" b="1" dirty="0">
                <a:solidFill>
                  <a:srgbClr val="0070C0"/>
                </a:solidFill>
                <a:effectLst/>
                <a:uFill>
                  <a:solidFill>
                    <a:srgbClr val="0562C1"/>
                  </a:solidFill>
                </a:uFill>
                <a:latin typeface="Arial" panose="020B0604020202020204" pitchFamily="34" charset="0"/>
                <a:ea typeface="Arial MT"/>
                <a:cs typeface="Arial" panose="020B0604020202020204" pitchFamily="34" charset="0"/>
                <a:hlinkClick r:id="rId3" action="ppaction://hlinksldjump"/>
              </a:rPr>
              <a:t>Pre-requisites</a:t>
            </a:r>
            <a:endParaRPr lang="en-US" sz="1400" b="1" u="sng" dirty="0">
              <a:solidFill>
                <a:srgbClr val="0070C0"/>
              </a:solidFill>
              <a:latin typeface="Arial" panose="020B0604020202020204" pitchFamily="34" charset="0"/>
              <a:ea typeface="Meiryo UI" panose="020B0604030504040204" pitchFamily="34" charset="-128"/>
              <a:cs typeface="Arial" panose="020B0604020202020204" pitchFamily="34" charset="0"/>
            </a:endParaRPr>
          </a:p>
          <a:p>
            <a:pPr marR="6239510">
              <a:spcBef>
                <a:spcPts val="195"/>
              </a:spcBef>
              <a:buClr>
                <a:srgbClr val="0562C1"/>
              </a:buClr>
              <a:tabLst>
                <a:tab pos="279400" algn="l"/>
              </a:tabLst>
            </a:pPr>
            <a:r>
              <a:rPr lang="en-US" sz="1400" u="none" strike="noStrike" dirty="0">
                <a:solidFill>
                  <a:srgbClr val="0070C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Meiryo UI" panose="020B0604030504040204" pitchFamily="34" charset="-128"/>
                <a:cs typeface="Arial" panose="020B0604020202020204" pitchFamily="34" charset="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2-1.</a:t>
            </a:r>
            <a:r>
              <a:rPr lang="en-US" altLang="ja-JP" sz="1400" u="sng" dirty="0">
                <a:solidFill>
                  <a:srgbClr val="0070C0"/>
                </a:solidFill>
                <a:uFill>
                  <a:solidFill>
                    <a:srgbClr val="0562C1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URL and Signing In</a:t>
            </a:r>
            <a:endParaRPr lang="en-IN" sz="1400" u="sng" dirty="0">
              <a:solidFill>
                <a:srgbClr val="0070C0"/>
              </a:solidFill>
              <a:latin typeface="Arial" panose="020B0604020202020204" pitchFamily="34" charset="0"/>
              <a:ea typeface="Meiryo UI" panose="020B0604030504040204" pitchFamily="34" charset="-128"/>
              <a:cs typeface="Arial" panose="020B0604020202020204" pitchFamily="34" charset="0"/>
            </a:endParaRPr>
          </a:p>
          <a:p>
            <a:pPr marR="6239510">
              <a:spcBef>
                <a:spcPts val="195"/>
              </a:spcBef>
              <a:buClr>
                <a:srgbClr val="0562C1"/>
              </a:buClr>
              <a:tabLst>
                <a:tab pos="279400" algn="l"/>
              </a:tabLst>
            </a:pPr>
            <a:r>
              <a:rPr lang="en-US" sz="1400" u="none" strike="noStrike" dirty="0">
                <a:solidFill>
                  <a:srgbClr val="0070C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Meiryo UI" panose="020B0604030504040204" pitchFamily="34" charset="-128"/>
                <a:cs typeface="Arial" panose="020B0604020202020204" pitchFamily="34" charset="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2-2.</a:t>
            </a:r>
            <a:r>
              <a:rPr lang="en-US" altLang="ja-JP" sz="1400" u="sng" dirty="0">
                <a:solidFill>
                  <a:srgbClr val="0070C0"/>
                </a:solidFill>
                <a:uFill>
                  <a:solidFill>
                    <a:srgbClr val="0562C1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Language</a:t>
            </a:r>
            <a:endParaRPr lang="en-US" sz="1400" dirty="0">
              <a:solidFill>
                <a:srgbClr val="0070C0"/>
              </a:solidFill>
              <a:latin typeface="Arial" panose="020B0604020202020204" pitchFamily="34" charset="0"/>
              <a:ea typeface="Meiryo UI" panose="020B0604030504040204" pitchFamily="34" charset="-128"/>
              <a:cs typeface="Arial" panose="020B0604020202020204" pitchFamily="34" charset="0"/>
            </a:endParaRPr>
          </a:p>
          <a:p>
            <a:pPr marR="6239510" lvl="0">
              <a:spcBef>
                <a:spcPts val="195"/>
              </a:spcBef>
              <a:spcAft>
                <a:spcPts val="0"/>
              </a:spcAft>
              <a:buClr>
                <a:srgbClr val="0562C1"/>
              </a:buClr>
              <a:tabLst>
                <a:tab pos="279400" algn="l"/>
              </a:tabLst>
            </a:pPr>
            <a:br>
              <a:rPr lang="en-US" sz="1400" b="0" u="none" strike="noStrike" dirty="0">
                <a:solidFill>
                  <a:srgbClr val="0070C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Meiryo UI" panose="020B0604030504040204" pitchFamily="34" charset="-128"/>
                <a:cs typeface="Arial" panose="020B0604020202020204" pitchFamily="34" charset="0"/>
              </a:rPr>
            </a:br>
            <a:r>
              <a:rPr lang="en-US" sz="1400" b="1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Meiryo UI" panose="020B0604030504040204" pitchFamily="34" charset="-128"/>
                <a:cs typeface="Arial" panose="020B0604020202020204" pitchFamily="34" charset="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r>
              <a:rPr lang="en-US" sz="1400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Meiryo UI" panose="020B0604030504040204" pitchFamily="34" charset="-128"/>
                <a:cs typeface="Arial" panose="020B0604020202020204" pitchFamily="34" charset="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r>
              <a:rPr lang="en-US" sz="1400" b="0" u="none" strike="noStrike" dirty="0">
                <a:solidFill>
                  <a:srgbClr val="0070C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Meiryo UI" panose="020B0604030504040204" pitchFamily="34" charset="-128"/>
                <a:cs typeface="Arial" panose="020B0604020202020204" pitchFamily="34" charset="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ja-JP" sz="1400" b="1" dirty="0">
                <a:solidFill>
                  <a:srgbClr val="0070C0"/>
                </a:solidFill>
                <a:effectLst/>
                <a:uFill>
                  <a:solidFill>
                    <a:srgbClr val="0562C1"/>
                  </a:solidFill>
                </a:uFill>
                <a:latin typeface="Arial" panose="020B0604020202020204" pitchFamily="34" charset="0"/>
                <a:ea typeface="Arial MT"/>
                <a:cs typeface="Arial" panose="020B0604020202020204" pitchFamily="34" charset="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Registration</a:t>
            </a:r>
            <a:br>
              <a:rPr lang="en-IN" altLang="ja-JP" sz="1400" b="1" u="sng" dirty="0">
                <a:solidFill>
                  <a:srgbClr val="0070C0"/>
                </a:solidFill>
                <a:latin typeface="Arial" panose="020B0604020202020204" pitchFamily="34" charset="0"/>
                <a:ea typeface="Meiryo UI" panose="020B0604030504040204" pitchFamily="34" charset="-128"/>
                <a:cs typeface="Arial" panose="020B0604020202020204" pitchFamily="34" charset="0"/>
              </a:rPr>
            </a:br>
            <a:r>
              <a:rPr lang="en-US" altLang="ja-JP" sz="1400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Meiryo UI" panose="020B0604030504040204" pitchFamily="34" charset="-128"/>
                <a:cs typeface="Arial" panose="020B0604020202020204" pitchFamily="34" charset="0"/>
                <a:hlinkClick r:id="rId7" action="ppaction://hlinksldjump"/>
              </a:rPr>
              <a:t> </a:t>
            </a:r>
            <a:r>
              <a:rPr lang="en-US" sz="1400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Meiryo UI" panose="020B0604030504040204" pitchFamily="34" charset="-128"/>
                <a:cs typeface="Arial" panose="020B0604020202020204" pitchFamily="34" charset="0"/>
                <a:hlinkClick r:id="rId7" action="ppaction://hlinksldjump"/>
              </a:rPr>
              <a:t>3-1.</a:t>
            </a:r>
            <a:r>
              <a:rPr lang="en-US" altLang="ja-JP" sz="1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hlinkClick r:id="rId7" action="ppaction://hlinksldjump"/>
              </a:rPr>
              <a:t>Home</a:t>
            </a:r>
            <a:r>
              <a:rPr lang="ja-JP" altLang="en-US" sz="1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hlinkClick r:id="rId7" action="ppaction://hlinksldjump"/>
              </a:rPr>
              <a:t> </a:t>
            </a:r>
            <a:r>
              <a:rPr lang="en-US" altLang="ja-JP" sz="1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hlinkClick r:id="rId7" action="ppaction://hlinksldjump"/>
              </a:rPr>
              <a:t>screen- Layout</a:t>
            </a:r>
            <a:endParaRPr lang="en-IN" altLang="ja-JP" sz="1400" dirty="0">
              <a:solidFill>
                <a:srgbClr val="0070C0"/>
              </a:solidFill>
              <a:latin typeface="Arial" panose="020B0604020202020204" pitchFamily="34" charset="0"/>
              <a:ea typeface="Meiryo UI" panose="020B0604030504040204" pitchFamily="34" charset="-128"/>
              <a:cs typeface="Arial" panose="020B0604020202020204" pitchFamily="34" charset="0"/>
            </a:endParaRPr>
          </a:p>
          <a:p>
            <a:pPr algn="l"/>
            <a:r>
              <a:rPr lang="en-US" sz="1400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Meiryo UI" panose="020B0604030504040204" pitchFamily="34" charset="-128"/>
                <a:cs typeface="Arial" panose="020B0604020202020204" pitchFamily="34" charset="0"/>
              </a:rPr>
              <a:t> 3-2. </a:t>
            </a:r>
            <a:r>
              <a:rPr lang="en-US" altLang="ja-JP" sz="1400" u="sng" dirty="0">
                <a:solidFill>
                  <a:srgbClr val="0070C0"/>
                </a:solidFill>
                <a:uFill>
                  <a:solidFill>
                    <a:srgbClr val="0562C1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ED Registration</a:t>
            </a:r>
          </a:p>
          <a:p>
            <a:pPr algn="l"/>
            <a:r>
              <a:rPr lang="en-US" altLang="ja-JP" sz="1400" dirty="0">
                <a:solidFill>
                  <a:srgbClr val="0070C0"/>
                </a:solidFill>
                <a:uFill>
                  <a:solidFill>
                    <a:srgbClr val="0562C1"/>
                  </a:solidFill>
                </a:uFill>
                <a:latin typeface="Arial" panose="020B0604020202020204" pitchFamily="34" charset="0"/>
                <a:ea typeface="Meiryo UI" panose="020B0604030504040204" pitchFamily="34" charset="-128"/>
                <a:cs typeface="Arial" panose="020B0604020202020204" pitchFamily="34" charset="0"/>
              </a:rPr>
              <a:t> </a:t>
            </a:r>
            <a:r>
              <a:rPr lang="en-US" altLang="ja-JP" sz="1400" u="sng" dirty="0">
                <a:solidFill>
                  <a:srgbClr val="0070C0"/>
                </a:solidFill>
                <a:uFill>
                  <a:solidFill>
                    <a:srgbClr val="0562C1"/>
                  </a:solidFill>
                </a:uFill>
                <a:latin typeface="Arial" panose="020B0604020202020204" pitchFamily="34" charset="0"/>
                <a:ea typeface="Meiryo UI" panose="020B0604030504040204" pitchFamily="34" charset="-128"/>
                <a:cs typeface="Arial" panose="020B0604020202020204" pitchFamily="34" charset="0"/>
              </a:rPr>
              <a:t>3-3.</a:t>
            </a:r>
            <a:r>
              <a:rPr lang="en-US" altLang="ja-JP" sz="1400" u="sng" dirty="0">
                <a:solidFill>
                  <a:srgbClr val="0070C0"/>
                </a:solidFill>
                <a:uFill>
                  <a:solidFill>
                    <a:srgbClr val="0562C1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Attachment Upload</a:t>
            </a:r>
            <a:br>
              <a:rPr lang="en-IN" altLang="ja-JP" sz="1400" dirty="0">
                <a:solidFill>
                  <a:srgbClr val="0070C0"/>
                </a:solidFill>
                <a:latin typeface="Arial" panose="020B0604020202020204" pitchFamily="34" charset="0"/>
                <a:ea typeface="Meiryo UI" panose="020B0604030504040204" pitchFamily="34" charset="-128"/>
                <a:cs typeface="Arial" panose="020B0604020202020204" pitchFamily="34" charset="0"/>
              </a:rPr>
            </a:br>
            <a:br>
              <a:rPr lang="en-US" sz="1400" u="none" strike="noStrike" dirty="0">
                <a:solidFill>
                  <a:srgbClr val="0070C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Meiryo" panose="020B0604030504040204" pitchFamily="34" charset="-128"/>
                <a:cs typeface="Arial" panose="020B0604020202020204" pitchFamily="34" charset="0"/>
              </a:rPr>
            </a:br>
            <a:br>
              <a:rPr lang="en-IN" altLang="ja-JP" sz="1400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Meiryo" panose="020B0604030504040204" pitchFamily="34" charset="-128"/>
                <a:cs typeface="Arial" panose="020B0604020202020204" pitchFamily="34" charset="0"/>
              </a:rPr>
            </a:br>
            <a:endParaRPr lang="en-IN" altLang="ja-JP" sz="1400" dirty="0">
              <a:solidFill>
                <a:srgbClr val="0070C0"/>
              </a:solidFill>
              <a:latin typeface="Arial" panose="020B0604020202020204" pitchFamily="34" charset="0"/>
              <a:ea typeface="Meiryo UI" panose="020B060403050404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113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6E8E37-9976-BAA9-B1C9-89F414276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4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1.ED – Introduction</a:t>
            </a:r>
            <a:endParaRPr lang="ja-JP" altLang="en-US" sz="2400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4CC6CE2-4140-BE37-D6D0-FAF112E95D65}"/>
              </a:ext>
            </a:extLst>
          </p:cNvPr>
          <p:cNvSpPr txBox="1"/>
          <p:nvPr/>
        </p:nvSpPr>
        <p:spPr>
          <a:xfrm>
            <a:off x="90487" y="558803"/>
            <a:ext cx="11858625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Bef>
                <a:spcPts val="440"/>
              </a:spcBef>
              <a:buClr>
                <a:srgbClr val="BF0000"/>
              </a:buClr>
              <a:buSzPts val="2300"/>
              <a:buFont typeface="Times New Roman" panose="02020603050405020304" pitchFamily="18" charset="0"/>
              <a:buChar char="■"/>
              <a:tabLst>
                <a:tab pos="445135" algn="l"/>
              </a:tabLst>
            </a:pPr>
            <a:r>
              <a:rPr lang="en-US" sz="32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1-1.</a:t>
            </a:r>
            <a:r>
              <a:rPr lang="en-US" sz="3200" b="1" spc="55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EDMS - </a:t>
            </a:r>
            <a:r>
              <a:rPr lang="en-US" sz="32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Introduction</a:t>
            </a:r>
            <a:endParaRPr lang="en-IN" sz="32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74320" marR="208915">
              <a:spcBef>
                <a:spcPts val="1055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The EDMS (Engineering Document Management System) is a vital application employed by the R&amp;D department. It serves as a repository for various technical documents, including meeting minutes, materials, and records from major meetings, technical discussions, project management, cross-functional activities, events, and Nissan product developments. Additionally, it maintains a historical record of external contacts, such as suppliers, competitors, government agencies, associations, and others, used for research purposes.</a:t>
            </a:r>
            <a:endParaRPr lang="en-IN" sz="1800" dirty="0">
              <a:effectLst/>
              <a:latin typeface="Arial" panose="020B0604020202020204" pitchFamily="34" charset="0"/>
              <a:ea typeface="Arial MT"/>
              <a:cs typeface="Arial" panose="020B0604020202020204" pitchFamily="34" charset="0"/>
            </a:endParaRPr>
          </a:p>
          <a:p>
            <a:pPr marL="274320" marR="208915">
              <a:spcBef>
                <a:spcPts val="1055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An essential feature of the EDMS is the digitization and upload of legacy engineering documents, particularly the "Mist of the OED" papers, which serve as reference materials within the R&amp;D department. The EDMS grants access to approximately 45,000 users across different regions (NML, NTC, NS, JT,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Autech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, NATV, NMUK, RNTBCI, NTCNA).</a:t>
            </a:r>
          </a:p>
          <a:p>
            <a:pPr marL="274320" marR="208915">
              <a:spcBef>
                <a:spcPts val="1055"/>
              </a:spcBef>
              <a:spcAft>
                <a:spcPts val="0"/>
              </a:spcAft>
            </a:pPr>
            <a:endParaRPr lang="en-IN" sz="1800" dirty="0">
              <a:effectLst/>
              <a:latin typeface="Arial" panose="020B0604020202020204" pitchFamily="34" charset="0"/>
              <a:ea typeface="Arial MT"/>
              <a:cs typeface="Arial" panose="020B0604020202020204" pitchFamily="34" charset="0"/>
            </a:endParaRPr>
          </a:p>
          <a:p>
            <a:pPr marL="342900" lvl="0" indent="-342900">
              <a:spcBef>
                <a:spcPts val="440"/>
              </a:spcBef>
              <a:buClr>
                <a:srgbClr val="BF0000"/>
              </a:buClr>
              <a:buSzPts val="2300"/>
              <a:buFont typeface="Times New Roman" panose="02020603050405020304" pitchFamily="18" charset="0"/>
              <a:buChar char="■"/>
              <a:tabLst>
                <a:tab pos="445135" algn="l"/>
              </a:tabLst>
            </a:pPr>
            <a:r>
              <a:rPr lang="en-US" sz="32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1-2. </a:t>
            </a:r>
            <a:r>
              <a:rPr 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ED</a:t>
            </a:r>
            <a:endParaRPr lang="en-IN" sz="32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74320" marR="208915">
              <a:spcBef>
                <a:spcPts val="1055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ED (Engineering Documents) serves as a repository for all the Engineering related documents. </a:t>
            </a:r>
            <a:endParaRPr lang="en-IN" sz="1800" dirty="0">
              <a:effectLst/>
              <a:latin typeface="Arial" panose="020B0604020202020204" pitchFamily="34" charset="0"/>
              <a:ea typeface="Arial M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7483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B10852F-0A79-42BA-D27B-25002518881F}"/>
              </a:ext>
            </a:extLst>
          </p:cNvPr>
          <p:cNvSpPr txBox="1"/>
          <p:nvPr/>
        </p:nvSpPr>
        <p:spPr>
          <a:xfrm>
            <a:off x="2505075" y="2629971"/>
            <a:ext cx="6134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2. Pre-requisites</a:t>
            </a:r>
            <a:endParaRPr lang="ja-JP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831757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5C41B181-4088-B217-26B0-97FBDD85B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" y="9525"/>
            <a:ext cx="7315200" cy="536575"/>
          </a:xfrm>
        </p:spPr>
        <p:txBody>
          <a:bodyPr/>
          <a:lstStyle/>
          <a:p>
            <a:pPr marR="0" indent="0" eaLnBrk="1" fontAlgn="base" hangingPunct="1">
              <a:lnSpc>
                <a:spcPct val="100000"/>
              </a:lnSpc>
              <a:spcBef>
                <a:spcPts val="440"/>
              </a:spcBef>
              <a:spcAft>
                <a:spcPct val="0"/>
              </a:spcAft>
              <a:buClr>
                <a:srgbClr val="BF0000"/>
              </a:buClr>
              <a:buSzPts val="2300"/>
              <a:tabLst>
                <a:tab pos="445135" algn="l"/>
              </a:tabLst>
            </a:pPr>
            <a:r>
              <a:rPr lang="en-US" altLang="en-US" sz="2400" b="1" dirty="0">
                <a:cs typeface="Arial" panose="020B0604020202020204" pitchFamily="34" charset="0"/>
              </a:rPr>
              <a:t>2.1. URL </a:t>
            </a:r>
            <a:r>
              <a:rPr lang="en-US" altLang="en-US" sz="2400" b="1" dirty="0">
                <a:solidFill>
                  <a:srgbClr val="000000"/>
                </a:solidFill>
                <a:cs typeface="Arial" panose="020B0604020202020204" pitchFamily="34" charset="0"/>
              </a:rPr>
              <a:t>&amp; Signing in 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2F2EB0BA-CDA2-8C3F-22BF-67CDDD090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250" y="655955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8" name="Picture 120">
            <a:extLst>
              <a:ext uri="{FF2B5EF4-FFF2-40B4-BE49-F238E27FC236}">
                <a16:creationId xmlns:a16="http://schemas.microsoft.com/office/drawing/2014/main" id="{EAC2A494-45DA-B08F-F557-167A35317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" y="3672872"/>
            <a:ext cx="3371850" cy="154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5">
            <a:extLst>
              <a:ext uri="{FF2B5EF4-FFF2-40B4-BE49-F238E27FC236}">
                <a16:creationId xmlns:a16="http://schemas.microsoft.com/office/drawing/2014/main" id="{9471D670-E035-D40F-AF22-7EE483FF4D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07022" y="3483299"/>
            <a:ext cx="797814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3:  </a:t>
            </a:r>
            <a:r>
              <a:rPr kumimoji="0" lang="en-US" alt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your GD user ID and password. Then click OK. And now you will enter system.</a:t>
            </a:r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82F18EBE-E116-568E-EE3C-39D1471605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97497" y="5164853"/>
            <a:ext cx="765722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To Logout, just click on “x” button in the browser to close the portal. No need for sign out.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359134D2-25F0-C74C-A93F-DE8A10A45E81}"/>
              </a:ext>
            </a:extLst>
          </p:cNvPr>
          <p:cNvSpPr txBox="1"/>
          <p:nvPr/>
        </p:nvSpPr>
        <p:spPr>
          <a:xfrm>
            <a:off x="66675" y="757470"/>
            <a:ext cx="1094573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Step 1: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Access URL :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  <a:hlinkClick r:id="rId3"/>
              </a:rPr>
              <a:t>https://jp.nissan.biz/EDMS_RL/</a:t>
            </a:r>
            <a:endParaRPr kumimoji="0"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Step 2: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When login for first time, the screen below may appear. Please select 1 as below.</a:t>
            </a:r>
          </a:p>
          <a:p>
            <a:pPr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*If this screen doesn’t appear, please skip below step 2+3.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504F5854-4F08-1BDC-5CAE-77C6A57F30DF}"/>
              </a:ext>
            </a:extLst>
          </p:cNvPr>
          <p:cNvGrpSpPr/>
          <p:nvPr/>
        </p:nvGrpSpPr>
        <p:grpSpPr>
          <a:xfrm>
            <a:off x="227134" y="1633307"/>
            <a:ext cx="3963866" cy="1776230"/>
            <a:chOff x="227134" y="1900777"/>
            <a:chExt cx="3963866" cy="1776230"/>
          </a:xfrm>
        </p:grpSpPr>
        <p:pic>
          <p:nvPicPr>
            <p:cNvPr id="11" name="Picture 117">
              <a:extLst>
                <a:ext uri="{FF2B5EF4-FFF2-40B4-BE49-F238E27FC236}">
                  <a16:creationId xmlns:a16="http://schemas.microsoft.com/office/drawing/2014/main" id="{13154D00-3909-F58F-18C9-B75F08BF28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134" y="1900777"/>
              <a:ext cx="3963866" cy="17762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Rectangle: Rounded Corners 376">
              <a:extLst>
                <a:ext uri="{FF2B5EF4-FFF2-40B4-BE49-F238E27FC236}">
                  <a16:creationId xmlns:a16="http://schemas.microsoft.com/office/drawing/2014/main" id="{D54634DE-CE3F-6533-5E8D-7ED4BE2494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526" y="2736032"/>
              <a:ext cx="1762124" cy="215727"/>
            </a:xfrm>
            <a:prstGeom prst="roundRect">
              <a:avLst>
                <a:gd name="adj" fmla="val 16667"/>
              </a:avLst>
            </a:prstGeom>
            <a:noFill/>
            <a:ln w="28575">
              <a:solidFill>
                <a:srgbClr val="0070C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189EDBCD-7D39-B7BC-B776-2323E798D7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135" y="5640616"/>
            <a:ext cx="2797420" cy="599447"/>
          </a:xfrm>
          <a:prstGeom prst="rect">
            <a:avLst/>
          </a:prstGeom>
        </p:spPr>
      </p:pic>
      <p:sp>
        <p:nvSpPr>
          <p:cNvPr id="3" name="Rectangle: Rounded Corners 376">
            <a:extLst>
              <a:ext uri="{FF2B5EF4-FFF2-40B4-BE49-F238E27FC236}">
                <a16:creationId xmlns:a16="http://schemas.microsoft.com/office/drawing/2014/main" id="{A9B18855-4A1B-5CBA-4D67-2BC2C4323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9985" y="5631145"/>
            <a:ext cx="405330" cy="294192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0070C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3269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7F0AFD-5C82-24BF-5DDB-C4A7DC158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b="1" dirty="0"/>
              <a:t>2-2.How to change Language</a:t>
            </a:r>
            <a:endParaRPr kumimoji="1" lang="ja-JP" altLang="en-US" b="1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E009997-8916-62B4-B165-8D1217140C0F}"/>
              </a:ext>
            </a:extLst>
          </p:cNvPr>
          <p:cNvGrpSpPr/>
          <p:nvPr/>
        </p:nvGrpSpPr>
        <p:grpSpPr>
          <a:xfrm>
            <a:off x="2212312" y="642652"/>
            <a:ext cx="7035314" cy="2929001"/>
            <a:chOff x="2315418" y="351207"/>
            <a:chExt cx="7828072" cy="4245239"/>
          </a:xfrm>
        </p:grpSpPr>
        <p:pic>
          <p:nvPicPr>
            <p:cNvPr id="5" name="Picture 116">
              <a:extLst>
                <a:ext uri="{FF2B5EF4-FFF2-40B4-BE49-F238E27FC236}">
                  <a16:creationId xmlns:a16="http://schemas.microsoft.com/office/drawing/2014/main" id="{CD740233-5DE3-57F5-1FC6-39A52DB679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5418" y="1033669"/>
              <a:ext cx="7007970" cy="35627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Speech Bubble: Rectangle 1849897490">
              <a:extLst>
                <a:ext uri="{FF2B5EF4-FFF2-40B4-BE49-F238E27FC236}">
                  <a16:creationId xmlns:a16="http://schemas.microsoft.com/office/drawing/2014/main" id="{2A043DE4-3F71-0CE4-6980-1E527E8B9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2713" y="2841129"/>
              <a:ext cx="975277" cy="552698"/>
            </a:xfrm>
            <a:prstGeom prst="wedgeRectCallout">
              <a:avLst>
                <a:gd name="adj1" fmla="val -68474"/>
                <a:gd name="adj2" fmla="val 131186"/>
              </a:avLst>
            </a:prstGeom>
            <a:solidFill>
              <a:srgbClr val="4F81BD"/>
            </a:solidFill>
            <a:ln w="38100">
              <a:solidFill>
                <a:srgbClr val="243F6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 MT"/>
                  <a:cs typeface="Arial MT"/>
                </a:rPr>
                <a:t>Step 2: Go to Settings </a:t>
              </a:r>
              <a:endPara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" name="Speech Bubble: Rectangle 1849897493">
              <a:extLst>
                <a:ext uri="{FF2B5EF4-FFF2-40B4-BE49-F238E27FC236}">
                  <a16:creationId xmlns:a16="http://schemas.microsoft.com/office/drawing/2014/main" id="{EBD65CEE-4C9F-B7F8-C12A-F61C1239F2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76690" y="351207"/>
              <a:ext cx="1066800" cy="552698"/>
            </a:xfrm>
            <a:prstGeom prst="wedgeRectCallout">
              <a:avLst>
                <a:gd name="adj1" fmla="val -56722"/>
                <a:gd name="adj2" fmla="val 50443"/>
              </a:avLst>
            </a:prstGeom>
            <a:solidFill>
              <a:srgbClr val="4F81BD"/>
            </a:solidFill>
            <a:ln w="38100">
              <a:solidFill>
                <a:srgbClr val="243F6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 MT"/>
                  <a:cs typeface="Arial MT"/>
                </a:rPr>
                <a:t>Step 1:Click on this icon </a:t>
              </a:r>
              <a:endPara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" name="Rectangle: Rounded Corners 15">
              <a:extLst>
                <a:ext uri="{FF2B5EF4-FFF2-40B4-BE49-F238E27FC236}">
                  <a16:creationId xmlns:a16="http://schemas.microsoft.com/office/drawing/2014/main" id="{6C5354CF-7D2D-5397-5072-4FC64FBB4A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95385" y="1003851"/>
              <a:ext cx="281305" cy="189230"/>
            </a:xfrm>
            <a:prstGeom prst="roundRect">
              <a:avLst>
                <a:gd name="adj" fmla="val 16667"/>
              </a:avLst>
            </a:prstGeom>
            <a:noFill/>
            <a:ln w="28575">
              <a:solidFill>
                <a:srgbClr val="0070C0"/>
              </a:solidFill>
              <a:prstDash val="sysDot"/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IN"/>
            </a:p>
          </p:txBody>
        </p:sp>
        <p:sp>
          <p:nvSpPr>
            <p:cNvPr id="9" name="Rectangle: Rounded Corners 16">
              <a:extLst>
                <a:ext uri="{FF2B5EF4-FFF2-40B4-BE49-F238E27FC236}">
                  <a16:creationId xmlns:a16="http://schemas.microsoft.com/office/drawing/2014/main" id="{46A48B0E-B7BD-8CAF-11D6-77184EE2F2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46235" y="3733552"/>
              <a:ext cx="1649150" cy="261977"/>
            </a:xfrm>
            <a:prstGeom prst="roundRect">
              <a:avLst>
                <a:gd name="adj" fmla="val 16667"/>
              </a:avLst>
            </a:prstGeom>
            <a:noFill/>
            <a:ln w="28575">
              <a:solidFill>
                <a:srgbClr val="0070C0"/>
              </a:solidFill>
              <a:prstDash val="sysDot"/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IN"/>
            </a:p>
          </p:txBody>
        </p:sp>
      </p:grpSp>
      <p:sp>
        <p:nvSpPr>
          <p:cNvPr id="10" name="TextBox 17">
            <a:extLst>
              <a:ext uri="{FF2B5EF4-FFF2-40B4-BE49-F238E27FC236}">
                <a16:creationId xmlns:a16="http://schemas.microsoft.com/office/drawing/2014/main" id="{B6622D1A-F31E-9044-B836-84CC2735741F}"/>
              </a:ext>
            </a:extLst>
          </p:cNvPr>
          <p:cNvSpPr txBox="1"/>
          <p:nvPr/>
        </p:nvSpPr>
        <p:spPr>
          <a:xfrm>
            <a:off x="-312961" y="3678748"/>
            <a:ext cx="119906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4500">
              <a:spcBef>
                <a:spcPts val="475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Step 3: </a:t>
            </a:r>
            <a:r>
              <a:rPr lang="en-US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Select [Languages] -&gt; Select target language-&gt; Check ON the box [Display Google Chrome in this Language].</a:t>
            </a:r>
            <a:endParaRPr lang="en-IN" sz="1400" dirty="0">
              <a:effectLst/>
              <a:latin typeface="Arial" panose="020B0604020202020204" pitchFamily="34" charset="0"/>
              <a:ea typeface="Arial MT"/>
              <a:cs typeface="Arial" panose="020B0604020202020204" pitchFamily="34" charset="0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B279566E-300D-D0B1-F863-AB4BEE2C7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853" y="719932"/>
            <a:ext cx="39164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Step 1: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Click on the below Icon in your browser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Step 2: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Go to settings.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527FD2ED-7237-7CEA-2DDA-E8422E6DC8B0}"/>
              </a:ext>
            </a:extLst>
          </p:cNvPr>
          <p:cNvGrpSpPr/>
          <p:nvPr/>
        </p:nvGrpSpPr>
        <p:grpSpPr>
          <a:xfrm>
            <a:off x="299984" y="3986525"/>
            <a:ext cx="8159435" cy="2444189"/>
            <a:chOff x="299984" y="3986525"/>
            <a:chExt cx="8159435" cy="2444189"/>
          </a:xfrm>
        </p:grpSpPr>
        <p:pic>
          <p:nvPicPr>
            <p:cNvPr id="16" name="図 15">
              <a:extLst>
                <a:ext uri="{FF2B5EF4-FFF2-40B4-BE49-F238E27FC236}">
                  <a16:creationId xmlns:a16="http://schemas.microsoft.com/office/drawing/2014/main" id="{E0F0884A-F1E5-2DCC-ACB9-34BA5C0CB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9985" y="3986525"/>
              <a:ext cx="4919715" cy="2444189"/>
            </a:xfrm>
            <a:prstGeom prst="rect">
              <a:avLst/>
            </a:prstGeom>
          </p:spPr>
        </p:pic>
        <p:pic>
          <p:nvPicPr>
            <p:cNvPr id="18" name="図 17">
              <a:extLst>
                <a:ext uri="{FF2B5EF4-FFF2-40B4-BE49-F238E27FC236}">
                  <a16:creationId xmlns:a16="http://schemas.microsoft.com/office/drawing/2014/main" id="{142AEEC5-E356-4F46-C43F-C6D39DEE31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47254" y="5332087"/>
              <a:ext cx="2712165" cy="1059529"/>
            </a:xfrm>
            <a:prstGeom prst="rect">
              <a:avLst/>
            </a:prstGeom>
          </p:spPr>
        </p:pic>
        <p:sp>
          <p:nvSpPr>
            <p:cNvPr id="19" name="Speech Bubble: Rectangle 373">
              <a:extLst>
                <a:ext uri="{FF2B5EF4-FFF2-40B4-BE49-F238E27FC236}">
                  <a16:creationId xmlns:a16="http://schemas.microsoft.com/office/drawing/2014/main" id="{510DF8E0-3294-F7C0-6408-FB4E7CCC75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1581" y="4680886"/>
              <a:ext cx="1333500" cy="649288"/>
            </a:xfrm>
            <a:prstGeom prst="wedgeRectCallout">
              <a:avLst>
                <a:gd name="adj1" fmla="val -29950"/>
                <a:gd name="adj2" fmla="val 132710"/>
              </a:avLst>
            </a:prstGeom>
            <a:solidFill>
              <a:srgbClr val="4F81BD"/>
            </a:solidFill>
            <a:ln w="38100">
              <a:solidFill>
                <a:srgbClr val="243F6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ja-JP" sz="10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 MT"/>
                  <a:cs typeface="MS Mincho" panose="02020609040205080304" pitchFamily="49" charset="-128"/>
                </a:rPr>
                <a:t>Step3: Select [Languages]</a:t>
              </a:r>
              <a:endParaRPr kumimoji="0" lang="ja-JP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" name="Rectangle: Rounded Corners 376">
              <a:extLst>
                <a:ext uri="{FF2B5EF4-FFF2-40B4-BE49-F238E27FC236}">
                  <a16:creationId xmlns:a16="http://schemas.microsoft.com/office/drawing/2014/main" id="{5FF9F459-CBB2-DA58-65D8-734C68268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984" y="5861851"/>
              <a:ext cx="766815" cy="276217"/>
            </a:xfrm>
            <a:prstGeom prst="roundRect">
              <a:avLst>
                <a:gd name="adj" fmla="val 16667"/>
              </a:avLst>
            </a:prstGeom>
            <a:noFill/>
            <a:ln w="28575">
              <a:solidFill>
                <a:srgbClr val="0070C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" name="Speech Bubble: Rectangle 374">
              <a:extLst>
                <a:ext uri="{FF2B5EF4-FFF2-40B4-BE49-F238E27FC236}">
                  <a16:creationId xmlns:a16="http://schemas.microsoft.com/office/drawing/2014/main" id="{286183A1-25B7-A2D4-72F2-AF5DF85D8C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2175" y="4109501"/>
              <a:ext cx="2321198" cy="792189"/>
            </a:xfrm>
            <a:prstGeom prst="wedgeRectCallout">
              <a:avLst>
                <a:gd name="adj1" fmla="val 7070"/>
                <a:gd name="adj2" fmla="val 111973"/>
              </a:avLst>
            </a:prstGeom>
            <a:solidFill>
              <a:srgbClr val="4F81BD"/>
            </a:solidFill>
            <a:ln w="38100">
              <a:solidFill>
                <a:srgbClr val="243F6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ja-JP" altLang="en-US" sz="1000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" name="Speech Bubble: Rectangle 374">
              <a:extLst>
                <a:ext uri="{FF2B5EF4-FFF2-40B4-BE49-F238E27FC236}">
                  <a16:creationId xmlns:a16="http://schemas.microsoft.com/office/drawing/2014/main" id="{186844CF-FE28-1600-40DE-546A4018EC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2175" y="4116942"/>
              <a:ext cx="2321198" cy="792189"/>
            </a:xfrm>
            <a:prstGeom prst="wedgeRectCallout">
              <a:avLst>
                <a:gd name="adj1" fmla="val -37248"/>
                <a:gd name="adj2" fmla="val 119187"/>
              </a:avLst>
            </a:prstGeom>
            <a:solidFill>
              <a:srgbClr val="4F81BD"/>
            </a:solidFill>
            <a:ln w="38100">
              <a:solidFill>
                <a:srgbClr val="243F6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ja-JP" sz="1000" dirty="0">
                  <a:solidFill>
                    <a:srgbClr val="FFFFFF"/>
                  </a:solidFill>
                  <a:latin typeface="Arial" panose="020B0604020202020204" pitchFamily="34" charset="0"/>
                </a:rPr>
                <a:t>Select this icon next to target language.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ja-JP" sz="1000" dirty="0">
                  <a:solidFill>
                    <a:srgbClr val="FFFFFF"/>
                  </a:solidFill>
                  <a:latin typeface="Arial" panose="020B0604020202020204" pitchFamily="34" charset="0"/>
                </a:rPr>
                <a:t>[Display Google Chrome in this Language] check box is shown. Turn ON the checkbox</a:t>
              </a:r>
              <a:endParaRPr kumimoji="0" lang="ja-JP" altLang="en-US" sz="1000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" name="Rectangle: Rounded Corners 376">
              <a:extLst>
                <a:ext uri="{FF2B5EF4-FFF2-40B4-BE49-F238E27FC236}">
                  <a16:creationId xmlns:a16="http://schemas.microsoft.com/office/drawing/2014/main" id="{6D4DC905-AA9C-5198-04D7-D33D545110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82264" y="5466621"/>
              <a:ext cx="2580075" cy="252051"/>
            </a:xfrm>
            <a:prstGeom prst="roundRect">
              <a:avLst>
                <a:gd name="adj" fmla="val 16667"/>
              </a:avLst>
            </a:prstGeom>
            <a:noFill/>
            <a:ln w="28575">
              <a:solidFill>
                <a:srgbClr val="0070C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" name="Rectangle: Rounded Corners 376">
              <a:extLst>
                <a:ext uri="{FF2B5EF4-FFF2-40B4-BE49-F238E27FC236}">
                  <a16:creationId xmlns:a16="http://schemas.microsoft.com/office/drawing/2014/main" id="{AF3335C9-C089-8D56-30DA-67FF01669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6256" y="5466621"/>
              <a:ext cx="542925" cy="186070"/>
            </a:xfrm>
            <a:prstGeom prst="roundRect">
              <a:avLst>
                <a:gd name="adj" fmla="val 16667"/>
              </a:avLst>
            </a:prstGeom>
            <a:noFill/>
            <a:ln w="28575">
              <a:solidFill>
                <a:srgbClr val="0070C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" name="矢印: 右 24">
              <a:extLst>
                <a:ext uri="{FF2B5EF4-FFF2-40B4-BE49-F238E27FC236}">
                  <a16:creationId xmlns:a16="http://schemas.microsoft.com/office/drawing/2014/main" id="{DA1767BB-B972-FC18-2B11-E03B2F056935}"/>
                </a:ext>
              </a:extLst>
            </p:cNvPr>
            <p:cNvSpPr/>
            <p:nvPr/>
          </p:nvSpPr>
          <p:spPr bwMode="auto">
            <a:xfrm>
              <a:off x="5301488" y="5478328"/>
              <a:ext cx="386036" cy="186070"/>
            </a:xfrm>
            <a:prstGeom prst="rightArrow">
              <a:avLst/>
            </a:prstGeom>
            <a:solidFill>
              <a:srgbClr val="0070C0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ea typeface="ＭＳ Ｐゴシック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230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F0B78F-68DB-97A6-2B2B-EF135342D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b="1" dirty="0"/>
              <a:t>2-2.How to change Language</a:t>
            </a:r>
            <a:endParaRPr kumimoji="1" lang="ja-JP" altLang="en-US" dirty="0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BD06F4BC-FE07-EA15-EDFA-50AD6FA70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68160"/>
            <a:ext cx="117348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Meiryo" panose="020B0604030504040204" pitchFamily="34" charset="-128"/>
                <a:cs typeface="Arial" panose="020B0604020202020204" pitchFamily="34" charset="0"/>
              </a:rPr>
              <a:t>Step</a:t>
            </a:r>
            <a:r>
              <a:rPr kumimoji="0" lang="ja-JP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Meiryo" panose="020B0604030504040204" pitchFamily="34" charset="-128"/>
                <a:cs typeface="Arial" panose="020B0604020202020204" pitchFamily="34" charset="0"/>
              </a:rPr>
              <a:t> </a:t>
            </a:r>
            <a:r>
              <a:rPr kumimoji="0" lang="en-US" altLang="ja-JP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Meiryo" panose="020B0604030504040204" pitchFamily="34" charset="-128"/>
                <a:cs typeface="Arial" panose="020B0604020202020204" pitchFamily="34" charset="0"/>
              </a:rPr>
              <a:t>4: </a:t>
            </a:r>
            <a:r>
              <a:rPr kumimoji="0" lang="en-US" altLang="ja-JP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Selected target language is moved to Top. Click [Relaunch] button.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The browser appears in the selected language.</a:t>
            </a:r>
            <a:endParaRPr lang="en-IN" altLang="ja-JP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303A3AE1-7E65-F178-19B4-59CB2A29809A}"/>
              </a:ext>
            </a:extLst>
          </p:cNvPr>
          <p:cNvGrpSpPr/>
          <p:nvPr/>
        </p:nvGrpSpPr>
        <p:grpSpPr>
          <a:xfrm>
            <a:off x="98191" y="1323035"/>
            <a:ext cx="11663505" cy="3384700"/>
            <a:chOff x="98191" y="1323035"/>
            <a:chExt cx="11663505" cy="3384700"/>
          </a:xfrm>
        </p:grpSpPr>
        <p:pic>
          <p:nvPicPr>
            <p:cNvPr id="14" name="Picture 138">
              <a:extLst>
                <a:ext uri="{FF2B5EF4-FFF2-40B4-BE49-F238E27FC236}">
                  <a16:creationId xmlns:a16="http://schemas.microsoft.com/office/drawing/2014/main" id="{542CE65A-E5B2-EC85-985D-87453F870A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53199" y="1323035"/>
              <a:ext cx="5608497" cy="220834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A9804485-07CF-63B3-6282-F11C052A03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191" y="1327739"/>
              <a:ext cx="5758493" cy="210126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6" name="Rectangle: Rounded Corners 376">
              <a:extLst>
                <a:ext uri="{FF2B5EF4-FFF2-40B4-BE49-F238E27FC236}">
                  <a16:creationId xmlns:a16="http://schemas.microsoft.com/office/drawing/2014/main" id="{7DC6FE29-2EB9-5A9D-D5E2-EC54514B6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706" y="1955329"/>
              <a:ext cx="2985477" cy="492443"/>
            </a:xfrm>
            <a:prstGeom prst="roundRect">
              <a:avLst>
                <a:gd name="adj" fmla="val 16667"/>
              </a:avLst>
            </a:prstGeom>
            <a:noFill/>
            <a:ln w="28575">
              <a:solidFill>
                <a:srgbClr val="0070C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" name="Rectangle: Rounded Corners 376">
              <a:extLst>
                <a:ext uri="{FF2B5EF4-FFF2-40B4-BE49-F238E27FC236}">
                  <a16:creationId xmlns:a16="http://schemas.microsoft.com/office/drawing/2014/main" id="{A968E2CB-80E7-8782-8E3D-7F94B33572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5370" y="1904612"/>
              <a:ext cx="878682" cy="492443"/>
            </a:xfrm>
            <a:prstGeom prst="roundRect">
              <a:avLst>
                <a:gd name="adj" fmla="val 16667"/>
              </a:avLst>
            </a:prstGeom>
            <a:noFill/>
            <a:ln w="28575">
              <a:solidFill>
                <a:srgbClr val="0070C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" name="矢印: 右 7">
              <a:extLst>
                <a:ext uri="{FF2B5EF4-FFF2-40B4-BE49-F238E27FC236}">
                  <a16:creationId xmlns:a16="http://schemas.microsoft.com/office/drawing/2014/main" id="{05A0D846-8A50-32CD-EF34-48FAEC235A51}"/>
                </a:ext>
              </a:extLst>
            </p:cNvPr>
            <p:cNvSpPr/>
            <p:nvPr/>
          </p:nvSpPr>
          <p:spPr bwMode="auto">
            <a:xfrm>
              <a:off x="5811924" y="2261702"/>
              <a:ext cx="386036" cy="186070"/>
            </a:xfrm>
            <a:prstGeom prst="rightArrow">
              <a:avLst/>
            </a:prstGeom>
            <a:solidFill>
              <a:srgbClr val="0070C0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ea typeface="ＭＳ Ｐゴシック" charset="-128"/>
              </a:endParaRPr>
            </a:p>
          </p:txBody>
        </p:sp>
        <p:sp>
          <p:nvSpPr>
            <p:cNvPr id="9" name="Rectangle: Rounded Corners 376">
              <a:extLst>
                <a:ext uri="{FF2B5EF4-FFF2-40B4-BE49-F238E27FC236}">
                  <a16:creationId xmlns:a16="http://schemas.microsoft.com/office/drawing/2014/main" id="{A177D981-61DC-00DA-5C05-F4B2F96B97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46304" y="1509800"/>
              <a:ext cx="4288496" cy="1943805"/>
            </a:xfrm>
            <a:prstGeom prst="roundRect">
              <a:avLst>
                <a:gd name="adj" fmla="val 16667"/>
              </a:avLst>
            </a:prstGeom>
            <a:noFill/>
            <a:ln w="28575">
              <a:solidFill>
                <a:srgbClr val="0070C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Speech Bubble: Rectangle 2">
              <a:extLst>
                <a:ext uri="{FF2B5EF4-FFF2-40B4-BE49-F238E27FC236}">
                  <a16:creationId xmlns:a16="http://schemas.microsoft.com/office/drawing/2014/main" id="{78FA29EC-8577-03A3-7BB8-9B3D88503F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5415" y="3453605"/>
              <a:ext cx="2543175" cy="769940"/>
            </a:xfrm>
            <a:prstGeom prst="wedgeRectCallout">
              <a:avLst>
                <a:gd name="adj1" fmla="val 25518"/>
                <a:gd name="adj2" fmla="val -159935"/>
              </a:avLst>
            </a:prstGeom>
            <a:solidFill>
              <a:srgbClr val="4F81BD"/>
            </a:solidFill>
            <a:ln w="38100">
              <a:solidFill>
                <a:srgbClr val="243F6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" name="Speech Bubble: Rectangle 2">
              <a:extLst>
                <a:ext uri="{FF2B5EF4-FFF2-40B4-BE49-F238E27FC236}">
                  <a16:creationId xmlns:a16="http://schemas.microsoft.com/office/drawing/2014/main" id="{355AA516-E2BC-EA1B-7873-3EFF602ACD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5414" y="3478210"/>
              <a:ext cx="2543175" cy="769940"/>
            </a:xfrm>
            <a:prstGeom prst="wedgeRectCallout">
              <a:avLst>
                <a:gd name="adj1" fmla="val -34407"/>
                <a:gd name="adj2" fmla="val -154987"/>
              </a:avLst>
            </a:prstGeom>
            <a:solidFill>
              <a:srgbClr val="4F81BD"/>
            </a:solidFill>
            <a:ln w="38100">
              <a:solidFill>
                <a:srgbClr val="243F6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ja-JP" sz="11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 MT"/>
                  <a:cs typeface="Arial MT"/>
                </a:rPr>
                <a:t>Step 4: Selected target language is moved to Top. Click [Relaunch] button. </a:t>
              </a:r>
              <a:endPara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" name="Speech Bubble: Rectangle 2">
              <a:extLst>
                <a:ext uri="{FF2B5EF4-FFF2-40B4-BE49-F238E27FC236}">
                  <a16:creationId xmlns:a16="http://schemas.microsoft.com/office/drawing/2014/main" id="{66DC2092-97C6-9F87-4B7D-6D54335424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72525" y="3937795"/>
              <a:ext cx="2543175" cy="769940"/>
            </a:xfrm>
            <a:prstGeom prst="wedgeRectCallout">
              <a:avLst>
                <a:gd name="adj1" fmla="val -34407"/>
                <a:gd name="adj2" fmla="val -154987"/>
              </a:avLst>
            </a:prstGeom>
            <a:solidFill>
              <a:srgbClr val="4F81BD"/>
            </a:solidFill>
            <a:ln w="38100">
              <a:solidFill>
                <a:srgbClr val="243F6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ja-JP" sz="12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 MT"/>
                  <a:cs typeface="Arial MT"/>
                </a:rPr>
                <a:t>The browser appears in the selected language.</a:t>
              </a:r>
              <a:endPara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92934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B10852F-0A79-42BA-D27B-25002518881F}"/>
              </a:ext>
            </a:extLst>
          </p:cNvPr>
          <p:cNvSpPr txBox="1"/>
          <p:nvPr/>
        </p:nvSpPr>
        <p:spPr>
          <a:xfrm>
            <a:off x="2505075" y="2629971"/>
            <a:ext cx="6134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3. Registration</a:t>
            </a:r>
            <a:endParaRPr lang="ja-JP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193170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840D64-DB0C-3613-784C-D5CB74723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563" y="467769"/>
            <a:ext cx="8999857" cy="5922462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10BCE013-9C41-EA40-19E0-C43BE0088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3-1.Home screen- Layout</a:t>
            </a:r>
            <a:endParaRPr kumimoji="1" lang="ja-JP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FB2FA8-4DFB-0CB0-73C7-BD99C814CAA3}"/>
              </a:ext>
            </a:extLst>
          </p:cNvPr>
          <p:cNvSpPr txBox="1"/>
          <p:nvPr/>
        </p:nvSpPr>
        <p:spPr>
          <a:xfrm>
            <a:off x="71344" y="4918381"/>
            <a:ext cx="418633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*For detail of all icons on Home screen,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please refer to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HomeScreen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Manual  in below link: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https://jp.nissan.biz/EDMS_RL/ui/#!/doc/03fcf131-4a12-4699-bd6f-684119116cb2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タイトル 4">
            <a:extLst>
              <a:ext uri="{FF2B5EF4-FFF2-40B4-BE49-F238E27FC236}">
                <a16:creationId xmlns:a16="http://schemas.microsoft.com/office/drawing/2014/main" id="{86A3B94C-4808-83C3-4FBF-333A3C6C22A5}"/>
              </a:ext>
            </a:extLst>
          </p:cNvPr>
          <p:cNvSpPr txBox="1">
            <a:spLocks/>
          </p:cNvSpPr>
          <p:nvPr/>
        </p:nvSpPr>
        <p:spPr>
          <a:xfrm>
            <a:off x="1" y="1708406"/>
            <a:ext cx="2680139" cy="74108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ja-JP" altLang="en-US" sz="14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②</a:t>
            </a:r>
            <a:r>
              <a:rPr lang="en-US" altLang="ja-JP" sz="14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Show document folder/</a:t>
            </a:r>
          </a:p>
          <a:p>
            <a:pPr algn="l">
              <a:lnSpc>
                <a:spcPct val="150000"/>
              </a:lnSpc>
            </a:pPr>
            <a:r>
              <a:rPr lang="en-US" altLang="ja-JP" sz="14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Start Registration</a:t>
            </a:r>
          </a:p>
        </p:txBody>
      </p:sp>
      <p:sp>
        <p:nvSpPr>
          <p:cNvPr id="14" name="タイトル 4">
            <a:extLst>
              <a:ext uri="{FF2B5EF4-FFF2-40B4-BE49-F238E27FC236}">
                <a16:creationId xmlns:a16="http://schemas.microsoft.com/office/drawing/2014/main" id="{26443B42-AF72-C608-05D0-06C5D3E56407}"/>
              </a:ext>
            </a:extLst>
          </p:cNvPr>
          <p:cNvSpPr txBox="1">
            <a:spLocks/>
          </p:cNvSpPr>
          <p:nvPr/>
        </p:nvSpPr>
        <p:spPr>
          <a:xfrm>
            <a:off x="0" y="928867"/>
            <a:ext cx="1919381" cy="6857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ja-JP" altLang="en-US" sz="14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①</a:t>
            </a:r>
            <a:r>
              <a:rPr lang="en-US" altLang="ja-JP" sz="14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Home screen display</a:t>
            </a:r>
            <a:br>
              <a:rPr lang="en-US" altLang="ja-JP" sz="14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</a:br>
            <a:endParaRPr lang="ja-JP" altLang="en-US" sz="1400" dirty="0"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15" name="タイトル 4">
            <a:extLst>
              <a:ext uri="{FF2B5EF4-FFF2-40B4-BE49-F238E27FC236}">
                <a16:creationId xmlns:a16="http://schemas.microsoft.com/office/drawing/2014/main" id="{BAF97BB8-495C-DF96-D1EC-A030C4CF6138}"/>
              </a:ext>
            </a:extLst>
          </p:cNvPr>
          <p:cNvSpPr txBox="1">
            <a:spLocks/>
          </p:cNvSpPr>
          <p:nvPr/>
        </p:nvSpPr>
        <p:spPr>
          <a:xfrm>
            <a:off x="0" y="2884383"/>
            <a:ext cx="1450513" cy="6998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ja-JP" altLang="en-US" sz="14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③</a:t>
            </a:r>
            <a:r>
              <a:rPr lang="en-US" altLang="ja-JP" sz="14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Search documents</a:t>
            </a:r>
            <a:br>
              <a:rPr lang="en-US" altLang="ja-JP" sz="14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</a:br>
            <a:endParaRPr lang="ja-JP" altLang="en-US" sz="1400" dirty="0"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DDF5FBB7-3A0A-CC42-C9CB-6BA7686C809E}"/>
              </a:ext>
            </a:extLst>
          </p:cNvPr>
          <p:cNvCxnSpPr>
            <a:cxnSpLocks/>
            <a:endCxn id="22" idx="1"/>
          </p:cNvCxnSpPr>
          <p:nvPr/>
        </p:nvCxnSpPr>
        <p:spPr>
          <a:xfrm flipV="1">
            <a:off x="1126024" y="1273509"/>
            <a:ext cx="1554116" cy="121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06D15CA2-5BF9-3249-DD3D-1AADD3271BAD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1133696" y="1593274"/>
            <a:ext cx="1612322" cy="608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64947BBD-0A87-E622-A97F-4102EFA3ECEA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852249" y="1884379"/>
            <a:ext cx="1910314" cy="14251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CEDE5CFC-3E9D-7183-58F3-1C997DBA1081}"/>
              </a:ext>
            </a:extLst>
          </p:cNvPr>
          <p:cNvCxnSpPr>
            <a:cxnSpLocks/>
            <a:endCxn id="24" idx="1"/>
          </p:cNvCxnSpPr>
          <p:nvPr/>
        </p:nvCxnSpPr>
        <p:spPr>
          <a:xfrm flipV="1">
            <a:off x="983974" y="2773003"/>
            <a:ext cx="1696166" cy="1415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タイトル 4">
            <a:extLst>
              <a:ext uri="{FF2B5EF4-FFF2-40B4-BE49-F238E27FC236}">
                <a16:creationId xmlns:a16="http://schemas.microsoft.com/office/drawing/2014/main" id="{C0ECE0AD-5E1E-454A-AC63-04A05FB2BE65}"/>
              </a:ext>
            </a:extLst>
          </p:cNvPr>
          <p:cNvSpPr txBox="1">
            <a:spLocks/>
          </p:cNvSpPr>
          <p:nvPr/>
        </p:nvSpPr>
        <p:spPr>
          <a:xfrm>
            <a:off x="1" y="3916644"/>
            <a:ext cx="1450513" cy="6782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ja-JP" altLang="en-US" sz="14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④</a:t>
            </a:r>
            <a:r>
              <a:rPr lang="en-US" altLang="ja-JP" sz="14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Approval Task list</a:t>
            </a:r>
          </a:p>
        </p:txBody>
      </p:sp>
      <p:sp>
        <p:nvSpPr>
          <p:cNvPr id="21" name="Rectangle: Rounded Corners 376">
            <a:extLst>
              <a:ext uri="{FF2B5EF4-FFF2-40B4-BE49-F238E27FC236}">
                <a16:creationId xmlns:a16="http://schemas.microsoft.com/office/drawing/2014/main" id="{C150EEF2-32F0-23DF-65D3-A25938074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018" y="1458385"/>
            <a:ext cx="468867" cy="269777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" name="Rectangle: Rounded Corners 376">
            <a:extLst>
              <a:ext uri="{FF2B5EF4-FFF2-40B4-BE49-F238E27FC236}">
                <a16:creationId xmlns:a16="http://schemas.microsoft.com/office/drawing/2014/main" id="{0F71206A-B0C8-32DD-DCED-FF4583FF02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0140" y="1138620"/>
            <a:ext cx="468867" cy="269777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" name="Rectangle: Rounded Corners 376">
            <a:extLst>
              <a:ext uri="{FF2B5EF4-FFF2-40B4-BE49-F238E27FC236}">
                <a16:creationId xmlns:a16="http://schemas.microsoft.com/office/drawing/2014/main" id="{24E56DE4-397E-A92C-0D9D-5ED9B00A0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563" y="1749490"/>
            <a:ext cx="452322" cy="269777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" name="Rectangle: Rounded Corners 376">
            <a:extLst>
              <a:ext uri="{FF2B5EF4-FFF2-40B4-BE49-F238E27FC236}">
                <a16:creationId xmlns:a16="http://schemas.microsoft.com/office/drawing/2014/main" id="{B7B868F4-5D93-8E14-6BC2-EE4236E38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0140" y="2614095"/>
            <a:ext cx="413221" cy="317816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141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6F89B6-4480-BE6C-43C2-E7057F274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 3-2.ED Registration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2B30842-B40D-6DC6-A9C5-E6CBBD33B3DA}"/>
              </a:ext>
            </a:extLst>
          </p:cNvPr>
          <p:cNvSpPr txBox="1"/>
          <p:nvPr/>
        </p:nvSpPr>
        <p:spPr>
          <a:xfrm>
            <a:off x="6747" y="794732"/>
            <a:ext cx="104612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Step 1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：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Please click on [Browser] icon on left side menu and follow below steps to enter in ED registration screen.</a:t>
            </a:r>
            <a:endParaRPr lang="ja-JP" alt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EF33A8F-242D-B70B-F8F9-F255C549D0F4}"/>
              </a:ext>
            </a:extLst>
          </p:cNvPr>
          <p:cNvGrpSpPr/>
          <p:nvPr/>
        </p:nvGrpSpPr>
        <p:grpSpPr>
          <a:xfrm>
            <a:off x="6748" y="1309196"/>
            <a:ext cx="12185252" cy="4868959"/>
            <a:chOff x="6748" y="1309196"/>
            <a:chExt cx="12185252" cy="4868959"/>
          </a:xfrm>
        </p:grpSpPr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BAFB8588-0737-241A-9828-1354B5128D5A}"/>
                </a:ext>
              </a:extLst>
            </p:cNvPr>
            <p:cNvSpPr/>
            <p:nvPr/>
          </p:nvSpPr>
          <p:spPr>
            <a:xfrm>
              <a:off x="6748" y="2117491"/>
              <a:ext cx="1273090" cy="43088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txBody>
            <a:bodyPr wrap="square" lIns="144000" rIns="144000">
              <a:spAutoFit/>
            </a:bodyPr>
            <a:lstStyle/>
            <a:p>
              <a:pPr>
                <a:spcAft>
                  <a:spcPts val="0"/>
                </a:spcAft>
              </a:pPr>
              <a:r>
                <a:rPr lang="en-US" altLang="ja-JP" sz="1100" kern="1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1.Click [Browser]</a:t>
              </a:r>
              <a:endParaRPr lang="ja-JP" altLang="en-US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E560BE3-F39E-29F2-C633-89F3A86BD490}"/>
                </a:ext>
              </a:extLst>
            </p:cNvPr>
            <p:cNvGrpSpPr/>
            <p:nvPr/>
          </p:nvGrpSpPr>
          <p:grpSpPr>
            <a:xfrm>
              <a:off x="939522" y="1309196"/>
              <a:ext cx="11252478" cy="4868959"/>
              <a:chOff x="939522" y="1309196"/>
              <a:chExt cx="11252478" cy="4868959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51B25E97-4756-32C5-AE0C-5C27F9F280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942299" y="1815205"/>
                <a:ext cx="2906531" cy="2504640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E1A5B2A9-D4C6-E228-0005-9B50080018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61755" y="1309196"/>
                <a:ext cx="2838455" cy="3373237"/>
              </a:xfrm>
              <a:prstGeom prst="rect">
                <a:avLst/>
              </a:prstGeom>
            </p:spPr>
          </p:pic>
          <p:pic>
            <p:nvPicPr>
              <p:cNvPr id="19" name="図 18">
                <a:extLst>
                  <a:ext uri="{FF2B5EF4-FFF2-40B4-BE49-F238E27FC236}">
                    <a16:creationId xmlns:a16="http://schemas.microsoft.com/office/drawing/2014/main" id="{B951C415-0F46-1B98-7198-EBF3537724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52976" y="1493927"/>
                <a:ext cx="2728481" cy="2004768"/>
              </a:xfrm>
              <a:prstGeom prst="rect">
                <a:avLst/>
              </a:prstGeom>
            </p:spPr>
          </p:pic>
          <p:sp>
            <p:nvSpPr>
              <p:cNvPr id="13" name="矢印: 右 12">
                <a:extLst>
                  <a:ext uri="{FF2B5EF4-FFF2-40B4-BE49-F238E27FC236}">
                    <a16:creationId xmlns:a16="http://schemas.microsoft.com/office/drawing/2014/main" id="{BA31B8E0-B852-2144-D4DD-C17F08CCC57B}"/>
                  </a:ext>
                </a:extLst>
              </p:cNvPr>
              <p:cNvSpPr/>
              <p:nvPr/>
            </p:nvSpPr>
            <p:spPr bwMode="auto">
              <a:xfrm>
                <a:off x="4379761" y="2331470"/>
                <a:ext cx="619587" cy="685800"/>
              </a:xfrm>
              <a:prstGeom prst="rightArrow">
                <a:avLst/>
              </a:prstGeom>
              <a:solidFill>
                <a:schemeClr val="accent4">
                  <a:lumMod val="50000"/>
                </a:schemeClr>
              </a:solidFill>
              <a:ln w="12700" cap="flat" cmpd="sng" algn="ctr">
                <a:solidFill>
                  <a:schemeClr val="tx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ja-JP" altLang="en-US" sz="2400" b="0" i="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ea typeface="ＭＳ Ｐゴシック" charset="-128"/>
                </a:endParaRPr>
              </a:p>
            </p:txBody>
          </p:sp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E43B5439-A520-239E-D6AB-06D955A7E8AB}"/>
                  </a:ext>
                </a:extLst>
              </p:cNvPr>
              <p:cNvSpPr txBox="1"/>
              <p:nvPr/>
            </p:nvSpPr>
            <p:spPr>
              <a:xfrm>
                <a:off x="939522" y="1815205"/>
                <a:ext cx="296690" cy="2526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1400" b="1" dirty="0">
                    <a:solidFill>
                      <a:srgbClr val="FF0000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①</a:t>
                </a:r>
                <a:endParaRPr kumimoji="1" lang="ja-JP" altLang="en-US" sz="14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8" name="正方形/長方形 7">
                <a:extLst>
                  <a:ext uri="{FF2B5EF4-FFF2-40B4-BE49-F238E27FC236}">
                    <a16:creationId xmlns:a16="http://schemas.microsoft.com/office/drawing/2014/main" id="{2FAD22CD-9114-6B16-6A70-544249131EAB}"/>
                  </a:ext>
                </a:extLst>
              </p:cNvPr>
              <p:cNvSpPr/>
              <p:nvPr/>
            </p:nvSpPr>
            <p:spPr bwMode="auto">
              <a:xfrm>
                <a:off x="1354137" y="2060028"/>
                <a:ext cx="275797" cy="311870"/>
              </a:xfrm>
              <a:prstGeom prst="rect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ja-JP" altLang="en-US" sz="2400" b="0" i="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ea typeface="ＭＳ Ｐゴシック" charset="-128"/>
                </a:endParaRPr>
              </a:p>
            </p:txBody>
          </p:sp>
          <p:sp>
            <p:nvSpPr>
              <p:cNvPr id="9" name="正方形/長方形 8">
                <a:extLst>
                  <a:ext uri="{FF2B5EF4-FFF2-40B4-BE49-F238E27FC236}">
                    <a16:creationId xmlns:a16="http://schemas.microsoft.com/office/drawing/2014/main" id="{CF4EA2C8-BB7F-6170-4442-52B71D8E42DE}"/>
                  </a:ext>
                </a:extLst>
              </p:cNvPr>
              <p:cNvSpPr/>
              <p:nvPr/>
            </p:nvSpPr>
            <p:spPr bwMode="auto">
              <a:xfrm>
                <a:off x="1889233" y="2336653"/>
                <a:ext cx="1063367" cy="198907"/>
              </a:xfrm>
              <a:prstGeom prst="rect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ja-JP" altLang="en-US" sz="2400" b="0" i="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ea typeface="ＭＳ Ｐゴシック" charset="-128"/>
                </a:endParaRPr>
              </a:p>
            </p:txBody>
          </p:sp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E8E97A46-98A7-A85B-2C33-91DA70844415}"/>
                  </a:ext>
                </a:extLst>
              </p:cNvPr>
              <p:cNvSpPr/>
              <p:nvPr/>
            </p:nvSpPr>
            <p:spPr>
              <a:xfrm>
                <a:off x="3211897" y="2374288"/>
                <a:ext cx="1146167" cy="60016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txBody>
              <a:bodyPr wrap="square" lIns="144000" rIns="144000">
                <a:spAutoFit/>
              </a:bodyPr>
              <a:lstStyle/>
              <a:p>
                <a:pPr>
                  <a:spcAft>
                    <a:spcPts val="0"/>
                  </a:spcAft>
                </a:pPr>
                <a:r>
                  <a:rPr lang="en-US" altLang="ja-JP" sz="1100" kern="100" dirty="0"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2.Click folder</a:t>
                </a:r>
                <a:r>
                  <a:rPr lang="ja-JP" altLang="en-US" sz="1100" kern="100" dirty="0"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 </a:t>
                </a:r>
                <a:r>
                  <a:rPr lang="en-US" altLang="ja-JP" sz="1100" kern="100" dirty="0"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[EDMS]</a:t>
                </a:r>
                <a:endParaRPr lang="ja-JP" altLang="en-US" sz="1100" kern="1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996AA363-366A-1E81-FCE2-CCD54D2026EB}"/>
                  </a:ext>
                </a:extLst>
              </p:cNvPr>
              <p:cNvSpPr txBox="1"/>
              <p:nvPr/>
            </p:nvSpPr>
            <p:spPr>
              <a:xfrm>
                <a:off x="2923995" y="2158764"/>
                <a:ext cx="296690" cy="2526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400" b="1" dirty="0">
                    <a:solidFill>
                      <a:srgbClr val="FF0000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②</a:t>
                </a:r>
              </a:p>
            </p:txBody>
          </p:sp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DB733B2C-8FCC-90A5-8185-AFAE8367EF03}"/>
                  </a:ext>
                </a:extLst>
              </p:cNvPr>
              <p:cNvSpPr txBox="1"/>
              <p:nvPr/>
            </p:nvSpPr>
            <p:spPr>
              <a:xfrm>
                <a:off x="7609485" y="2243128"/>
                <a:ext cx="3642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1400" b="1" dirty="0">
                    <a:solidFill>
                      <a:srgbClr val="FF0000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③</a:t>
                </a:r>
                <a:endParaRPr kumimoji="1" lang="ja-JP" altLang="en-US" sz="14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16" name="正方形/長方形 15">
                <a:extLst>
                  <a:ext uri="{FF2B5EF4-FFF2-40B4-BE49-F238E27FC236}">
                    <a16:creationId xmlns:a16="http://schemas.microsoft.com/office/drawing/2014/main" id="{9113B551-BB97-8927-D35F-2EFA84606CB1}"/>
                  </a:ext>
                </a:extLst>
              </p:cNvPr>
              <p:cNvSpPr/>
              <p:nvPr/>
            </p:nvSpPr>
            <p:spPr bwMode="auto">
              <a:xfrm>
                <a:off x="5397652" y="2520481"/>
                <a:ext cx="2227813" cy="307777"/>
              </a:xfrm>
              <a:prstGeom prst="rect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ja-JP" altLang="en-US" sz="2400" b="0" i="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ea typeface="ＭＳ Ｐゴシック" charset="-128"/>
                </a:endParaRPr>
              </a:p>
            </p:txBody>
          </p:sp>
          <p:sp>
            <p:nvSpPr>
              <p:cNvPr id="17" name="正方形/長方形 16">
                <a:extLst>
                  <a:ext uri="{FF2B5EF4-FFF2-40B4-BE49-F238E27FC236}">
                    <a16:creationId xmlns:a16="http://schemas.microsoft.com/office/drawing/2014/main" id="{EB139362-CB5D-60D3-0F37-C710E9D3886B}"/>
                  </a:ext>
                </a:extLst>
              </p:cNvPr>
              <p:cNvSpPr/>
              <p:nvPr/>
            </p:nvSpPr>
            <p:spPr>
              <a:xfrm>
                <a:off x="6703365" y="4646003"/>
                <a:ext cx="1596291" cy="769441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txBody>
              <a:bodyPr wrap="square" lIns="144000" rIns="144000">
                <a:spAutoFit/>
              </a:bodyPr>
              <a:lstStyle/>
              <a:p>
                <a:pPr>
                  <a:spcAft>
                    <a:spcPts val="0"/>
                  </a:spcAft>
                </a:pPr>
                <a:r>
                  <a:rPr lang="en-US" altLang="ja-JP" sz="1100" kern="100" dirty="0"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3.Click folder [ED-</a:t>
                </a:r>
                <a:r>
                  <a:rPr lang="ja-JP" altLang="en-US" sz="1100" kern="100" dirty="0"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技術文書</a:t>
                </a:r>
                <a:r>
                  <a:rPr lang="en-US" altLang="ja-JP" sz="1100" kern="100" dirty="0"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-Engineering Documents]</a:t>
                </a:r>
                <a:endParaRPr lang="ja-JP" altLang="en-US" sz="1100" kern="100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26" name="矢印: 右 25">
                <a:extLst>
                  <a:ext uri="{FF2B5EF4-FFF2-40B4-BE49-F238E27FC236}">
                    <a16:creationId xmlns:a16="http://schemas.microsoft.com/office/drawing/2014/main" id="{1AE62876-95E3-FF87-0A25-4B4FC1256E6D}"/>
                  </a:ext>
                </a:extLst>
              </p:cNvPr>
              <p:cNvSpPr/>
              <p:nvPr/>
            </p:nvSpPr>
            <p:spPr bwMode="auto">
              <a:xfrm>
                <a:off x="7942813" y="2331470"/>
                <a:ext cx="619587" cy="685800"/>
              </a:xfrm>
              <a:prstGeom prst="rightArrow">
                <a:avLst/>
              </a:prstGeom>
              <a:solidFill>
                <a:schemeClr val="accent4">
                  <a:lumMod val="50000"/>
                </a:schemeClr>
              </a:solidFill>
              <a:ln w="12700" cap="flat" cmpd="sng" algn="ctr">
                <a:solidFill>
                  <a:schemeClr val="tx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ja-JP" altLang="en-US" sz="2400" b="0" i="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ea typeface="ＭＳ Ｐゴシック" charset="-128"/>
                </a:endParaRPr>
              </a:p>
            </p:txBody>
          </p:sp>
          <p:sp>
            <p:nvSpPr>
              <p:cNvPr id="27" name="正方形/長方形 26">
                <a:extLst>
                  <a:ext uri="{FF2B5EF4-FFF2-40B4-BE49-F238E27FC236}">
                    <a16:creationId xmlns:a16="http://schemas.microsoft.com/office/drawing/2014/main" id="{6348B60F-2367-0B61-48BA-50C964F57E17}"/>
                  </a:ext>
                </a:extLst>
              </p:cNvPr>
              <p:cNvSpPr/>
              <p:nvPr/>
            </p:nvSpPr>
            <p:spPr bwMode="auto">
              <a:xfrm>
                <a:off x="9531012" y="2944616"/>
                <a:ext cx="2160091" cy="419099"/>
              </a:xfrm>
              <a:prstGeom prst="rect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ja-JP" altLang="en-US" sz="2400" b="0" i="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ea typeface="ＭＳ Ｐゴシック" charset="-128"/>
                </a:endParaRPr>
              </a:p>
            </p:txBody>
          </p:sp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CD347899-DC8B-AE0A-C301-45DDAB35A7F7}"/>
                  </a:ext>
                </a:extLst>
              </p:cNvPr>
              <p:cNvSpPr txBox="1"/>
              <p:nvPr/>
            </p:nvSpPr>
            <p:spPr>
              <a:xfrm>
                <a:off x="11380587" y="2666675"/>
                <a:ext cx="3642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1400" b="1" dirty="0">
                    <a:solidFill>
                      <a:srgbClr val="FF0000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④</a:t>
                </a:r>
                <a:endParaRPr kumimoji="1" lang="ja-JP" altLang="en-US" sz="14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29" name="正方形/長方形 28">
                <a:extLst>
                  <a:ext uri="{FF2B5EF4-FFF2-40B4-BE49-F238E27FC236}">
                    <a16:creationId xmlns:a16="http://schemas.microsoft.com/office/drawing/2014/main" id="{E9F281C5-916D-A95D-7237-C688019CAF95}"/>
                  </a:ext>
                </a:extLst>
              </p:cNvPr>
              <p:cNvSpPr/>
              <p:nvPr/>
            </p:nvSpPr>
            <p:spPr>
              <a:xfrm>
                <a:off x="9675132" y="4597786"/>
                <a:ext cx="2516868" cy="1580369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txBody>
              <a:bodyPr wrap="square" lIns="144000" rIns="14400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altLang="ja-JP" sz="1100" kern="100" dirty="0"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4.Select folder to create new document.</a:t>
                </a:r>
              </a:p>
              <a:p>
                <a:pPr algn="l">
                  <a:lnSpc>
                    <a:spcPct val="150000"/>
                  </a:lnSpc>
                </a:pPr>
                <a:r>
                  <a:rPr lang="ja-JP" altLang="en-US" sz="1100" dirty="0">
                    <a:latin typeface="Meiryo UI" panose="020B0604030504040204" pitchFamily="50" charset="-128"/>
                    <a:ea typeface="Meiryo UI" panose="020B0604030504040204" pitchFamily="50" charset="-128"/>
                  </a:rPr>
                  <a:t>・</a:t>
                </a:r>
                <a:r>
                  <a:rPr lang="en-US" altLang="ja-JP" sz="1100" dirty="0">
                    <a:latin typeface="Meiryo UI" panose="020B0604030504040204" pitchFamily="50" charset="-128"/>
                    <a:ea typeface="Meiryo UI" panose="020B0604030504040204" pitchFamily="50" charset="-128"/>
                  </a:rPr>
                  <a:t>In case of </a:t>
                </a:r>
                <a:r>
                  <a:rPr lang="en-IN" sz="1100" b="0" i="0" dirty="0">
                    <a:effectLst/>
                    <a:latin typeface="Inter"/>
                  </a:rPr>
                  <a:t>002_Project Management</a:t>
                </a:r>
                <a:r>
                  <a:rPr lang="en-US" altLang="ja-JP" sz="1100" dirty="0">
                    <a:latin typeface="Meiryo UI" panose="020B0604030504040204" pitchFamily="50" charset="-128"/>
                    <a:ea typeface="Meiryo UI" panose="020B0604030504040204" pitchFamily="50" charset="-128"/>
                  </a:rPr>
                  <a:t>, select folder [10_Product Development  &gt; 002_Project Management]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17086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40A2BF-C1E9-7BB0-729F-C878C516C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 3-2.</a:t>
            </a:r>
            <a:r>
              <a:rPr lang="en-US" altLang="ja-JP" dirty="0"/>
              <a:t>ED</a:t>
            </a:r>
            <a:r>
              <a:rPr kumimoji="1" lang="en-US" altLang="ja-JP" dirty="0"/>
              <a:t> Registration</a:t>
            </a:r>
            <a:endParaRPr kumimoji="1" lang="ja-JP" altLang="en-US" dirty="0"/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FBD10CFC-2F1F-8B35-7C83-1ABE410DD7AD}"/>
              </a:ext>
            </a:extLst>
          </p:cNvPr>
          <p:cNvSpPr txBox="1">
            <a:spLocks/>
          </p:cNvSpPr>
          <p:nvPr/>
        </p:nvSpPr>
        <p:spPr>
          <a:xfrm>
            <a:off x="-50589" y="477690"/>
            <a:ext cx="10706101" cy="7991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ja-JP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Step 2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: The selected folder is displayed as below. Please select the blue + button in right corner of screen.</a:t>
            </a:r>
          </a:p>
          <a:p>
            <a:pPr algn="l">
              <a:lnSpc>
                <a:spcPct val="150000"/>
              </a:lnSpc>
            </a:pPr>
            <a:r>
              <a:rPr lang="en-US" altLang="ja-JP" sz="1400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*Below image is a sample of the case you select [002_Project Management] folder.</a:t>
            </a:r>
          </a:p>
          <a:p>
            <a:pPr algn="l">
              <a:lnSpc>
                <a:spcPct val="150000"/>
              </a:lnSpc>
            </a:pPr>
            <a:endParaRPr lang="en-US" altLang="ja-JP" sz="1400" u="sng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>
              <a:lnSpc>
                <a:spcPct val="150000"/>
              </a:lnSpc>
            </a:pPr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39DF1DD-04EF-BB9A-3CBC-2CACE31F7E3B}"/>
              </a:ext>
            </a:extLst>
          </p:cNvPr>
          <p:cNvSpPr txBox="1"/>
          <p:nvPr/>
        </p:nvSpPr>
        <p:spPr>
          <a:xfrm>
            <a:off x="5802161" y="1204867"/>
            <a:ext cx="333981" cy="2705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②</a:t>
            </a:r>
            <a:endParaRPr kumimoji="1" lang="ja-JP" altLang="en-US" sz="14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DF83D99C-46B2-1740-515D-7B7570BCD56A}"/>
              </a:ext>
            </a:extLst>
          </p:cNvPr>
          <p:cNvSpPr/>
          <p:nvPr/>
        </p:nvSpPr>
        <p:spPr>
          <a:xfrm>
            <a:off x="10151302" y="5316550"/>
            <a:ext cx="1989809" cy="60016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lIns="144000" rIns="144000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ja-JP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3. Click this icon to proceed RCR document registration.</a:t>
            </a:r>
          </a:p>
        </p:txBody>
      </p:sp>
      <p:sp>
        <p:nvSpPr>
          <p:cNvPr id="30" name="タイトル 4">
            <a:extLst>
              <a:ext uri="{FF2B5EF4-FFF2-40B4-BE49-F238E27FC236}">
                <a16:creationId xmlns:a16="http://schemas.microsoft.com/office/drawing/2014/main" id="{656DC482-AECA-9FDF-A74B-E7F5A03ACD9A}"/>
              </a:ext>
            </a:extLst>
          </p:cNvPr>
          <p:cNvSpPr txBox="1">
            <a:spLocks/>
          </p:cNvSpPr>
          <p:nvPr/>
        </p:nvSpPr>
        <p:spPr>
          <a:xfrm>
            <a:off x="825712" y="6008777"/>
            <a:ext cx="9829800" cy="37356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altLang="ja-JP" sz="11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*Note: Please do not select the documents shown here in this step.</a:t>
            </a:r>
          </a:p>
          <a:p>
            <a:pPr algn="l">
              <a:lnSpc>
                <a:spcPct val="100000"/>
              </a:lnSpc>
            </a:pPr>
            <a:r>
              <a:rPr lang="en-US" altLang="ja-JP" sz="11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If you wrongly select and it shows some screens you don’t understand, </a:t>
            </a:r>
            <a:r>
              <a:rPr lang="en-US" altLang="ja-JP" sz="1100" b="1" dirty="0" err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pleasse</a:t>
            </a:r>
            <a:r>
              <a:rPr lang="ja-JP" altLang="en-US" sz="11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11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re-login from beginning to do again.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FC35E4D-C573-7126-91A4-5BC951763C76}"/>
              </a:ext>
            </a:extLst>
          </p:cNvPr>
          <p:cNvGrpSpPr/>
          <p:nvPr/>
        </p:nvGrpSpPr>
        <p:grpSpPr>
          <a:xfrm>
            <a:off x="658721" y="1306796"/>
            <a:ext cx="11040367" cy="4701981"/>
            <a:chOff x="658721" y="1306796"/>
            <a:chExt cx="11040367" cy="470198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4D60FF9-2700-8179-030C-4906E907A2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5712" y="1414112"/>
              <a:ext cx="8992702" cy="4202520"/>
            </a:xfrm>
            <a:prstGeom prst="rect">
              <a:avLst/>
            </a:prstGeom>
          </p:spPr>
        </p:pic>
        <p:sp>
          <p:nvSpPr>
            <p:cNvPr id="11" name="角丸四角形 26">
              <a:extLst>
                <a:ext uri="{FF2B5EF4-FFF2-40B4-BE49-F238E27FC236}">
                  <a16:creationId xmlns:a16="http://schemas.microsoft.com/office/drawing/2014/main" id="{36AA4859-AB2C-EAB1-61D4-DEC05C5B3B84}"/>
                </a:ext>
              </a:extLst>
            </p:cNvPr>
            <p:cNvSpPr/>
            <p:nvPr/>
          </p:nvSpPr>
          <p:spPr>
            <a:xfrm>
              <a:off x="2986040" y="3005361"/>
              <a:ext cx="6302213" cy="2900140"/>
            </a:xfrm>
            <a:prstGeom prst="roundRect">
              <a:avLst/>
            </a:prstGeom>
            <a:noFill/>
            <a:ln w="38100">
              <a:solidFill>
                <a:srgbClr val="0070C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  <p:sp>
          <p:nvSpPr>
            <p:cNvPr id="12" name="四角形吹き出し 40">
              <a:extLst>
                <a:ext uri="{FF2B5EF4-FFF2-40B4-BE49-F238E27FC236}">
                  <a16:creationId xmlns:a16="http://schemas.microsoft.com/office/drawing/2014/main" id="{A3D88155-40BF-988B-95D2-7F5C6472D90D}"/>
                </a:ext>
              </a:extLst>
            </p:cNvPr>
            <p:cNvSpPr/>
            <p:nvPr/>
          </p:nvSpPr>
          <p:spPr>
            <a:xfrm>
              <a:off x="9469417" y="1935622"/>
              <a:ext cx="2229671" cy="691302"/>
            </a:xfrm>
            <a:prstGeom prst="wedgeRectCallout">
              <a:avLst>
                <a:gd name="adj1" fmla="val -44726"/>
                <a:gd name="adj2" fmla="val 83544"/>
              </a:avLst>
            </a:prstGeom>
            <a:solidFill>
              <a:srgbClr val="4F81BD"/>
            </a:solidFill>
            <a:ln w="38100">
              <a:solidFill>
                <a:srgbClr val="243F6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ja-JP" sz="1000" dirty="0">
                  <a:solidFill>
                    <a:srgbClr val="FFFFFF"/>
                  </a:solidFill>
                  <a:latin typeface="Arial" panose="020B0604020202020204" pitchFamily="34" charset="0"/>
                </a:rPr>
                <a:t>All documents created under current folder location are displayed here.</a:t>
              </a:r>
              <a:endParaRPr kumimoji="0" lang="ja-JP" altLang="en-US" sz="1000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1F9B79B2-9065-6E20-C01D-9CB55183E7B3}"/>
                </a:ext>
              </a:extLst>
            </p:cNvPr>
            <p:cNvSpPr/>
            <p:nvPr/>
          </p:nvSpPr>
          <p:spPr>
            <a:xfrm>
              <a:off x="2006115" y="2977401"/>
              <a:ext cx="1265764" cy="93871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txBody>
            <a:bodyPr wrap="square" lIns="144000" rIns="144000">
              <a:spAutoFit/>
            </a:bodyPr>
            <a:lstStyle/>
            <a:p>
              <a:pPr>
                <a:spcAft>
                  <a:spcPts val="0"/>
                </a:spcAft>
              </a:pPr>
              <a:r>
                <a:rPr lang="en-US" altLang="ja-JP" sz="1100" kern="1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1. [</a:t>
              </a:r>
              <a:r>
                <a:rPr lang="en-US" altLang="ja-JP" sz="1100" u="sng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002_Project Management</a:t>
              </a:r>
              <a:r>
                <a:rPr lang="en-US" altLang="ja-JP" sz="1100" kern="1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] folder is selected</a:t>
              </a:r>
              <a:endParaRPr lang="ja-JP" altLang="en-US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394BD481-52B8-778B-EA9F-8E3EBACEC840}"/>
                </a:ext>
              </a:extLst>
            </p:cNvPr>
            <p:cNvSpPr/>
            <p:nvPr/>
          </p:nvSpPr>
          <p:spPr>
            <a:xfrm>
              <a:off x="6219638" y="1306796"/>
              <a:ext cx="1975381" cy="76944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txBody>
            <a:bodyPr wrap="square" lIns="144000" rIns="144000">
              <a:spAutoFit/>
            </a:bodyPr>
            <a:lstStyle/>
            <a:p>
              <a:pPr>
                <a:spcAft>
                  <a:spcPts val="0"/>
                </a:spcAft>
              </a:pPr>
              <a:r>
                <a:rPr lang="en-US" altLang="ja-JP" sz="1100" kern="1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2. Confirm document is stored in correct folder (same folder selected from left-side structure)</a:t>
              </a:r>
              <a:endParaRPr lang="ja-JP" altLang="en-US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B8FA1CF7-4A94-FAEF-24FC-E3890FC2B41F}"/>
                </a:ext>
              </a:extLst>
            </p:cNvPr>
            <p:cNvSpPr txBox="1"/>
            <p:nvPr/>
          </p:nvSpPr>
          <p:spPr>
            <a:xfrm>
              <a:off x="658721" y="2384386"/>
              <a:ext cx="333981" cy="2705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4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①</a:t>
              </a:r>
              <a:endParaRPr kumimoji="1" lang="ja-JP" altLang="en-US" sz="14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4A43F834-074E-9271-F25E-B8A31A3D9EE8}"/>
                </a:ext>
              </a:extLst>
            </p:cNvPr>
            <p:cNvSpPr/>
            <p:nvPr/>
          </p:nvSpPr>
          <p:spPr bwMode="auto">
            <a:xfrm>
              <a:off x="845511" y="2673872"/>
              <a:ext cx="1455740" cy="202961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ea typeface="ＭＳ Ｐゴシック" charset="-128"/>
              </a:endParaRPr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97A2E789-1B7C-645A-B031-54B2414C0C18}"/>
                </a:ext>
              </a:extLst>
            </p:cNvPr>
            <p:cNvSpPr/>
            <p:nvPr/>
          </p:nvSpPr>
          <p:spPr bwMode="auto">
            <a:xfrm>
              <a:off x="2705100" y="1424540"/>
              <a:ext cx="3191492" cy="260074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ea typeface="ＭＳ Ｐゴシック" charset="-128"/>
              </a:endParaRP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319FCA93-101B-8BD1-E125-B9B1058015DB}"/>
                </a:ext>
              </a:extLst>
            </p:cNvPr>
            <p:cNvSpPr/>
            <p:nvPr/>
          </p:nvSpPr>
          <p:spPr bwMode="auto">
            <a:xfrm>
              <a:off x="9288253" y="5119359"/>
              <a:ext cx="653644" cy="429201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ea typeface="ＭＳ Ｐゴシック" charset="-128"/>
              </a:endParaRPr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87461D2B-5C42-0F12-CBB2-56AF570B8518}"/>
                </a:ext>
              </a:extLst>
            </p:cNvPr>
            <p:cNvSpPr txBox="1"/>
            <p:nvPr/>
          </p:nvSpPr>
          <p:spPr>
            <a:xfrm>
              <a:off x="9817321" y="4848857"/>
              <a:ext cx="333981" cy="2705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4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③</a:t>
              </a:r>
              <a:endParaRPr kumimoji="1" lang="ja-JP" altLang="en-US" sz="14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31" name="角丸四角形 26">
              <a:extLst>
                <a:ext uri="{FF2B5EF4-FFF2-40B4-BE49-F238E27FC236}">
                  <a16:creationId xmlns:a16="http://schemas.microsoft.com/office/drawing/2014/main" id="{617C1BD5-3294-B37C-327B-D2046225D6B6}"/>
                </a:ext>
              </a:extLst>
            </p:cNvPr>
            <p:cNvSpPr/>
            <p:nvPr/>
          </p:nvSpPr>
          <p:spPr>
            <a:xfrm>
              <a:off x="879069" y="2895817"/>
              <a:ext cx="1002625" cy="2558313"/>
            </a:xfrm>
            <a:prstGeom prst="roundRect">
              <a:avLst/>
            </a:prstGeom>
            <a:noFill/>
            <a:ln w="38100">
              <a:solidFill>
                <a:srgbClr val="0070C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  <p:sp>
          <p:nvSpPr>
            <p:cNvPr id="32" name="タイトル 4">
              <a:extLst>
                <a:ext uri="{FF2B5EF4-FFF2-40B4-BE49-F238E27FC236}">
                  <a16:creationId xmlns:a16="http://schemas.microsoft.com/office/drawing/2014/main" id="{29F9C032-7C9F-445D-3456-5545560DBE1B}"/>
                </a:ext>
              </a:extLst>
            </p:cNvPr>
            <p:cNvSpPr txBox="1">
              <a:spLocks/>
            </p:cNvSpPr>
            <p:nvPr/>
          </p:nvSpPr>
          <p:spPr>
            <a:xfrm>
              <a:off x="1930058" y="5633898"/>
              <a:ext cx="1340513" cy="374879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txBody>
            <a:bodyPr vert="horz" lIns="91440" tIns="45720" rIns="91440" bIns="45720" rtlCol="0" anchor="t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kumimoji="1"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en-US" altLang="ja-JP" sz="11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Don’t click here</a:t>
              </a:r>
            </a:p>
          </p:txBody>
        </p:sp>
        <p:cxnSp>
          <p:nvCxnSpPr>
            <p:cNvPr id="34" name="直線矢印コネクタ 33">
              <a:extLst>
                <a:ext uri="{FF2B5EF4-FFF2-40B4-BE49-F238E27FC236}">
                  <a16:creationId xmlns:a16="http://schemas.microsoft.com/office/drawing/2014/main" id="{264ED3BE-AD81-0162-FB6F-7ED870E1FFD6}"/>
                </a:ext>
              </a:extLst>
            </p:cNvPr>
            <p:cNvCxnSpPr>
              <a:cxnSpLocks/>
              <a:stCxn id="32" idx="0"/>
            </p:cNvCxnSpPr>
            <p:nvPr/>
          </p:nvCxnSpPr>
          <p:spPr bwMode="auto">
            <a:xfrm flipH="1" flipV="1">
              <a:off x="1712842" y="4755517"/>
              <a:ext cx="887473" cy="87838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7" name="直線矢印コネクタ 36">
              <a:extLst>
                <a:ext uri="{FF2B5EF4-FFF2-40B4-BE49-F238E27FC236}">
                  <a16:creationId xmlns:a16="http://schemas.microsoft.com/office/drawing/2014/main" id="{49AD4C2C-7155-28D5-C543-7CD3FEFD01D3}"/>
                </a:ext>
              </a:extLst>
            </p:cNvPr>
            <p:cNvCxnSpPr>
              <a:cxnSpLocks/>
              <a:stCxn id="32" idx="3"/>
              <a:endCxn id="30" idx="0"/>
            </p:cNvCxnSpPr>
            <p:nvPr/>
          </p:nvCxnSpPr>
          <p:spPr bwMode="auto">
            <a:xfrm>
              <a:off x="3270571" y="5821338"/>
              <a:ext cx="2470041" cy="187439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705617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084DEC2-97BC-097B-7068-FBE543695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703" y="1757492"/>
            <a:ext cx="7911381" cy="4641685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AF80127C-C815-00C8-6EFB-F2054B2EC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 3-2.ED Registration</a:t>
            </a:r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3820DF0-F422-1E94-D10A-ED6144216F4D}"/>
              </a:ext>
            </a:extLst>
          </p:cNvPr>
          <p:cNvSpPr txBox="1"/>
          <p:nvPr/>
        </p:nvSpPr>
        <p:spPr>
          <a:xfrm>
            <a:off x="-38101" y="732694"/>
            <a:ext cx="10725152" cy="43214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ja-JP"/>
            </a:defPPr>
            <a:lvl1pPr>
              <a:lnSpc>
                <a:spcPct val="150000"/>
              </a:lnSpc>
              <a:spcBef>
                <a:spcPct val="0"/>
              </a:spcBef>
              <a:buNone/>
              <a:defRPr sz="1400"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r>
              <a:rPr lang="en-US" altLang="ja-JP" b="1" dirty="0"/>
              <a:t>Step</a:t>
            </a:r>
            <a:r>
              <a:rPr lang="ja-JP" altLang="en-US" b="1" dirty="0"/>
              <a:t> </a:t>
            </a:r>
            <a:r>
              <a:rPr lang="en-US" altLang="ja-JP" b="1" dirty="0"/>
              <a:t>3:</a:t>
            </a:r>
            <a:r>
              <a:rPr lang="ja-JP" altLang="en-US" b="1" dirty="0"/>
              <a:t> </a:t>
            </a:r>
            <a:r>
              <a:rPr lang="en-US" altLang="ja-JP" dirty="0"/>
              <a:t>[Create] screen is shown. Please click [Document set] option to register new ED Document.</a:t>
            </a:r>
            <a:endParaRPr lang="ja-JP" altLang="en-US" dirty="0"/>
          </a:p>
        </p:txBody>
      </p:sp>
      <p:sp>
        <p:nvSpPr>
          <p:cNvPr id="7" name="角丸四角形 26">
            <a:extLst>
              <a:ext uri="{FF2B5EF4-FFF2-40B4-BE49-F238E27FC236}">
                <a16:creationId xmlns:a16="http://schemas.microsoft.com/office/drawing/2014/main" id="{E06614A2-7B8A-A49D-B4E8-971BA4960B6E}"/>
              </a:ext>
            </a:extLst>
          </p:cNvPr>
          <p:cNvSpPr/>
          <p:nvPr/>
        </p:nvSpPr>
        <p:spPr>
          <a:xfrm>
            <a:off x="5909335" y="3098192"/>
            <a:ext cx="2850721" cy="441932"/>
          </a:xfrm>
          <a:prstGeom prst="roundRect">
            <a:avLst/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8" name="四角形吹き出し 40">
            <a:extLst>
              <a:ext uri="{FF2B5EF4-FFF2-40B4-BE49-F238E27FC236}">
                <a16:creationId xmlns:a16="http://schemas.microsoft.com/office/drawing/2014/main" id="{2DF394EC-01D1-F6F0-1925-129600908D06}"/>
              </a:ext>
            </a:extLst>
          </p:cNvPr>
          <p:cNvSpPr/>
          <p:nvPr/>
        </p:nvSpPr>
        <p:spPr>
          <a:xfrm>
            <a:off x="399991" y="5124450"/>
            <a:ext cx="1630844" cy="794706"/>
          </a:xfrm>
          <a:prstGeom prst="wedgeRectCallout">
            <a:avLst>
              <a:gd name="adj1" fmla="val 76254"/>
              <a:gd name="adj2" fmla="val 73893"/>
            </a:avLst>
          </a:prstGeom>
          <a:solidFill>
            <a:srgbClr val="4F81BD"/>
          </a:solidFill>
          <a:ln w="38100">
            <a:solidFill>
              <a:srgbClr val="243F6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1050" dirty="0">
                <a:solidFill>
                  <a:srgbClr val="FFFFFF"/>
                </a:solidFill>
                <a:latin typeface="Arial" panose="020B0604020202020204" pitchFamily="34" charset="0"/>
              </a:rPr>
              <a:t>If you want to cancel registration, you can click Cancel button here</a:t>
            </a:r>
            <a:endParaRPr kumimoji="0" lang="ja-JP" altLang="en-US" sz="105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" name="四角形吹き出し 40">
            <a:hlinkClick r:id="rId3"/>
            <a:extLst>
              <a:ext uri="{FF2B5EF4-FFF2-40B4-BE49-F238E27FC236}">
                <a16:creationId xmlns:a16="http://schemas.microsoft.com/office/drawing/2014/main" id="{774A94B9-0062-D6CD-DD0F-208480A68A86}"/>
              </a:ext>
            </a:extLst>
          </p:cNvPr>
          <p:cNvSpPr/>
          <p:nvPr/>
        </p:nvSpPr>
        <p:spPr>
          <a:xfrm>
            <a:off x="9387090" y="3673860"/>
            <a:ext cx="2599922" cy="1012842"/>
          </a:xfrm>
          <a:prstGeom prst="wedgeRectCallout">
            <a:avLst>
              <a:gd name="adj1" fmla="val -73230"/>
              <a:gd name="adj2" fmla="val -75559"/>
            </a:avLst>
          </a:prstGeom>
          <a:solidFill>
            <a:srgbClr val="4F81BD"/>
          </a:solidFill>
          <a:ln w="38100">
            <a:solidFill>
              <a:srgbClr val="243F6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1050" dirty="0">
                <a:solidFill>
                  <a:srgbClr val="FFFFFF"/>
                </a:solidFill>
                <a:latin typeface="Arial" panose="020B0604020202020204" pitchFamily="34" charset="0"/>
              </a:rPr>
              <a:t>This [Folder] option is used for Admin user only.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1050" dirty="0">
                <a:solidFill>
                  <a:srgbClr val="FFFFFF"/>
                </a:solidFill>
                <a:latin typeface="Arial" panose="020B0604020202020204" pitchFamily="34" charset="0"/>
              </a:rPr>
              <a:t>Author/Viewer are unable to view this option.</a:t>
            </a:r>
            <a:endParaRPr kumimoji="0" lang="ja-JP" altLang="en-US" sz="105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0" name="角丸四角形 26">
            <a:extLst>
              <a:ext uri="{FF2B5EF4-FFF2-40B4-BE49-F238E27FC236}">
                <a16:creationId xmlns:a16="http://schemas.microsoft.com/office/drawing/2014/main" id="{B76F5C22-8D3F-A321-A98C-3BF02F89598F}"/>
              </a:ext>
            </a:extLst>
          </p:cNvPr>
          <p:cNvSpPr/>
          <p:nvPr/>
        </p:nvSpPr>
        <p:spPr>
          <a:xfrm>
            <a:off x="2181916" y="2258019"/>
            <a:ext cx="7571683" cy="600164"/>
          </a:xfrm>
          <a:prstGeom prst="roundRect">
            <a:avLst/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11" name="四角形吹き出し 40">
            <a:extLst>
              <a:ext uri="{FF2B5EF4-FFF2-40B4-BE49-F238E27FC236}">
                <a16:creationId xmlns:a16="http://schemas.microsoft.com/office/drawing/2014/main" id="{4042EA54-17B0-B345-1F35-AD6160A0C935}"/>
              </a:ext>
            </a:extLst>
          </p:cNvPr>
          <p:cNvSpPr/>
          <p:nvPr/>
        </p:nvSpPr>
        <p:spPr>
          <a:xfrm>
            <a:off x="492357" y="1621576"/>
            <a:ext cx="1538478" cy="940237"/>
          </a:xfrm>
          <a:prstGeom prst="wedgeRectCallout">
            <a:avLst>
              <a:gd name="adj1" fmla="val 71555"/>
              <a:gd name="adj2" fmla="val 39313"/>
            </a:avLst>
          </a:prstGeom>
          <a:solidFill>
            <a:srgbClr val="4F81BD"/>
          </a:solidFill>
          <a:ln w="38100">
            <a:solidFill>
              <a:srgbClr val="243F6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1050" dirty="0">
                <a:solidFill>
                  <a:srgbClr val="FFFFFF"/>
                </a:solidFill>
                <a:latin typeface="Arial" panose="020B0604020202020204" pitchFamily="34" charset="0"/>
              </a:rPr>
              <a:t>Location:</a:t>
            </a:r>
            <a:endParaRPr kumimoji="0" lang="ja-JP" altLang="en-US" sz="1050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1050" dirty="0">
                <a:solidFill>
                  <a:srgbClr val="FFFFFF"/>
                </a:solidFill>
                <a:latin typeface="Arial" panose="020B0604020202020204" pitchFamily="34" charset="0"/>
              </a:rPr>
              <a:t>Show path where store document</a:t>
            </a:r>
            <a:endParaRPr kumimoji="0" lang="ja-JP" altLang="en-US" sz="105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A9720DA-552D-6A92-F0E1-7B3165DAF68A}"/>
              </a:ext>
            </a:extLst>
          </p:cNvPr>
          <p:cNvSpPr/>
          <p:nvPr/>
        </p:nvSpPr>
        <p:spPr>
          <a:xfrm>
            <a:off x="3290023" y="3633033"/>
            <a:ext cx="2341355" cy="60016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lIns="144000" rIns="144000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ja-JP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1.</a:t>
            </a:r>
            <a:r>
              <a:rPr lang="en-US" altLang="ja-JP" sz="1100" dirty="0"/>
              <a:t> Click [Document set] option to register new ED document.</a:t>
            </a:r>
            <a:endParaRPr lang="ja-JP" altLang="en-US" sz="1100" kern="1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2BE9800-71C5-E88A-B250-90A9ABB88A70}"/>
              </a:ext>
            </a:extLst>
          </p:cNvPr>
          <p:cNvSpPr/>
          <p:nvPr/>
        </p:nvSpPr>
        <p:spPr bwMode="auto">
          <a:xfrm>
            <a:off x="2352675" y="3106378"/>
            <a:ext cx="3476625" cy="43374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4007E6D-6FC5-E3CB-15CB-B7F8E1371942}"/>
              </a:ext>
            </a:extLst>
          </p:cNvPr>
          <p:cNvSpPr txBox="1"/>
          <p:nvPr/>
        </p:nvSpPr>
        <p:spPr>
          <a:xfrm>
            <a:off x="2971800" y="3540124"/>
            <a:ext cx="296690" cy="2526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①</a:t>
            </a:r>
            <a:endParaRPr kumimoji="1" lang="ja-JP" altLang="en-US" sz="14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25465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82D416-926B-D816-0E96-58D50240C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 3-2.ED Registration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2FB337E-FC56-31E5-E587-B781CFD8BADE}"/>
              </a:ext>
            </a:extLst>
          </p:cNvPr>
          <p:cNvSpPr txBox="1"/>
          <p:nvPr/>
        </p:nvSpPr>
        <p:spPr>
          <a:xfrm>
            <a:off x="-1" y="686569"/>
            <a:ext cx="11237085" cy="44973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ja-JP"/>
            </a:defPPr>
            <a:lvl1pPr>
              <a:lnSpc>
                <a:spcPct val="150000"/>
              </a:lnSpc>
              <a:spcBef>
                <a:spcPct val="0"/>
              </a:spcBef>
              <a:buNone/>
              <a:defRPr sz="1400"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r>
              <a:rPr lang="en-US" altLang="ja-JP" b="1" dirty="0"/>
              <a:t>Step</a:t>
            </a:r>
            <a:r>
              <a:rPr lang="ja-JP" altLang="en-US" b="1" dirty="0"/>
              <a:t> </a:t>
            </a:r>
            <a:r>
              <a:rPr lang="en-US" altLang="ja-JP" b="1" dirty="0"/>
              <a:t>4</a:t>
            </a:r>
            <a:r>
              <a:rPr lang="ja-JP" altLang="en-US" dirty="0"/>
              <a:t>：</a:t>
            </a:r>
            <a:r>
              <a:rPr lang="en-US" altLang="ja-JP" dirty="0"/>
              <a:t>In ED registration form, fill all necessary fields and click [Create] button on bottom right corner of screen to finish.</a:t>
            </a:r>
            <a:endParaRPr lang="ja-JP" altLang="en-US" dirty="0"/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31EF6893-7937-36C5-DBF8-9FA3CD2EB7F6}"/>
              </a:ext>
            </a:extLst>
          </p:cNvPr>
          <p:cNvSpPr txBox="1">
            <a:spLocks/>
          </p:cNvSpPr>
          <p:nvPr/>
        </p:nvSpPr>
        <p:spPr>
          <a:xfrm>
            <a:off x="0" y="1091390"/>
            <a:ext cx="8305800" cy="3686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ja-JP"/>
            </a:defPPr>
            <a:lvl1pPr>
              <a:lnSpc>
                <a:spcPct val="150000"/>
              </a:lnSpc>
              <a:spcBef>
                <a:spcPct val="0"/>
              </a:spcBef>
              <a:buNone/>
              <a:defRPr sz="1400"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r>
              <a:rPr lang="en-US" altLang="ja-JP" dirty="0"/>
              <a:t>*Please refer to </a:t>
            </a:r>
            <a:r>
              <a:rPr lang="en-US" altLang="ja-JP" dirty="0">
                <a:hlinkClick r:id="rId2" action="ppaction://hlinksldjump"/>
              </a:rPr>
              <a:t>Explanation for all fields of ED registration screen </a:t>
            </a:r>
            <a:r>
              <a:rPr lang="en-US" altLang="ja-JP" dirty="0"/>
              <a:t>for detail.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5DCF672-85E9-7F0C-3FB8-9371292CFA00}"/>
              </a:ext>
            </a:extLst>
          </p:cNvPr>
          <p:cNvGrpSpPr/>
          <p:nvPr/>
        </p:nvGrpSpPr>
        <p:grpSpPr>
          <a:xfrm>
            <a:off x="78488" y="1864853"/>
            <a:ext cx="12035023" cy="4959813"/>
            <a:chOff x="43141" y="1725046"/>
            <a:chExt cx="12035023" cy="495981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918B06F-A6A7-17A4-E580-B18494EEB2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32251" y="1725046"/>
              <a:ext cx="7772580" cy="4577677"/>
            </a:xfrm>
            <a:prstGeom prst="rect">
              <a:avLst/>
            </a:prstGeom>
          </p:spPr>
        </p:pic>
        <p:sp>
          <p:nvSpPr>
            <p:cNvPr id="8" name="四角形吹き出し 40">
              <a:extLst>
                <a:ext uri="{FF2B5EF4-FFF2-40B4-BE49-F238E27FC236}">
                  <a16:creationId xmlns:a16="http://schemas.microsoft.com/office/drawing/2014/main" id="{FFDCDB7F-EE1C-54C8-4D01-FAFC23E2DA2D}"/>
                </a:ext>
              </a:extLst>
            </p:cNvPr>
            <p:cNvSpPr/>
            <p:nvPr/>
          </p:nvSpPr>
          <p:spPr>
            <a:xfrm>
              <a:off x="5779239" y="5654910"/>
              <a:ext cx="1720627" cy="667732"/>
            </a:xfrm>
            <a:prstGeom prst="wedgeRectCallout">
              <a:avLst>
                <a:gd name="adj1" fmla="val 87601"/>
                <a:gd name="adj2" fmla="val 29976"/>
              </a:avLst>
            </a:prstGeom>
            <a:solidFill>
              <a:srgbClr val="4F81BD"/>
            </a:solidFill>
            <a:ln w="38100">
              <a:solidFill>
                <a:srgbClr val="243F6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ja-JP" sz="1000" dirty="0">
                  <a:solidFill>
                    <a:srgbClr val="FFFFFF"/>
                  </a:solidFill>
                  <a:latin typeface="Arial" panose="020B0604020202020204" pitchFamily="34" charset="0"/>
                </a:rPr>
                <a:t>If you click Back button, you can go back the previous screen of creation in Page 11</a:t>
              </a:r>
              <a:endParaRPr kumimoji="0" lang="ja-JP" altLang="en-US" sz="1000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" name="角丸四角形 26">
              <a:extLst>
                <a:ext uri="{FF2B5EF4-FFF2-40B4-BE49-F238E27FC236}">
                  <a16:creationId xmlns:a16="http://schemas.microsoft.com/office/drawing/2014/main" id="{0CFC7ED9-EE1A-D0F1-B4FD-A9E027262876}"/>
                </a:ext>
              </a:extLst>
            </p:cNvPr>
            <p:cNvSpPr/>
            <p:nvPr/>
          </p:nvSpPr>
          <p:spPr>
            <a:xfrm>
              <a:off x="1791260" y="5963583"/>
              <a:ext cx="1046617" cy="406481"/>
            </a:xfrm>
            <a:prstGeom prst="roundRect">
              <a:avLst>
                <a:gd name="adj" fmla="val 0"/>
              </a:avLst>
            </a:prstGeom>
            <a:noFill/>
            <a:ln w="38100">
              <a:solidFill>
                <a:srgbClr val="0070C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  <p:sp>
          <p:nvSpPr>
            <p:cNvPr id="10" name="四角形吹き出し 40">
              <a:extLst>
                <a:ext uri="{FF2B5EF4-FFF2-40B4-BE49-F238E27FC236}">
                  <a16:creationId xmlns:a16="http://schemas.microsoft.com/office/drawing/2014/main" id="{A61BB565-0752-63C6-AC99-38CC7C09C6D8}"/>
                </a:ext>
              </a:extLst>
            </p:cNvPr>
            <p:cNvSpPr/>
            <p:nvPr/>
          </p:nvSpPr>
          <p:spPr>
            <a:xfrm>
              <a:off x="43141" y="5875087"/>
              <a:ext cx="1447296" cy="809772"/>
            </a:xfrm>
            <a:prstGeom prst="wedgeRectCallout">
              <a:avLst>
                <a:gd name="adj1" fmla="val 71710"/>
                <a:gd name="adj2" fmla="val 19274"/>
              </a:avLst>
            </a:prstGeom>
            <a:solidFill>
              <a:srgbClr val="4F81BD"/>
            </a:solidFill>
            <a:ln w="38100">
              <a:solidFill>
                <a:srgbClr val="243F6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ja-JP" sz="1000" dirty="0">
                  <a:solidFill>
                    <a:srgbClr val="FFFFFF"/>
                  </a:solidFill>
                  <a:latin typeface="Arial" panose="020B0604020202020204" pitchFamily="34" charset="0"/>
                </a:rPr>
                <a:t>If you want to cancel registration form, you can click Cancel button here</a:t>
              </a:r>
              <a:endParaRPr kumimoji="0" lang="ja-JP" altLang="en-US" sz="1000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E8BBE042-4A96-E75D-45A8-018D2A8A606A}"/>
                </a:ext>
              </a:extLst>
            </p:cNvPr>
            <p:cNvSpPr txBox="1"/>
            <p:nvPr/>
          </p:nvSpPr>
          <p:spPr>
            <a:xfrm>
              <a:off x="8058223" y="5672288"/>
              <a:ext cx="2926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12" name="角丸四角形 26">
              <a:extLst>
                <a:ext uri="{FF2B5EF4-FFF2-40B4-BE49-F238E27FC236}">
                  <a16:creationId xmlns:a16="http://schemas.microsoft.com/office/drawing/2014/main" id="{8CEEA416-D549-D0D8-7547-EEB5C0AF0E42}"/>
                </a:ext>
              </a:extLst>
            </p:cNvPr>
            <p:cNvSpPr/>
            <p:nvPr/>
          </p:nvSpPr>
          <p:spPr>
            <a:xfrm>
              <a:off x="8068778" y="5981881"/>
              <a:ext cx="694630" cy="347926"/>
            </a:xfrm>
            <a:prstGeom prst="roundRect">
              <a:avLst>
                <a:gd name="adj" fmla="val 0"/>
              </a:avLst>
            </a:prstGeom>
            <a:noFill/>
            <a:ln w="38100">
              <a:solidFill>
                <a:srgbClr val="0070C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0F0406CA-D1F3-E72C-C25C-F7AF35B83594}"/>
                </a:ext>
              </a:extLst>
            </p:cNvPr>
            <p:cNvSpPr/>
            <p:nvPr/>
          </p:nvSpPr>
          <p:spPr>
            <a:xfrm>
              <a:off x="9746645" y="5705655"/>
              <a:ext cx="2331519" cy="64633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txBody>
            <a:bodyPr wrap="square" lIns="144000" rIns="144000">
              <a:spAutoFit/>
            </a:bodyPr>
            <a:lstStyle/>
            <a:p>
              <a:pPr>
                <a:spcAft>
                  <a:spcPts val="0"/>
                </a:spcAft>
              </a:pPr>
              <a:r>
                <a:rPr lang="en-US" altLang="ja-JP" sz="1200" kern="1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Click [Create] button to complete ED document registration form</a:t>
              </a:r>
              <a:endPara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0B6C2261-7EFD-9B6F-B05F-C08A48569D1D}"/>
                </a:ext>
              </a:extLst>
            </p:cNvPr>
            <p:cNvSpPr/>
            <p:nvPr/>
          </p:nvSpPr>
          <p:spPr bwMode="auto">
            <a:xfrm>
              <a:off x="8810463" y="5954796"/>
              <a:ext cx="802370" cy="347927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ea typeface="ＭＳ Ｐゴシック" charset="-128"/>
              </a:endParaRPr>
            </a:p>
          </p:txBody>
        </p:sp>
      </p:grp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861A428-7548-36DC-D63A-AB0978B41045}"/>
              </a:ext>
            </a:extLst>
          </p:cNvPr>
          <p:cNvSpPr txBox="1"/>
          <p:nvPr/>
        </p:nvSpPr>
        <p:spPr>
          <a:xfrm>
            <a:off x="-1" y="1367465"/>
            <a:ext cx="11668126" cy="6463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ja-JP"/>
            </a:defPPr>
            <a:lvl1pPr>
              <a:lnSpc>
                <a:spcPct val="150000"/>
              </a:lnSpc>
              <a:spcBef>
                <a:spcPct val="0"/>
              </a:spcBef>
              <a:buNone/>
              <a:defRPr sz="1400"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r>
              <a:rPr lang="en-US" altLang="ja-JP" b="1" dirty="0"/>
              <a:t>After click [Create] button, new document set is created. Please proceed to next steps to confirm [</a:t>
            </a:r>
            <a:r>
              <a:rPr lang="en-US" altLang="ja-JP" b="1" dirty="0">
                <a:hlinkClick r:id="" action="ppaction://noaction"/>
              </a:rPr>
              <a:t>Metadata detailed screen</a:t>
            </a:r>
            <a:r>
              <a:rPr lang="en-US" altLang="ja-JP" b="1" dirty="0"/>
              <a:t>] and perform [</a:t>
            </a:r>
            <a:r>
              <a:rPr lang="en-US" altLang="ja-JP" b="1" dirty="0">
                <a:hlinkClick r:id="" action="ppaction://noaction"/>
              </a:rPr>
              <a:t>Attachment Upload</a:t>
            </a:r>
            <a:r>
              <a:rPr lang="en-US" altLang="ja-JP" b="1" dirty="0"/>
              <a:t>].</a:t>
            </a:r>
            <a:endParaRPr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446532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5E43E7-C6FE-5714-4978-2B208333F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 3-2.ED Registration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D17DBD3-FFFD-D269-0341-FA6D741E4F93}"/>
              </a:ext>
            </a:extLst>
          </p:cNvPr>
          <p:cNvSpPr txBox="1"/>
          <p:nvPr/>
        </p:nvSpPr>
        <p:spPr>
          <a:xfrm>
            <a:off x="85724" y="562217"/>
            <a:ext cx="71564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【Explanation for all fields of ED registration screen 1/3】</a:t>
            </a:r>
            <a:endParaRPr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8E2148E-C033-4507-B764-9DA037AAF191}"/>
              </a:ext>
            </a:extLst>
          </p:cNvPr>
          <p:cNvSpPr txBox="1"/>
          <p:nvPr/>
        </p:nvSpPr>
        <p:spPr>
          <a:xfrm>
            <a:off x="94563" y="829391"/>
            <a:ext cx="9401175" cy="3871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ja-JP"/>
            </a:defPPr>
            <a:lvl1pPr>
              <a:lnSpc>
                <a:spcPct val="150000"/>
              </a:lnSpc>
              <a:spcBef>
                <a:spcPct val="0"/>
              </a:spcBef>
              <a:buNone/>
              <a:defRPr sz="1400"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r>
              <a:rPr lang="en-US" altLang="ja-JP" dirty="0"/>
              <a:t>Fields with </a:t>
            </a:r>
            <a:r>
              <a:rPr lang="ja-JP" altLang="en-US" dirty="0"/>
              <a:t>「</a:t>
            </a:r>
            <a:r>
              <a:rPr lang="en-US" altLang="ja-JP" dirty="0">
                <a:solidFill>
                  <a:srgbClr val="FF0000"/>
                </a:solidFill>
              </a:rPr>
              <a:t>*</a:t>
            </a:r>
            <a:r>
              <a:rPr lang="ja-JP" altLang="en-US" dirty="0"/>
              <a:t>」 </a:t>
            </a:r>
            <a:r>
              <a:rPr lang="en-US" altLang="ja-JP" dirty="0"/>
              <a:t>mark are </a:t>
            </a:r>
            <a:r>
              <a:rPr lang="en-US" altLang="ja-JP" dirty="0">
                <a:solidFill>
                  <a:srgbClr val="C00000"/>
                </a:solidFill>
              </a:rPr>
              <a:t>Mandatory</a:t>
            </a:r>
            <a:r>
              <a:rPr lang="en-US" altLang="ja-JP" dirty="0"/>
              <a:t>.</a:t>
            </a:r>
            <a:r>
              <a:rPr lang="ja-JP" altLang="en-US" dirty="0"/>
              <a:t> </a:t>
            </a:r>
            <a:r>
              <a:rPr lang="en-US" altLang="ja-JP" dirty="0"/>
              <a:t>If you skip Mandatory fields, you cannot perform Registration.</a:t>
            </a:r>
            <a:endParaRPr lang="ja-JP" altLang="en-US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A74839C9-1E9D-6373-6CF4-0B4B540D73AB}"/>
              </a:ext>
            </a:extLst>
          </p:cNvPr>
          <p:cNvSpPr txBox="1"/>
          <p:nvPr/>
        </p:nvSpPr>
        <p:spPr>
          <a:xfrm>
            <a:off x="7380502" y="1243773"/>
            <a:ext cx="4114800" cy="38719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ja-JP"/>
            </a:defPPr>
            <a:lvl1pPr>
              <a:lnSpc>
                <a:spcPct val="150000"/>
              </a:lnSpc>
              <a:spcBef>
                <a:spcPct val="0"/>
              </a:spcBef>
              <a:buNone/>
              <a:defRPr sz="1400"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r>
              <a:rPr lang="ja-JP" altLang="en-US" sz="1050" b="1" dirty="0"/>
              <a:t>①</a:t>
            </a:r>
            <a:r>
              <a:rPr lang="en-US" altLang="ja-JP" sz="1050" b="1" dirty="0"/>
              <a:t>Location:</a:t>
            </a:r>
            <a:r>
              <a:rPr lang="ja-JP" altLang="en-US" sz="1050" b="1" dirty="0"/>
              <a:t>　</a:t>
            </a:r>
            <a:r>
              <a:rPr lang="en-US" altLang="ja-JP" sz="1050" dirty="0"/>
              <a:t>Show folder path where Document Set is stored.</a:t>
            </a:r>
            <a:endParaRPr lang="ja-JP" altLang="en-US" sz="1050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A6CACE5D-FFA7-B89C-D822-C1A5F45E2265}"/>
              </a:ext>
            </a:extLst>
          </p:cNvPr>
          <p:cNvSpPr txBox="1"/>
          <p:nvPr/>
        </p:nvSpPr>
        <p:spPr>
          <a:xfrm>
            <a:off x="7380502" y="1892514"/>
            <a:ext cx="4249523" cy="72088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ja-JP"/>
            </a:defPPr>
            <a:lvl1pPr>
              <a:lnSpc>
                <a:spcPct val="150000"/>
              </a:lnSpc>
              <a:spcBef>
                <a:spcPct val="0"/>
              </a:spcBef>
              <a:buNone/>
              <a:defRPr sz="1200"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r>
              <a:rPr lang="ja-JP" altLang="en-US" sz="1050" b="1" dirty="0"/>
              <a:t>②</a:t>
            </a:r>
            <a:r>
              <a:rPr lang="en-US" altLang="ja-JP" sz="1050" b="1" dirty="0"/>
              <a:t>Title(J), Title(E)</a:t>
            </a:r>
            <a:r>
              <a:rPr lang="ja-JP" altLang="en-US" sz="1050" b="1" dirty="0"/>
              <a:t>: </a:t>
            </a:r>
            <a:r>
              <a:rPr lang="en-US" altLang="ja-JP" sz="1050" dirty="0"/>
              <a:t>You can input Japanese Title and English Title for this new document.</a:t>
            </a:r>
            <a:endParaRPr lang="ja-JP" altLang="en-US" sz="1050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7B7B53CE-166A-C02F-AABD-8BE240395D61}"/>
              </a:ext>
            </a:extLst>
          </p:cNvPr>
          <p:cNvSpPr txBox="1"/>
          <p:nvPr/>
        </p:nvSpPr>
        <p:spPr>
          <a:xfrm>
            <a:off x="7444489" y="2481087"/>
            <a:ext cx="4185536" cy="9762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ja-JP"/>
            </a:defPPr>
            <a:lvl1pPr>
              <a:lnSpc>
                <a:spcPct val="150000"/>
              </a:lnSpc>
              <a:spcBef>
                <a:spcPct val="0"/>
              </a:spcBef>
              <a:buNone/>
              <a:defRPr sz="1200"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r>
              <a:rPr lang="ja-JP" altLang="en-US" sz="1050" b="1" dirty="0"/>
              <a:t>③</a:t>
            </a:r>
            <a:r>
              <a:rPr lang="en-US" altLang="ja-JP" sz="1050" b="1" dirty="0"/>
              <a:t>Set Title</a:t>
            </a:r>
            <a:r>
              <a:rPr lang="ja-JP" altLang="en-US" sz="1050" b="1" dirty="0"/>
              <a:t>: </a:t>
            </a:r>
            <a:endParaRPr lang="en-US" altLang="ja-JP" sz="1050" b="1" dirty="0"/>
          </a:p>
          <a:p>
            <a:r>
              <a:rPr lang="en-US" altLang="ja-JP" sz="1050" dirty="0"/>
              <a:t>you can generate Title by clicking button "Set Title“, based on the values of attributes: "Document Type“, “Project code”, ”Lot”.</a:t>
            </a:r>
            <a:endParaRPr lang="ja-JP" altLang="en-US" sz="1050" dirty="0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DAA759E5-D006-195A-437E-FB23E97F37CB}"/>
              </a:ext>
            </a:extLst>
          </p:cNvPr>
          <p:cNvSpPr txBox="1"/>
          <p:nvPr/>
        </p:nvSpPr>
        <p:spPr>
          <a:xfrm>
            <a:off x="7379128" y="3398907"/>
            <a:ext cx="4803987" cy="16913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ja-JP"/>
            </a:defPPr>
            <a:lvl1pPr>
              <a:lnSpc>
                <a:spcPct val="150000"/>
              </a:lnSpc>
              <a:spcBef>
                <a:spcPct val="0"/>
              </a:spcBef>
              <a:buNone/>
              <a:defRPr sz="1200"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r>
              <a:rPr lang="ja-JP" altLang="en-US" sz="1050" b="1" dirty="0"/>
              <a:t>④ </a:t>
            </a:r>
            <a:r>
              <a:rPr lang="en-US" altLang="ja-JP" sz="1050" b="1" dirty="0"/>
              <a:t>Project Code</a:t>
            </a:r>
            <a:r>
              <a:rPr lang="ja-JP" altLang="en-US" sz="1050" b="1" dirty="0"/>
              <a:t>：</a:t>
            </a:r>
            <a:r>
              <a:rPr lang="en-US" altLang="ja-JP" sz="1050" dirty="0"/>
              <a:t> </a:t>
            </a:r>
          </a:p>
          <a:p>
            <a:r>
              <a:rPr lang="en-US" altLang="ja-JP" sz="1050" dirty="0"/>
              <a:t>Development: If you select "Development", Platform and Development are required to set. One or more values can be added.</a:t>
            </a:r>
          </a:p>
          <a:p>
            <a:r>
              <a:rPr lang="en-US" altLang="ja-JP" sz="1050" dirty="0"/>
              <a:t>Production Model: If you select "Production Model", Production Model and Platform are required to set.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AF009AA-04D3-C3D5-12A7-DEE9F454A940}"/>
              </a:ext>
            </a:extLst>
          </p:cNvPr>
          <p:cNvSpPr txBox="1"/>
          <p:nvPr/>
        </p:nvSpPr>
        <p:spPr>
          <a:xfrm>
            <a:off x="0" y="2193992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①</a:t>
            </a:r>
            <a:endParaRPr kumimoji="1" lang="ja-JP" altLang="en-US" sz="16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D781492E-84DA-AB0B-63A4-136E194D6C42}"/>
              </a:ext>
            </a:extLst>
          </p:cNvPr>
          <p:cNvSpPr txBox="1"/>
          <p:nvPr/>
        </p:nvSpPr>
        <p:spPr>
          <a:xfrm>
            <a:off x="0" y="3104711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②</a:t>
            </a:r>
            <a:endParaRPr kumimoji="1" lang="ja-JP" altLang="en-US" sz="16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5FFDCFD4-4512-16DE-1E19-AA22FD52A350}"/>
              </a:ext>
            </a:extLst>
          </p:cNvPr>
          <p:cNvSpPr txBox="1"/>
          <p:nvPr/>
        </p:nvSpPr>
        <p:spPr>
          <a:xfrm>
            <a:off x="0" y="3888087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③</a:t>
            </a:r>
            <a:endParaRPr kumimoji="1" lang="ja-JP" altLang="en-US" sz="16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70DCE006-4FE0-370A-AEEF-88C7E01ED2E0}"/>
              </a:ext>
            </a:extLst>
          </p:cNvPr>
          <p:cNvSpPr txBox="1"/>
          <p:nvPr/>
        </p:nvSpPr>
        <p:spPr>
          <a:xfrm>
            <a:off x="0" y="4584245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④</a:t>
            </a:r>
            <a:endParaRPr kumimoji="1" lang="ja-JP" altLang="en-US" sz="16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8BE7E1D-CA47-1C27-D8D5-61B192D0DF7A}"/>
              </a:ext>
            </a:extLst>
          </p:cNvPr>
          <p:cNvGrpSpPr/>
          <p:nvPr/>
        </p:nvGrpSpPr>
        <p:grpSpPr>
          <a:xfrm>
            <a:off x="33785" y="1367939"/>
            <a:ext cx="7252840" cy="4428005"/>
            <a:chOff x="33785" y="1367939"/>
            <a:chExt cx="7252840" cy="442800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00BBAF0-C2BD-B5DA-E9BB-F2E4FDAFCA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3519" y="1367939"/>
              <a:ext cx="6787094" cy="4122121"/>
            </a:xfrm>
            <a:prstGeom prst="rect">
              <a:avLst/>
            </a:prstGeom>
          </p:spPr>
        </p:pic>
        <p:sp>
          <p:nvSpPr>
            <p:cNvPr id="16" name="角丸四角形 26">
              <a:extLst>
                <a:ext uri="{FF2B5EF4-FFF2-40B4-BE49-F238E27FC236}">
                  <a16:creationId xmlns:a16="http://schemas.microsoft.com/office/drawing/2014/main" id="{B681CA35-22B2-C927-D0FF-37A5952545C8}"/>
                </a:ext>
              </a:extLst>
            </p:cNvPr>
            <p:cNvSpPr/>
            <p:nvPr/>
          </p:nvSpPr>
          <p:spPr>
            <a:xfrm>
              <a:off x="363519" y="1939009"/>
              <a:ext cx="6846906" cy="720880"/>
            </a:xfrm>
            <a:prstGeom prst="roundRect">
              <a:avLst/>
            </a:prstGeom>
            <a:noFill/>
            <a:ln w="38100">
              <a:solidFill>
                <a:srgbClr val="0070C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  <p:sp>
          <p:nvSpPr>
            <p:cNvPr id="17" name="角丸四角形 26">
              <a:extLst>
                <a:ext uri="{FF2B5EF4-FFF2-40B4-BE49-F238E27FC236}">
                  <a16:creationId xmlns:a16="http://schemas.microsoft.com/office/drawing/2014/main" id="{5F8196A5-505D-F7C3-2CD1-3143E196B3AA}"/>
                </a:ext>
              </a:extLst>
            </p:cNvPr>
            <p:cNvSpPr/>
            <p:nvPr/>
          </p:nvSpPr>
          <p:spPr>
            <a:xfrm>
              <a:off x="363519" y="2914873"/>
              <a:ext cx="6923106" cy="628120"/>
            </a:xfrm>
            <a:prstGeom prst="roundRect">
              <a:avLst/>
            </a:prstGeom>
            <a:noFill/>
            <a:ln w="38100">
              <a:solidFill>
                <a:srgbClr val="0070C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  <p:sp>
          <p:nvSpPr>
            <p:cNvPr id="18" name="角丸四角形 26">
              <a:extLst>
                <a:ext uri="{FF2B5EF4-FFF2-40B4-BE49-F238E27FC236}">
                  <a16:creationId xmlns:a16="http://schemas.microsoft.com/office/drawing/2014/main" id="{1C1FCE60-9D02-17EF-A06D-EA9CC3ACEF2D}"/>
                </a:ext>
              </a:extLst>
            </p:cNvPr>
            <p:cNvSpPr/>
            <p:nvPr/>
          </p:nvSpPr>
          <p:spPr>
            <a:xfrm>
              <a:off x="363519" y="3790276"/>
              <a:ext cx="855681" cy="377459"/>
            </a:xfrm>
            <a:prstGeom prst="roundRect">
              <a:avLst/>
            </a:prstGeom>
            <a:noFill/>
            <a:ln w="38100">
              <a:solidFill>
                <a:srgbClr val="0070C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  <p:sp>
          <p:nvSpPr>
            <p:cNvPr id="19" name="角丸四角形 26">
              <a:extLst>
                <a:ext uri="{FF2B5EF4-FFF2-40B4-BE49-F238E27FC236}">
                  <a16:creationId xmlns:a16="http://schemas.microsoft.com/office/drawing/2014/main" id="{74B75185-15C5-633E-58E1-229135702431}"/>
                </a:ext>
              </a:extLst>
            </p:cNvPr>
            <p:cNvSpPr/>
            <p:nvPr/>
          </p:nvSpPr>
          <p:spPr>
            <a:xfrm>
              <a:off x="363519" y="4401919"/>
              <a:ext cx="6923106" cy="628120"/>
            </a:xfrm>
            <a:prstGeom prst="roundRect">
              <a:avLst/>
            </a:prstGeom>
            <a:noFill/>
            <a:ln w="38100">
              <a:solidFill>
                <a:srgbClr val="0070C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  <p:sp>
          <p:nvSpPr>
            <p:cNvPr id="20" name="角丸四角形 26">
              <a:extLst>
                <a:ext uri="{FF2B5EF4-FFF2-40B4-BE49-F238E27FC236}">
                  <a16:creationId xmlns:a16="http://schemas.microsoft.com/office/drawing/2014/main" id="{BB9211B3-EA57-C6B1-88B0-43BDBE5A4F56}"/>
                </a:ext>
              </a:extLst>
            </p:cNvPr>
            <p:cNvSpPr/>
            <p:nvPr/>
          </p:nvSpPr>
          <p:spPr>
            <a:xfrm>
              <a:off x="325419" y="5280403"/>
              <a:ext cx="6923106" cy="515541"/>
            </a:xfrm>
            <a:prstGeom prst="roundRect">
              <a:avLst/>
            </a:prstGeom>
            <a:noFill/>
            <a:ln w="38100">
              <a:solidFill>
                <a:srgbClr val="0070C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D2E2D135-0D8C-2653-55A0-C7FE89297A25}"/>
                </a:ext>
              </a:extLst>
            </p:cNvPr>
            <p:cNvSpPr txBox="1"/>
            <p:nvPr/>
          </p:nvSpPr>
          <p:spPr>
            <a:xfrm>
              <a:off x="33785" y="5223344"/>
              <a:ext cx="3898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6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⑤</a:t>
              </a:r>
              <a:endParaRPr kumimoji="1"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</p:grp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AFAA284-7E73-88F4-6EA3-56B61FDA1FF4}"/>
              </a:ext>
            </a:extLst>
          </p:cNvPr>
          <p:cNvSpPr txBox="1"/>
          <p:nvPr/>
        </p:nvSpPr>
        <p:spPr>
          <a:xfrm>
            <a:off x="7341028" y="4617324"/>
            <a:ext cx="4803987" cy="16913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ja-JP"/>
            </a:defPPr>
            <a:lvl1pPr>
              <a:lnSpc>
                <a:spcPct val="150000"/>
              </a:lnSpc>
              <a:spcBef>
                <a:spcPct val="0"/>
              </a:spcBef>
              <a:buNone/>
              <a:defRPr sz="1200"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r>
              <a:rPr lang="ja-JP" altLang="en-US" sz="1050" b="1" dirty="0"/>
              <a:t>⑤ </a:t>
            </a:r>
            <a:r>
              <a:rPr lang="en-US" altLang="ja-JP" sz="1050" b="1" dirty="0"/>
              <a:t>Platform: </a:t>
            </a:r>
            <a:r>
              <a:rPr lang="en-US" altLang="ja-JP" sz="1050" dirty="0"/>
              <a:t>Select correct value  from the dropdown.</a:t>
            </a:r>
          </a:p>
          <a:p>
            <a:r>
              <a:rPr lang="en-US" altLang="ja-JP" sz="1050" b="1" dirty="0"/>
              <a:t>Development: </a:t>
            </a:r>
            <a:r>
              <a:rPr lang="en-US" altLang="ja-JP" sz="1050" dirty="0"/>
              <a:t>Based on the Platform value selected, Development list/drop-down is displayed, select appropriate option.</a:t>
            </a:r>
          </a:p>
          <a:p>
            <a:r>
              <a:rPr lang="en-US" altLang="ja-JP" sz="1050" b="1" dirty="0" err="1"/>
              <a:t>BodyType</a:t>
            </a:r>
            <a:r>
              <a:rPr lang="en-US" altLang="ja-JP" sz="1050" b="1" dirty="0"/>
              <a:t>: </a:t>
            </a:r>
            <a:r>
              <a:rPr lang="en-US" altLang="ja-JP" sz="1050" dirty="0"/>
              <a:t>Select correct value from the drop-down.</a:t>
            </a:r>
          </a:p>
        </p:txBody>
      </p:sp>
    </p:spTree>
    <p:extLst>
      <p:ext uri="{BB962C8B-B14F-4D97-AF65-F5344CB8AC3E}">
        <p14:creationId xmlns:p14="http://schemas.microsoft.com/office/powerpoint/2010/main" val="25929761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15F8D5-18C8-FD09-8E21-68994C970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696" y="1267765"/>
            <a:ext cx="7080054" cy="3784477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8583D13F-9012-BC90-2449-9EBE63830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 3-2.ED Registration</a:t>
            </a:r>
            <a:endParaRPr kumimoji="1"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FCB55FB-3FCF-56E4-E338-8378AF647073}"/>
              </a:ext>
            </a:extLst>
          </p:cNvPr>
          <p:cNvSpPr txBox="1"/>
          <p:nvPr/>
        </p:nvSpPr>
        <p:spPr>
          <a:xfrm>
            <a:off x="-38101" y="749579"/>
            <a:ext cx="69627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【Explanation for all fields of ED registration screen 2/3】</a:t>
            </a:r>
            <a:endParaRPr lang="ja-JP" altLang="en-US" dirty="0"/>
          </a:p>
        </p:txBody>
      </p:sp>
      <p:sp>
        <p:nvSpPr>
          <p:cNvPr id="12" name="角丸四角形 26">
            <a:extLst>
              <a:ext uri="{FF2B5EF4-FFF2-40B4-BE49-F238E27FC236}">
                <a16:creationId xmlns:a16="http://schemas.microsoft.com/office/drawing/2014/main" id="{F0DC6101-8807-ABF1-4AA4-26AA186F0171}"/>
              </a:ext>
            </a:extLst>
          </p:cNvPr>
          <p:cNvSpPr/>
          <p:nvPr/>
        </p:nvSpPr>
        <p:spPr>
          <a:xfrm>
            <a:off x="428625" y="2198548"/>
            <a:ext cx="7353141" cy="541017"/>
          </a:xfrm>
          <a:prstGeom prst="roundRect">
            <a:avLst/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13" name="角丸四角形 26">
            <a:extLst>
              <a:ext uri="{FF2B5EF4-FFF2-40B4-BE49-F238E27FC236}">
                <a16:creationId xmlns:a16="http://schemas.microsoft.com/office/drawing/2014/main" id="{1527DAB6-BD2B-F4E3-B61E-5A4D3A1091BD}"/>
              </a:ext>
            </a:extLst>
          </p:cNvPr>
          <p:cNvSpPr/>
          <p:nvPr/>
        </p:nvSpPr>
        <p:spPr>
          <a:xfrm>
            <a:off x="432286" y="2810000"/>
            <a:ext cx="7349480" cy="613862"/>
          </a:xfrm>
          <a:prstGeom prst="roundRect">
            <a:avLst/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14" name="角丸四角形 26">
            <a:extLst>
              <a:ext uri="{FF2B5EF4-FFF2-40B4-BE49-F238E27FC236}">
                <a16:creationId xmlns:a16="http://schemas.microsoft.com/office/drawing/2014/main" id="{49FD1A57-4B2B-B21E-91F8-2782A779B2E3}"/>
              </a:ext>
            </a:extLst>
          </p:cNvPr>
          <p:cNvSpPr/>
          <p:nvPr/>
        </p:nvSpPr>
        <p:spPr>
          <a:xfrm>
            <a:off x="420265" y="3730323"/>
            <a:ext cx="7361501" cy="507266"/>
          </a:xfrm>
          <a:prstGeom prst="roundRect">
            <a:avLst/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15" name="角丸四角形 26">
            <a:extLst>
              <a:ext uri="{FF2B5EF4-FFF2-40B4-BE49-F238E27FC236}">
                <a16:creationId xmlns:a16="http://schemas.microsoft.com/office/drawing/2014/main" id="{548323B4-3901-DAEC-50A5-C086DC4541C3}"/>
              </a:ext>
            </a:extLst>
          </p:cNvPr>
          <p:cNvSpPr/>
          <p:nvPr/>
        </p:nvSpPr>
        <p:spPr>
          <a:xfrm>
            <a:off x="435888" y="4406172"/>
            <a:ext cx="7308658" cy="771967"/>
          </a:xfrm>
          <a:prstGeom prst="roundRect">
            <a:avLst/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6BAFEE6-3F25-B9A8-F1B5-CF563F8E97AD}"/>
              </a:ext>
            </a:extLst>
          </p:cNvPr>
          <p:cNvSpPr txBox="1"/>
          <p:nvPr/>
        </p:nvSpPr>
        <p:spPr>
          <a:xfrm>
            <a:off x="11093" y="1515548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⑥</a:t>
            </a:r>
            <a:endParaRPr lang="en-US" altLang="ja-JP" sz="16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6354198-2C73-F623-FBE5-F86417EFC545}"/>
              </a:ext>
            </a:extLst>
          </p:cNvPr>
          <p:cNvSpPr txBox="1"/>
          <p:nvPr/>
        </p:nvSpPr>
        <p:spPr>
          <a:xfrm>
            <a:off x="0" y="2235170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⑦</a:t>
            </a:r>
            <a:endParaRPr kumimoji="1" lang="ja-JP" altLang="en-US" sz="16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536B920-1DAF-4ADA-E503-711C48EBC2DF}"/>
              </a:ext>
            </a:extLst>
          </p:cNvPr>
          <p:cNvSpPr txBox="1"/>
          <p:nvPr/>
        </p:nvSpPr>
        <p:spPr>
          <a:xfrm>
            <a:off x="41662" y="2995579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⑧</a:t>
            </a:r>
            <a:endParaRPr kumimoji="1" lang="ja-JP" altLang="en-US" sz="16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E9C395C-FD6D-4218-127C-6418174881CD}"/>
              </a:ext>
            </a:extLst>
          </p:cNvPr>
          <p:cNvSpPr txBox="1"/>
          <p:nvPr/>
        </p:nvSpPr>
        <p:spPr>
          <a:xfrm>
            <a:off x="68457" y="3708118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⑨</a:t>
            </a:r>
            <a:endParaRPr kumimoji="1" lang="ja-JP" altLang="en-US" sz="16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52A314D5-4A04-D8E2-8840-263DC3E03D59}"/>
              </a:ext>
            </a:extLst>
          </p:cNvPr>
          <p:cNvSpPr txBox="1"/>
          <p:nvPr/>
        </p:nvSpPr>
        <p:spPr>
          <a:xfrm>
            <a:off x="41662" y="4534841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⑩</a:t>
            </a:r>
            <a:endParaRPr kumimoji="1" lang="ja-JP" altLang="en-US" sz="16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8" name="角丸四角形 26">
            <a:extLst>
              <a:ext uri="{FF2B5EF4-FFF2-40B4-BE49-F238E27FC236}">
                <a16:creationId xmlns:a16="http://schemas.microsoft.com/office/drawing/2014/main" id="{0ACACA49-7B1D-0ACB-AD60-CD1407EDD106}"/>
              </a:ext>
            </a:extLst>
          </p:cNvPr>
          <p:cNvSpPr/>
          <p:nvPr/>
        </p:nvSpPr>
        <p:spPr>
          <a:xfrm>
            <a:off x="407476" y="1419282"/>
            <a:ext cx="7337070" cy="659812"/>
          </a:xfrm>
          <a:prstGeom prst="roundRect">
            <a:avLst/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98F711-0D11-B7A0-C8EB-86FE33A7BA7B}"/>
              </a:ext>
            </a:extLst>
          </p:cNvPr>
          <p:cNvSpPr txBox="1"/>
          <p:nvPr/>
        </p:nvSpPr>
        <p:spPr>
          <a:xfrm>
            <a:off x="7962900" y="1487578"/>
            <a:ext cx="381836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05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⑥ </a:t>
            </a:r>
            <a:r>
              <a:rPr lang="en-US" altLang="ja-JP" sz="105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Destination, Lot: </a:t>
            </a:r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Select Correct value from Destination and Lot drop-down lists.</a:t>
            </a:r>
            <a:endParaRPr lang="en-IN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097B4A-E6BD-8BCB-2DD7-09C5ECB5E52E}"/>
              </a:ext>
            </a:extLst>
          </p:cNvPr>
          <p:cNvSpPr txBox="1"/>
          <p:nvPr/>
        </p:nvSpPr>
        <p:spPr>
          <a:xfrm>
            <a:off x="8039100" y="2198548"/>
            <a:ext cx="374216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ja-JP" sz="105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Document type: </a:t>
            </a:r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Select appropriate document type from drop-down list.</a:t>
            </a:r>
          </a:p>
          <a:p>
            <a:pPr algn="just"/>
            <a:r>
              <a:rPr lang="en-US" sz="1050" b="1" dirty="0">
                <a:latin typeface="Meiryo UI" panose="020B0604030504040204" pitchFamily="50" charset="-128"/>
                <a:ea typeface="Meiryo UI" panose="020B0604030504040204" pitchFamily="50" charset="-128"/>
              </a:rPr>
              <a:t>Function (Number), Function: </a:t>
            </a:r>
            <a:r>
              <a:rPr 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 auto-populated</a:t>
            </a:r>
            <a:endParaRPr lang="en-IN" sz="105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テキスト ボックス 18">
            <a:extLst>
              <a:ext uri="{FF2B5EF4-FFF2-40B4-BE49-F238E27FC236}">
                <a16:creationId xmlns:a16="http://schemas.microsoft.com/office/drawing/2014/main" id="{1DA5BF2E-CD13-9237-4644-305B1C9224C3}"/>
              </a:ext>
            </a:extLst>
          </p:cNvPr>
          <p:cNvSpPr txBox="1"/>
          <p:nvPr/>
        </p:nvSpPr>
        <p:spPr>
          <a:xfrm>
            <a:off x="7953375" y="2189327"/>
            <a:ext cx="31931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5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⑦</a:t>
            </a:r>
            <a:endParaRPr kumimoji="1" lang="ja-JP" altLang="en-US" sz="105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FF83FD-35B8-7A60-7634-883EE6FF42FC}"/>
              </a:ext>
            </a:extLst>
          </p:cNvPr>
          <p:cNvSpPr txBox="1"/>
          <p:nvPr/>
        </p:nvSpPr>
        <p:spPr>
          <a:xfrm>
            <a:off x="7962900" y="2846781"/>
            <a:ext cx="38183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ja-JP" sz="105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GD Sub: </a:t>
            </a:r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Based on the document type  and the function selected, GD- Sub list will be displayed. Select the appropriate one. </a:t>
            </a:r>
          </a:p>
          <a:p>
            <a:pPr algn="just"/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Click on the hyperlink to check the GD Sub values list.</a:t>
            </a:r>
            <a:endParaRPr lang="en-IN" sz="105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テキスト ボックス 19">
            <a:extLst>
              <a:ext uri="{FF2B5EF4-FFF2-40B4-BE49-F238E27FC236}">
                <a16:creationId xmlns:a16="http://schemas.microsoft.com/office/drawing/2014/main" id="{0AD40C69-AC7E-7908-173B-266E2E598799}"/>
              </a:ext>
            </a:extLst>
          </p:cNvPr>
          <p:cNvSpPr txBox="1"/>
          <p:nvPr/>
        </p:nvSpPr>
        <p:spPr>
          <a:xfrm>
            <a:off x="7953375" y="2798455"/>
            <a:ext cx="10903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50" b="1" dirty="0">
                <a:latin typeface="Meiryo UI" panose="020B0604030504040204" pitchFamily="50" charset="-128"/>
                <a:ea typeface="Meiryo UI" panose="020B0604030504040204" pitchFamily="50" charset="-128"/>
              </a:rPr>
              <a:t>⑧</a:t>
            </a:r>
            <a:r>
              <a:rPr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             </a:t>
            </a:r>
          </a:p>
        </p:txBody>
      </p:sp>
      <p:sp>
        <p:nvSpPr>
          <p:cNvPr id="36" name="Speech Bubble: Rectangle with Corners Rounded 35">
            <a:extLst>
              <a:ext uri="{FF2B5EF4-FFF2-40B4-BE49-F238E27FC236}">
                <a16:creationId xmlns:a16="http://schemas.microsoft.com/office/drawing/2014/main" id="{8DB296F7-3667-CC65-8955-4124570E0592}"/>
              </a:ext>
            </a:extLst>
          </p:cNvPr>
          <p:cNvSpPr/>
          <p:nvPr/>
        </p:nvSpPr>
        <p:spPr bwMode="auto">
          <a:xfrm>
            <a:off x="458307" y="3412957"/>
            <a:ext cx="974529" cy="338528"/>
          </a:xfrm>
          <a:prstGeom prst="wedgeRoundRectCallout">
            <a:avLst>
              <a:gd name="adj1" fmla="val 173668"/>
              <a:gd name="adj2" fmla="val -19096"/>
              <a:gd name="adj3" fmla="val 16667"/>
            </a:avLst>
          </a:prstGeom>
          <a:noFill/>
          <a:ln w="9525" cap="flat" cmpd="sng" algn="ctr">
            <a:solidFill>
              <a:schemeClr val="accent2"/>
            </a:solidFill>
            <a:prstDash val="sysDash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CB99585-9FDD-827A-B6B4-95CC42D68E3E}"/>
              </a:ext>
            </a:extLst>
          </p:cNvPr>
          <p:cNvSpPr txBox="1"/>
          <p:nvPr/>
        </p:nvSpPr>
        <p:spPr>
          <a:xfrm>
            <a:off x="2737047" y="3486175"/>
            <a:ext cx="34025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Link to the file with GD Sub Details</a:t>
            </a:r>
            <a:r>
              <a:rPr lang="en-US" sz="1050" b="1" dirty="0">
                <a:latin typeface="Meiryo UI" panose="020B0604030504040204" pitchFamily="50" charset="-128"/>
                <a:ea typeface="Meiryo UI" panose="020B0604030504040204" pitchFamily="50" charset="-128"/>
              </a:rPr>
              <a:t>.</a:t>
            </a:r>
            <a:endParaRPr lang="en-IN" sz="105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C2E7DBA-2A68-229B-17A4-3D89BC812D44}"/>
              </a:ext>
            </a:extLst>
          </p:cNvPr>
          <p:cNvSpPr txBox="1"/>
          <p:nvPr/>
        </p:nvSpPr>
        <p:spPr>
          <a:xfrm>
            <a:off x="7953375" y="3821398"/>
            <a:ext cx="3818360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ja-JP" sz="105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lang="ja-JP" altLang="en-US" sz="105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⑨</a:t>
            </a:r>
            <a:r>
              <a:rPr lang="en-US" altLang="ja-JP" sz="105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Confidentiality Classification: </a:t>
            </a:r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Select appropriate value.</a:t>
            </a:r>
          </a:p>
          <a:p>
            <a:pPr algn="just"/>
            <a:r>
              <a:rPr lang="en-US" sz="105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Retention term:</a:t>
            </a:r>
            <a:r>
              <a:rPr 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 specifies how long the document set has to be retained.</a:t>
            </a:r>
          </a:p>
          <a:p>
            <a:pPr algn="just"/>
            <a:r>
              <a:rPr lang="en-US" sz="105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Retention Date:  </a:t>
            </a:r>
            <a:r>
              <a:rPr 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auto-calculated based on Retention term.</a:t>
            </a:r>
            <a:endParaRPr lang="en-US" sz="105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IN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22B201A-56E4-AF18-65C8-B4F17C0F6570}"/>
              </a:ext>
            </a:extLst>
          </p:cNvPr>
          <p:cNvSpPr txBox="1"/>
          <p:nvPr/>
        </p:nvSpPr>
        <p:spPr>
          <a:xfrm>
            <a:off x="7962900" y="4873395"/>
            <a:ext cx="381836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05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⑩</a:t>
            </a:r>
            <a:r>
              <a:rPr lang="ja-JP" altLang="en-US" sz="105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lang="en-US" altLang="ja-JP" sz="105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Industry: </a:t>
            </a:r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auto-populated based on the folder name.</a:t>
            </a:r>
          </a:p>
          <a:p>
            <a:pPr algn="just"/>
            <a:r>
              <a:rPr lang="en-US" sz="1050" b="1" dirty="0">
                <a:latin typeface="Meiryo UI" panose="020B0604030504040204" pitchFamily="50" charset="-128"/>
                <a:ea typeface="Meiryo UI" panose="020B0604030504040204" pitchFamily="50" charset="-128"/>
              </a:rPr>
              <a:t>Sec, Draw Person: </a:t>
            </a:r>
            <a:r>
              <a:rPr 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auto-fetched from the Login User details.</a:t>
            </a:r>
            <a:endParaRPr lang="en-IN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54676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C99A24-FB15-AB7C-954C-FB134CA05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29" y="1132473"/>
            <a:ext cx="6108448" cy="3398881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B4D76569-FF7D-4C40-3984-6D1D653C7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 3-2.ED Registration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9AE468A-FFFD-9315-6228-5812ACCD0B78}"/>
              </a:ext>
            </a:extLst>
          </p:cNvPr>
          <p:cNvSpPr txBox="1"/>
          <p:nvPr/>
        </p:nvSpPr>
        <p:spPr>
          <a:xfrm>
            <a:off x="-1" y="620382"/>
            <a:ext cx="73748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/>
              <a:t>【 Explanation for all fields of ED registration screen 3/3 】</a:t>
            </a:r>
            <a:endParaRPr lang="ja-JP" altLang="en-US" sz="1600" dirty="0"/>
          </a:p>
        </p:txBody>
      </p:sp>
      <p:sp>
        <p:nvSpPr>
          <p:cNvPr id="10" name="角丸四角形 26">
            <a:extLst>
              <a:ext uri="{FF2B5EF4-FFF2-40B4-BE49-F238E27FC236}">
                <a16:creationId xmlns:a16="http://schemas.microsoft.com/office/drawing/2014/main" id="{65A12FD5-91E6-9393-5B30-3132A08481F3}"/>
              </a:ext>
            </a:extLst>
          </p:cNvPr>
          <p:cNvSpPr/>
          <p:nvPr/>
        </p:nvSpPr>
        <p:spPr>
          <a:xfrm>
            <a:off x="337930" y="1368465"/>
            <a:ext cx="6121168" cy="397594"/>
          </a:xfrm>
          <a:prstGeom prst="roundRect">
            <a:avLst/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11" name="角丸四角形 26">
            <a:extLst>
              <a:ext uri="{FF2B5EF4-FFF2-40B4-BE49-F238E27FC236}">
                <a16:creationId xmlns:a16="http://schemas.microsoft.com/office/drawing/2014/main" id="{2E331168-3BBE-8A5B-243A-9A1AADADC1F6}"/>
              </a:ext>
            </a:extLst>
          </p:cNvPr>
          <p:cNvSpPr/>
          <p:nvPr/>
        </p:nvSpPr>
        <p:spPr>
          <a:xfrm>
            <a:off x="337929" y="1864908"/>
            <a:ext cx="6105067" cy="495094"/>
          </a:xfrm>
          <a:prstGeom prst="roundRect">
            <a:avLst/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12" name="角丸四角形 26">
            <a:extLst>
              <a:ext uri="{FF2B5EF4-FFF2-40B4-BE49-F238E27FC236}">
                <a16:creationId xmlns:a16="http://schemas.microsoft.com/office/drawing/2014/main" id="{A455B7F6-1BB9-3010-826B-A050ED076893}"/>
              </a:ext>
            </a:extLst>
          </p:cNvPr>
          <p:cNvSpPr/>
          <p:nvPr/>
        </p:nvSpPr>
        <p:spPr>
          <a:xfrm>
            <a:off x="337930" y="2444816"/>
            <a:ext cx="6105066" cy="490430"/>
          </a:xfrm>
          <a:prstGeom prst="roundRect">
            <a:avLst/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13" name="角丸四角形 26">
            <a:extLst>
              <a:ext uri="{FF2B5EF4-FFF2-40B4-BE49-F238E27FC236}">
                <a16:creationId xmlns:a16="http://schemas.microsoft.com/office/drawing/2014/main" id="{66A1D5C8-D79D-4DBA-AF4E-9B6EEFDB632F}"/>
              </a:ext>
            </a:extLst>
          </p:cNvPr>
          <p:cNvSpPr/>
          <p:nvPr/>
        </p:nvSpPr>
        <p:spPr>
          <a:xfrm>
            <a:off x="347177" y="3000330"/>
            <a:ext cx="6105067" cy="973892"/>
          </a:xfrm>
          <a:prstGeom prst="roundRect">
            <a:avLst/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14" name="角丸四角形 26">
            <a:extLst>
              <a:ext uri="{FF2B5EF4-FFF2-40B4-BE49-F238E27FC236}">
                <a16:creationId xmlns:a16="http://schemas.microsoft.com/office/drawing/2014/main" id="{20E52CA1-8751-DCD2-B2EA-8829481887B0}"/>
              </a:ext>
            </a:extLst>
          </p:cNvPr>
          <p:cNvSpPr/>
          <p:nvPr/>
        </p:nvSpPr>
        <p:spPr>
          <a:xfrm>
            <a:off x="355056" y="4003889"/>
            <a:ext cx="6087940" cy="504876"/>
          </a:xfrm>
          <a:prstGeom prst="roundRect">
            <a:avLst/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E395F16-B49F-4EB7-2631-14355E5E56CB}"/>
              </a:ext>
            </a:extLst>
          </p:cNvPr>
          <p:cNvSpPr txBox="1"/>
          <p:nvPr/>
        </p:nvSpPr>
        <p:spPr>
          <a:xfrm>
            <a:off x="-8042" y="1915787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⑫</a:t>
            </a:r>
            <a:endParaRPr kumimoji="1" lang="ja-JP" altLang="en-US" sz="14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2100D806-9534-43BA-D7F4-E6DE4C7211EA}"/>
              </a:ext>
            </a:extLst>
          </p:cNvPr>
          <p:cNvSpPr txBox="1"/>
          <p:nvPr/>
        </p:nvSpPr>
        <p:spPr>
          <a:xfrm>
            <a:off x="-13787" y="4101544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⑮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0D74CA-53FB-28C9-8AB2-D7C5ABFA0758}"/>
              </a:ext>
            </a:extLst>
          </p:cNvPr>
          <p:cNvSpPr txBox="1"/>
          <p:nvPr/>
        </p:nvSpPr>
        <p:spPr>
          <a:xfrm>
            <a:off x="6753224" y="1297826"/>
            <a:ext cx="503785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50" b="1" dirty="0">
                <a:latin typeface="Meiryo UI" panose="020B0604030504040204" pitchFamily="34" charset="-128"/>
                <a:ea typeface="Meiryo UI" panose="020B0604030504040204" pitchFamily="34" charset="-128"/>
                <a:cs typeface="Calibri" panose="020F0502020204030204" pitchFamily="34" charset="0"/>
              </a:rPr>
              <a:t>⑪ Part(Number): </a:t>
            </a:r>
            <a:r>
              <a:rPr lang="en-IN" sz="1050" dirty="0">
                <a:latin typeface="Meiryo UI" panose="020B0604030504040204" pitchFamily="34" charset="-128"/>
                <a:ea typeface="Meiryo UI" panose="020B0604030504040204" pitchFamily="34" charset="-128"/>
                <a:cs typeface="Calibri" panose="020F0502020204030204" pitchFamily="34" charset="0"/>
              </a:rPr>
              <a:t>Select appropriate part number </a:t>
            </a:r>
          </a:p>
          <a:p>
            <a:pPr algn="just"/>
            <a:r>
              <a:rPr lang="en-IN" sz="1050" b="1" dirty="0">
                <a:latin typeface="Meiryo UI" panose="020B0604030504040204" pitchFamily="34" charset="-128"/>
                <a:ea typeface="Meiryo UI" panose="020B0604030504040204" pitchFamily="34" charset="-128"/>
                <a:cs typeface="Calibri" panose="020F0502020204030204" pitchFamily="34" charset="0"/>
              </a:rPr>
              <a:t>    Part: </a:t>
            </a:r>
            <a:r>
              <a:rPr lang="en-IN" sz="1050" dirty="0">
                <a:latin typeface="Meiryo UI" panose="020B0604030504040204" pitchFamily="34" charset="-128"/>
                <a:ea typeface="Meiryo UI" panose="020B0604030504040204" pitchFamily="34" charset="-128"/>
                <a:cs typeface="Calibri" panose="020F0502020204030204" pitchFamily="34" charset="0"/>
              </a:rPr>
              <a:t>Based on the selected part number, the parts list gets displayed.</a:t>
            </a:r>
            <a:endParaRPr lang="en-IN" sz="1050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AEDEF5-5117-5E04-4D45-30ED49BCD0DB}"/>
              </a:ext>
            </a:extLst>
          </p:cNvPr>
          <p:cNvSpPr txBox="1"/>
          <p:nvPr/>
        </p:nvSpPr>
        <p:spPr>
          <a:xfrm>
            <a:off x="7978" y="1402948"/>
            <a:ext cx="3092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FF0000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Calibri" panose="020F0502020204030204" pitchFamily="34" charset="0"/>
              </a:rPr>
              <a:t>⑪</a:t>
            </a:r>
            <a:endParaRPr lang="en-IN" sz="1400" dirty="0">
              <a:solidFill>
                <a:srgbClr val="FF0000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C4F7F0-577C-FECE-CC23-9EF37987CC04}"/>
              </a:ext>
            </a:extLst>
          </p:cNvPr>
          <p:cNvSpPr txBox="1"/>
          <p:nvPr/>
        </p:nvSpPr>
        <p:spPr>
          <a:xfrm>
            <a:off x="6727133" y="1877315"/>
            <a:ext cx="50378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>
                <a:latin typeface="Meiryo UI" panose="020B0604030504040204" pitchFamily="34" charset="-128"/>
                <a:ea typeface="Meiryo UI" panose="020B0604030504040204" pitchFamily="34" charset="-128"/>
                <a:cs typeface="Calibri" panose="020F0502020204030204" pitchFamily="34" charset="0"/>
              </a:rPr>
              <a:t>⑫ </a:t>
            </a:r>
            <a:r>
              <a:rPr lang="en-IN" sz="1050" dirty="0">
                <a:latin typeface="Meiryo UI" panose="020B0604030504040204" pitchFamily="34" charset="-128"/>
                <a:ea typeface="Meiryo UI" panose="020B0604030504040204" pitchFamily="34" charset="-128"/>
                <a:cs typeface="Calibri" panose="020F0502020204030204" pitchFamily="34" charset="0"/>
              </a:rPr>
              <a:t>Similarly select Engineering family and Engineering values.</a:t>
            </a:r>
            <a:endParaRPr lang="en-IN" sz="1050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C231BF-BB85-175B-1F52-7FD87122AAEB}"/>
              </a:ext>
            </a:extLst>
          </p:cNvPr>
          <p:cNvSpPr txBox="1"/>
          <p:nvPr/>
        </p:nvSpPr>
        <p:spPr>
          <a:xfrm>
            <a:off x="7978" y="2571750"/>
            <a:ext cx="2977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FF000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F14799-8D7B-537D-8B71-1C9036C456C7}"/>
              </a:ext>
            </a:extLst>
          </p:cNvPr>
          <p:cNvSpPr txBox="1"/>
          <p:nvPr/>
        </p:nvSpPr>
        <p:spPr>
          <a:xfrm>
            <a:off x="6858412" y="2339041"/>
            <a:ext cx="490657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>
                <a:latin typeface="Meiryo UI" panose="020B0604030504040204" pitchFamily="34" charset="-128"/>
                <a:ea typeface="Meiryo UI" panose="020B0604030504040204" pitchFamily="34" charset="-128"/>
                <a:cs typeface="Calibri" panose="020F0502020204030204" pitchFamily="34" charset="0"/>
              </a:rPr>
              <a:t>Select appropriate values for T/M and Axle from the lists.</a:t>
            </a:r>
            <a:endParaRPr lang="en-IN" sz="1050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A10C58-3972-AB34-DE30-26B4A3BDB38F}"/>
              </a:ext>
            </a:extLst>
          </p:cNvPr>
          <p:cNvSpPr txBox="1"/>
          <p:nvPr/>
        </p:nvSpPr>
        <p:spPr>
          <a:xfrm>
            <a:off x="6709536" y="2325389"/>
            <a:ext cx="29774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>
                <a:latin typeface="Meiryo UI" panose="020B0604030504040204" pitchFamily="34" charset="-128"/>
                <a:ea typeface="Meiryo UI" panose="020B0604030504040204" pitchFamily="34" charset="-128"/>
              </a:rPr>
              <a:t>⑬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D01436-EEFA-6E27-6706-46093C8ED007}"/>
              </a:ext>
            </a:extLst>
          </p:cNvPr>
          <p:cNvSpPr txBox="1"/>
          <p:nvPr/>
        </p:nvSpPr>
        <p:spPr>
          <a:xfrm>
            <a:off x="-9297" y="3199332"/>
            <a:ext cx="2977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FF000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⑭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8F65BA-E3C3-D760-838F-35A155C3C610}"/>
              </a:ext>
            </a:extLst>
          </p:cNvPr>
          <p:cNvSpPr txBox="1"/>
          <p:nvPr/>
        </p:nvSpPr>
        <p:spPr>
          <a:xfrm>
            <a:off x="6753225" y="2755843"/>
            <a:ext cx="508371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50" b="1" dirty="0">
                <a:latin typeface="Meiryo UI" panose="020B0604030504040204" pitchFamily="34" charset="-128"/>
                <a:ea typeface="Meiryo UI" panose="020B0604030504040204" pitchFamily="34" charset="-128"/>
              </a:rPr>
              <a:t>⑭  CADICS No – Select Category: </a:t>
            </a:r>
            <a:r>
              <a:rPr lang="en-US" sz="1050" dirty="0">
                <a:latin typeface="Meiryo UI" panose="020B0604030504040204" pitchFamily="34" charset="-128"/>
                <a:ea typeface="Meiryo UI" panose="020B0604030504040204" pitchFamily="34" charset="-128"/>
                <a:cs typeface="Calibri" panose="020F0502020204030204" pitchFamily="34" charset="0"/>
              </a:rPr>
              <a:t>CADICS No. is a number which defines performance requirement. Select a category from the drop-down list.</a:t>
            </a:r>
          </a:p>
          <a:p>
            <a:pPr algn="just"/>
            <a:r>
              <a:rPr lang="en-US" sz="1050" b="1" dirty="0">
                <a:latin typeface="Meiryo UI" panose="020B0604030504040204" pitchFamily="34" charset="-128"/>
                <a:ea typeface="Meiryo UI" panose="020B0604030504040204" pitchFamily="34" charset="-128"/>
                <a:cs typeface="Calibri" panose="020F0502020204030204" pitchFamily="34" charset="0"/>
              </a:rPr>
              <a:t>CADICS No. last 7 digits: </a:t>
            </a:r>
            <a:r>
              <a:rPr lang="en-US" sz="1050" dirty="0">
                <a:latin typeface="Meiryo UI" panose="020B0604030504040204" pitchFamily="34" charset="-128"/>
                <a:ea typeface="Meiryo UI" panose="020B0604030504040204" pitchFamily="34" charset="-128"/>
                <a:cs typeface="Calibri" panose="020F0502020204030204" pitchFamily="34" charset="0"/>
              </a:rPr>
              <a:t>In the box below, type in numerals which correspond to CADICS.</a:t>
            </a:r>
          </a:p>
          <a:p>
            <a:pPr algn="just"/>
            <a:r>
              <a:rPr lang="en-US" sz="1050" b="1" dirty="0">
                <a:latin typeface="Meiryo UI" panose="020B0604030504040204" pitchFamily="34" charset="-128"/>
                <a:ea typeface="Meiryo UI" panose="020B0604030504040204" pitchFamily="34" charset="-128"/>
                <a:cs typeface="Calibri" panose="020F0502020204030204" pitchFamily="34" charset="0"/>
              </a:rPr>
              <a:t>CADICS No: </a:t>
            </a:r>
            <a:r>
              <a:rPr lang="en-US" sz="1050" dirty="0">
                <a:latin typeface="Meiryo UI" panose="020B0604030504040204" pitchFamily="34" charset="-128"/>
                <a:ea typeface="Meiryo UI" panose="020B0604030504040204" pitchFamily="34" charset="-128"/>
                <a:cs typeface="Calibri" panose="020F0502020204030204" pitchFamily="34" charset="0"/>
              </a:rPr>
              <a:t>The Corresponding </a:t>
            </a:r>
            <a:r>
              <a:rPr lang="en-US" sz="1050" dirty="0" err="1">
                <a:latin typeface="Meiryo UI" panose="020B0604030504040204" pitchFamily="34" charset="-128"/>
                <a:ea typeface="Meiryo UI" panose="020B0604030504040204" pitchFamily="34" charset="-128"/>
                <a:cs typeface="Calibri" panose="020F0502020204030204" pitchFamily="34" charset="0"/>
              </a:rPr>
              <a:t>Cadics</a:t>
            </a:r>
            <a:r>
              <a:rPr lang="en-US" sz="1050" dirty="0">
                <a:latin typeface="Meiryo UI" panose="020B0604030504040204" pitchFamily="34" charset="-128"/>
                <a:ea typeface="Meiryo UI" panose="020B0604030504040204" pitchFamily="34" charset="-128"/>
                <a:cs typeface="Calibri" panose="020F0502020204030204" pitchFamily="34" charset="0"/>
              </a:rPr>
              <a:t> no. will be auto-displayed here as in the below example.		</a:t>
            </a:r>
          </a:p>
          <a:p>
            <a:endParaRPr lang="en-IN" sz="1050" dirty="0">
              <a:latin typeface="Meiryo UI" panose="020B0604030504040204" pitchFamily="34" charset="-128"/>
              <a:ea typeface="Meiryo UI" panose="020B0604030504040204" pitchFamily="34" charset="-128"/>
              <a:cs typeface="Calibri" panose="020F0502020204030204" pitchFamily="34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167B299-F125-1D66-7C95-5D1A7BE79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78" y="4032105"/>
            <a:ext cx="5434596" cy="91341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F33558F-CA9A-6D96-3FBF-F263890A6AEB}"/>
              </a:ext>
            </a:extLst>
          </p:cNvPr>
          <p:cNvSpPr txBox="1"/>
          <p:nvPr/>
        </p:nvSpPr>
        <p:spPr>
          <a:xfrm>
            <a:off x="175817" y="6000914"/>
            <a:ext cx="1029404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⑮</a:t>
            </a:r>
            <a:r>
              <a:rPr lang="en-IN" sz="1050" b="1" dirty="0">
                <a:latin typeface="Meiryo UI" panose="020B0604030504040204" pitchFamily="34" charset="-128"/>
                <a:ea typeface="Meiryo UI" panose="020B0604030504040204" pitchFamily="34" charset="-128"/>
              </a:rPr>
              <a:t>  Free Keyword 1,2,3: </a:t>
            </a:r>
            <a:r>
              <a:rPr lang="en-IN" sz="1050" dirty="0">
                <a:latin typeface="Meiryo UI" panose="020B0604030504040204" pitchFamily="34" charset="-128"/>
                <a:ea typeface="Meiryo UI" panose="020B0604030504040204" pitchFamily="34" charset="-128"/>
              </a:rPr>
              <a:t>We can provide Keywords here, which can be later used with Search function to identify this document set.</a:t>
            </a:r>
            <a:r>
              <a:rPr lang="en-US" sz="1050" dirty="0">
                <a:latin typeface="Meiryo UI" panose="020B0604030504040204" pitchFamily="34" charset="-128"/>
                <a:ea typeface="Meiryo UI" panose="020B0604030504040204" pitchFamily="34" charset="-128"/>
                <a:cs typeface="Calibri" panose="020F0502020204030204" pitchFamily="34" charset="0"/>
              </a:rPr>
              <a:t>		</a:t>
            </a:r>
          </a:p>
          <a:p>
            <a:endParaRPr lang="en-IN" sz="1050" dirty="0">
              <a:latin typeface="Meiryo UI" panose="020B0604030504040204" pitchFamily="34" charset="-128"/>
              <a:ea typeface="Meiryo UI" panose="020B0604030504040204" pitchFamily="34" charset="-128"/>
              <a:cs typeface="Calibri" panose="020F0502020204030204" pitchFamily="34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B3D4351-5B46-F7A3-A3AF-C217293C5C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727" y="4525799"/>
            <a:ext cx="6087940" cy="568484"/>
          </a:xfrm>
          <a:prstGeom prst="rect">
            <a:avLst/>
          </a:prstGeom>
        </p:spPr>
      </p:pic>
      <p:sp>
        <p:nvSpPr>
          <p:cNvPr id="34" name="テキスト ボックス 20">
            <a:extLst>
              <a:ext uri="{FF2B5EF4-FFF2-40B4-BE49-F238E27FC236}">
                <a16:creationId xmlns:a16="http://schemas.microsoft.com/office/drawing/2014/main" id="{0B9396DA-BE40-68E2-B26F-F514567B8455}"/>
              </a:ext>
            </a:extLst>
          </p:cNvPr>
          <p:cNvSpPr txBox="1"/>
          <p:nvPr/>
        </p:nvSpPr>
        <p:spPr>
          <a:xfrm>
            <a:off x="-6284" y="4614550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⑯</a:t>
            </a:r>
          </a:p>
        </p:txBody>
      </p:sp>
      <p:sp>
        <p:nvSpPr>
          <p:cNvPr id="35" name="角丸四角形 26">
            <a:extLst>
              <a:ext uri="{FF2B5EF4-FFF2-40B4-BE49-F238E27FC236}">
                <a16:creationId xmlns:a16="http://schemas.microsoft.com/office/drawing/2014/main" id="{AC50EEAE-745D-B82C-BB57-56340ED6E330}"/>
              </a:ext>
            </a:extLst>
          </p:cNvPr>
          <p:cNvSpPr/>
          <p:nvPr/>
        </p:nvSpPr>
        <p:spPr>
          <a:xfrm>
            <a:off x="364304" y="4585133"/>
            <a:ext cx="6087940" cy="504876"/>
          </a:xfrm>
          <a:prstGeom prst="roundRect">
            <a:avLst/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69691E9-72B2-F76B-0927-39697CF37E44}"/>
              </a:ext>
            </a:extLst>
          </p:cNvPr>
          <p:cNvSpPr txBox="1"/>
          <p:nvPr/>
        </p:nvSpPr>
        <p:spPr>
          <a:xfrm>
            <a:off x="174152" y="6228264"/>
            <a:ext cx="1029404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50" b="1" dirty="0">
                <a:latin typeface="Meiryo UI" panose="020B0604030504040204" pitchFamily="50" charset="-128"/>
                <a:ea typeface="Meiryo UI" panose="020B0604030504040204" pitchFamily="50" charset="-128"/>
              </a:rPr>
              <a:t>⑯</a:t>
            </a:r>
            <a:r>
              <a:rPr lang="en-IN" sz="1050" b="1" dirty="0">
                <a:latin typeface="Meiryo UI" panose="020B0604030504040204" pitchFamily="34" charset="-128"/>
                <a:ea typeface="Meiryo UI" panose="020B0604030504040204" pitchFamily="34" charset="-128"/>
              </a:rPr>
              <a:t> Comment(J),  Comment(E): </a:t>
            </a:r>
            <a:r>
              <a:rPr lang="en-US" sz="1050" dirty="0">
                <a:latin typeface="Meiryo UI" panose="020B0604030504040204" pitchFamily="34" charset="-128"/>
                <a:ea typeface="Meiryo UI" panose="020B0604030504040204" pitchFamily="34" charset="-128"/>
              </a:rPr>
              <a:t>Input comment you may have regarding this document.</a:t>
            </a:r>
            <a:r>
              <a:rPr lang="en-US" sz="1050" dirty="0">
                <a:latin typeface="Meiryo UI" panose="020B0604030504040204" pitchFamily="34" charset="-128"/>
                <a:ea typeface="Meiryo UI" panose="020B0604030504040204" pitchFamily="34" charset="-128"/>
                <a:cs typeface="Calibri" panose="020F0502020204030204" pitchFamily="34" charset="0"/>
              </a:rPr>
              <a:t>		</a:t>
            </a:r>
          </a:p>
          <a:p>
            <a:endParaRPr lang="en-IN" sz="1050" dirty="0">
              <a:latin typeface="Meiryo UI" panose="020B0604030504040204" pitchFamily="34" charset="-128"/>
              <a:ea typeface="Meiryo UI" panose="020B0604030504040204" pitchFamily="34" charset="-128"/>
              <a:cs typeface="Calibri" panose="020F0502020204030204" pitchFamily="34" charset="0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435C6291-ED8A-F615-280F-1B559DDD45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928" y="5070571"/>
            <a:ext cx="6121170" cy="489895"/>
          </a:xfrm>
          <a:prstGeom prst="rect">
            <a:avLst/>
          </a:prstGeom>
        </p:spPr>
      </p:pic>
      <p:sp>
        <p:nvSpPr>
          <p:cNvPr id="42" name="角丸四角形 26">
            <a:extLst>
              <a:ext uri="{FF2B5EF4-FFF2-40B4-BE49-F238E27FC236}">
                <a16:creationId xmlns:a16="http://schemas.microsoft.com/office/drawing/2014/main" id="{53C588D9-AC1B-0BB0-CCD4-CA9AFA9F7E3C}"/>
              </a:ext>
            </a:extLst>
          </p:cNvPr>
          <p:cNvSpPr/>
          <p:nvPr/>
        </p:nvSpPr>
        <p:spPr>
          <a:xfrm>
            <a:off x="422626" y="5148062"/>
            <a:ext cx="6087940" cy="504876"/>
          </a:xfrm>
          <a:prstGeom prst="roundRect">
            <a:avLst/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43" name="Speech Bubble: Rectangle 42">
            <a:extLst>
              <a:ext uri="{FF2B5EF4-FFF2-40B4-BE49-F238E27FC236}">
                <a16:creationId xmlns:a16="http://schemas.microsoft.com/office/drawing/2014/main" id="{E05955E6-FB3E-2291-51FB-B511096A4AEE}"/>
              </a:ext>
            </a:extLst>
          </p:cNvPr>
          <p:cNvSpPr/>
          <p:nvPr/>
        </p:nvSpPr>
        <p:spPr bwMode="auto">
          <a:xfrm>
            <a:off x="857249" y="5753755"/>
            <a:ext cx="4629151" cy="253065"/>
          </a:xfrm>
          <a:prstGeom prst="wedgeRectCallout">
            <a:avLst>
              <a:gd name="adj1" fmla="val -44609"/>
              <a:gd name="adj2" fmla="val -133221"/>
            </a:avLst>
          </a:prstGeom>
          <a:solidFill>
            <a:srgbClr val="FFFF99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050" b="0" i="0" u="none" strike="noStrike" cap="none" normalizeH="0" baseline="0" dirty="0">
                <a:ln>
                  <a:noFill/>
                </a:ln>
                <a:effectLst/>
                <a:latin typeface="Meiryo UI" panose="020B0604030504040204" pitchFamily="34" charset="-128"/>
                <a:ea typeface="Meiryo UI" panose="020B0604030504040204" pitchFamily="34" charset="-128"/>
              </a:rPr>
              <a:t>If you want to cancel this document creation, click this button.</a:t>
            </a:r>
            <a:endParaRPr kumimoji="1" lang="en-IN" sz="1050" b="0" i="0" u="none" strike="noStrike" cap="none" normalizeH="0" baseline="0" dirty="0" err="1">
              <a:ln>
                <a:noFill/>
              </a:ln>
              <a:effectLst/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4" name="Speech Bubble: Rectangle 43">
            <a:extLst>
              <a:ext uri="{FF2B5EF4-FFF2-40B4-BE49-F238E27FC236}">
                <a16:creationId xmlns:a16="http://schemas.microsoft.com/office/drawing/2014/main" id="{F54B1E52-587C-C008-F8D2-E653B79EC1BD}"/>
              </a:ext>
            </a:extLst>
          </p:cNvPr>
          <p:cNvSpPr/>
          <p:nvPr/>
        </p:nvSpPr>
        <p:spPr bwMode="auto">
          <a:xfrm>
            <a:off x="5631675" y="5810819"/>
            <a:ext cx="4350525" cy="235085"/>
          </a:xfrm>
          <a:prstGeom prst="wedgeRectCallout">
            <a:avLst>
              <a:gd name="adj1" fmla="val -51254"/>
              <a:gd name="adj2" fmla="val -171723"/>
            </a:avLst>
          </a:prstGeom>
          <a:solidFill>
            <a:srgbClr val="FFFF99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Meiryo UI" panose="020B0604030504040204" pitchFamily="34" charset="-128"/>
                <a:ea typeface="Meiryo UI" panose="020B0604030504040204" pitchFamily="34" charset="-128"/>
              </a:rPr>
              <a:t>Click this button, then you will return to create wizard window.</a:t>
            </a:r>
            <a:endParaRPr kumimoji="1" lang="en-IN" sz="1050" b="0" i="0" u="none" strike="noStrike" cap="none" normalizeH="0" baseline="0" dirty="0" err="1">
              <a:ln>
                <a:noFill/>
              </a:ln>
              <a:effectLst/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5" name="Speech Bubble: Rectangle 44">
            <a:extLst>
              <a:ext uri="{FF2B5EF4-FFF2-40B4-BE49-F238E27FC236}">
                <a16:creationId xmlns:a16="http://schemas.microsoft.com/office/drawing/2014/main" id="{E6F0F153-2959-4C50-23C1-979F7654D259}"/>
              </a:ext>
            </a:extLst>
          </p:cNvPr>
          <p:cNvSpPr/>
          <p:nvPr/>
        </p:nvSpPr>
        <p:spPr bwMode="auto">
          <a:xfrm>
            <a:off x="7374834" y="5418423"/>
            <a:ext cx="4598091" cy="234516"/>
          </a:xfrm>
          <a:prstGeom prst="wedgeRectCallout">
            <a:avLst>
              <a:gd name="adj1" fmla="val -71834"/>
              <a:gd name="adj2" fmla="val -50171"/>
            </a:avLst>
          </a:prstGeom>
          <a:solidFill>
            <a:srgbClr val="FFFF99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Meiryo UI" panose="020B0604030504040204" pitchFamily="34" charset="-128"/>
                <a:ea typeface="Meiryo UI" panose="020B0604030504040204" pitchFamily="34" charset="-128"/>
              </a:rPr>
              <a:t>Click on create button to complete ED Document set registration.</a:t>
            </a:r>
            <a:endParaRPr kumimoji="1" lang="en-IN" sz="1050" b="0" i="0" u="none" strike="noStrike" cap="none" normalizeH="0" baseline="0" dirty="0" err="1">
              <a:ln>
                <a:noFill/>
              </a:ln>
              <a:effectLst/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44764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1B72C9-3EBD-230F-2BBF-EB1E1F3876AD}"/>
              </a:ext>
            </a:extLst>
          </p:cNvPr>
          <p:cNvSpPr txBox="1">
            <a:spLocks/>
          </p:cNvSpPr>
          <p:nvPr/>
        </p:nvSpPr>
        <p:spPr>
          <a:xfrm>
            <a:off x="0" y="22228"/>
            <a:ext cx="9753600" cy="5365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Verdana" pitchFamily="34" charset="0"/>
                <a:ea typeface="+mj-ea"/>
                <a:cs typeface="Verdana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5pPr>
            <a:lvl6pPr marL="3429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6pPr>
            <a:lvl7pPr marL="685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7pPr>
            <a:lvl8pPr marL="10287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8pPr>
            <a:lvl9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9pPr>
          </a:lstStyle>
          <a:p>
            <a:r>
              <a:rPr lang="en-US" altLang="ja-JP" kern="0" dirty="0"/>
              <a:t> </a:t>
            </a:r>
            <a:r>
              <a:rPr lang="en-US" altLang="ja-JP" sz="4400" dirty="0">
                <a:solidFill>
                  <a:schemeClr val="tx1"/>
                </a:solidFill>
                <a:latin typeface="+mj-lt"/>
                <a:cs typeface="+mj-cs"/>
              </a:rPr>
              <a:t>3-3. Attachment file upload</a:t>
            </a:r>
            <a:endParaRPr lang="ja-JP" altLang="en-US" sz="4400" dirty="0">
              <a:solidFill>
                <a:schemeClr val="tx1"/>
              </a:solidFill>
              <a:latin typeface="+mj-lt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D339AE-3134-ACB2-CF44-46DB80FBDF75}"/>
              </a:ext>
            </a:extLst>
          </p:cNvPr>
          <p:cNvSpPr txBox="1"/>
          <p:nvPr/>
        </p:nvSpPr>
        <p:spPr>
          <a:xfrm>
            <a:off x="138113" y="776585"/>
            <a:ext cx="1156811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You can add attachment files into a document. To add file, first you should click blue + button on the bottom right of Document Detailed page.</a:t>
            </a:r>
          </a:p>
          <a:p>
            <a:endParaRPr lang="en-IN" sz="14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r>
              <a:rPr lang="en-IN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Go to the Document detailed page:</a:t>
            </a:r>
          </a:p>
          <a:p>
            <a:endParaRPr lang="en-IN" sz="14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1C7E2B-86BC-C84A-A12D-7619F6EE5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850" y="1719258"/>
            <a:ext cx="7532600" cy="4605341"/>
          </a:xfrm>
          <a:prstGeom prst="rect">
            <a:avLst/>
          </a:prstGeom>
        </p:spPr>
      </p:pic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96CA0D80-66EA-43E5-71F3-458EEA39D6CA}"/>
              </a:ext>
            </a:extLst>
          </p:cNvPr>
          <p:cNvSpPr/>
          <p:nvPr/>
        </p:nvSpPr>
        <p:spPr bwMode="auto">
          <a:xfrm>
            <a:off x="9870987" y="4791075"/>
            <a:ext cx="1219200" cy="600074"/>
          </a:xfrm>
          <a:prstGeom prst="wedgeRectCallout">
            <a:avLst>
              <a:gd name="adj1" fmla="val -104085"/>
              <a:gd name="adj2" fmla="val 115064"/>
            </a:avLst>
          </a:prstGeom>
          <a:solidFill>
            <a:srgbClr val="FFFF99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050" b="0" i="0" u="none" strike="noStrike" cap="none" normalizeH="0" baseline="0" dirty="0">
                <a:ln>
                  <a:noFill/>
                </a:ln>
                <a:effectLst/>
                <a:latin typeface="Meiryo UI" panose="020B0604030504040204" pitchFamily="34" charset="-128"/>
                <a:ea typeface="Meiryo UI" panose="020B0604030504040204" pitchFamily="34" charset="-128"/>
              </a:rPr>
              <a:t>Click on+ icon to upload an attachment.</a:t>
            </a:r>
            <a:endParaRPr kumimoji="1" lang="en-IN" sz="1050" b="0" i="0" u="none" strike="noStrike" cap="none" normalizeH="0" baseline="0" dirty="0" err="1">
              <a:ln>
                <a:noFill/>
              </a:ln>
              <a:effectLst/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068969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EDDCEB-9EAF-F20A-C3FB-B611889C8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877" y="1143000"/>
            <a:ext cx="5901410" cy="35242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AB5B55-4894-A684-9F2E-1A99512263D5}"/>
              </a:ext>
            </a:extLst>
          </p:cNvPr>
          <p:cNvSpPr txBox="1"/>
          <p:nvPr/>
        </p:nvSpPr>
        <p:spPr>
          <a:xfrm>
            <a:off x="138113" y="776585"/>
            <a:ext cx="115681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There are 2 ways to upload file:</a:t>
            </a:r>
          </a:p>
          <a:p>
            <a:endParaRPr lang="en-IN" sz="14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732608-83CA-48D4-C8C4-E7EE1DB8E52B}"/>
              </a:ext>
            </a:extLst>
          </p:cNvPr>
          <p:cNvSpPr txBox="1"/>
          <p:nvPr/>
        </p:nvSpPr>
        <p:spPr>
          <a:xfrm>
            <a:off x="3209925" y="1143000"/>
            <a:ext cx="209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FF000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A6DD9-46F3-107A-E933-D3A92CF64C58}"/>
              </a:ext>
            </a:extLst>
          </p:cNvPr>
          <p:cNvSpPr txBox="1"/>
          <p:nvPr/>
        </p:nvSpPr>
        <p:spPr>
          <a:xfrm>
            <a:off x="6353175" y="1143000"/>
            <a:ext cx="209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FF000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②</a:t>
            </a: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B919A669-B4F8-C130-1B34-B82118A4CFB8}"/>
              </a:ext>
            </a:extLst>
          </p:cNvPr>
          <p:cNvSpPr/>
          <p:nvPr/>
        </p:nvSpPr>
        <p:spPr bwMode="auto">
          <a:xfrm>
            <a:off x="3632494" y="3429000"/>
            <a:ext cx="1778088" cy="657225"/>
          </a:xfrm>
          <a:prstGeom prst="wedgeRectCallout">
            <a:avLst>
              <a:gd name="adj1" fmla="val -76765"/>
              <a:gd name="adj2" fmla="val 103470"/>
            </a:avLst>
          </a:prstGeom>
          <a:solidFill>
            <a:srgbClr val="FFFF99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050" b="0" i="0" u="none" strike="noStrike" cap="none" normalizeH="0" baseline="0" dirty="0">
                <a:ln>
                  <a:noFill/>
                </a:ln>
                <a:effectLst/>
                <a:latin typeface="Meiryo UI" panose="020B0604030504040204" pitchFamily="34" charset="-128"/>
                <a:ea typeface="Meiryo UI" panose="020B0604030504040204" pitchFamily="34" charset="-128"/>
              </a:rPr>
              <a:t>To abort the file upload, click on Cancel button.</a:t>
            </a:r>
            <a:endParaRPr kumimoji="1" lang="en-IN" sz="1050" b="0" i="0" u="none" strike="noStrike" cap="none" normalizeH="0" baseline="0" dirty="0" err="1">
              <a:ln>
                <a:noFill/>
              </a:ln>
              <a:effectLst/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3C51E6A5-8D3A-387F-105F-31FCD8C74DBA}"/>
              </a:ext>
            </a:extLst>
          </p:cNvPr>
          <p:cNvSpPr txBox="1">
            <a:spLocks/>
          </p:cNvSpPr>
          <p:nvPr/>
        </p:nvSpPr>
        <p:spPr>
          <a:xfrm>
            <a:off x="0" y="22228"/>
            <a:ext cx="9753600" cy="5365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Verdana" pitchFamily="34" charset="0"/>
                <a:ea typeface="+mj-ea"/>
                <a:cs typeface="Verdana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5pPr>
            <a:lvl6pPr marL="3429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6pPr>
            <a:lvl7pPr marL="685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7pPr>
            <a:lvl8pPr marL="10287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8pPr>
            <a:lvl9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9pPr>
          </a:lstStyle>
          <a:p>
            <a:r>
              <a:rPr lang="en-US" altLang="ja-JP" kern="0" dirty="0"/>
              <a:t> </a:t>
            </a:r>
            <a:r>
              <a:rPr lang="en-US" altLang="ja-JP" sz="4400" dirty="0">
                <a:solidFill>
                  <a:schemeClr val="tx1"/>
                </a:solidFill>
                <a:latin typeface="+mj-lt"/>
                <a:cs typeface="+mj-cs"/>
              </a:rPr>
              <a:t>3-3. Attachment file upload</a:t>
            </a:r>
            <a:endParaRPr lang="ja-JP" altLang="en-US" sz="4400" dirty="0">
              <a:solidFill>
                <a:schemeClr val="tx1"/>
              </a:solidFill>
              <a:latin typeface="+mj-lt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061079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0E1313-3B45-C17E-9C54-77C3BF73171F}"/>
              </a:ext>
            </a:extLst>
          </p:cNvPr>
          <p:cNvSpPr txBox="1">
            <a:spLocks/>
          </p:cNvSpPr>
          <p:nvPr/>
        </p:nvSpPr>
        <p:spPr>
          <a:xfrm>
            <a:off x="0" y="22228"/>
            <a:ext cx="9753600" cy="5365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Verdana" pitchFamily="34" charset="0"/>
                <a:ea typeface="+mj-ea"/>
                <a:cs typeface="Verdana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5pPr>
            <a:lvl6pPr marL="3429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6pPr>
            <a:lvl7pPr marL="685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7pPr>
            <a:lvl8pPr marL="10287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8pPr>
            <a:lvl9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9pPr>
          </a:lstStyle>
          <a:p>
            <a:r>
              <a:rPr lang="en-US" altLang="ja-JP" kern="0" dirty="0"/>
              <a:t> </a:t>
            </a:r>
            <a:r>
              <a:rPr lang="en-US" altLang="ja-JP" sz="4400" dirty="0">
                <a:solidFill>
                  <a:schemeClr val="tx1"/>
                </a:solidFill>
                <a:latin typeface="+mj-lt"/>
                <a:cs typeface="+mj-cs"/>
              </a:rPr>
              <a:t>3-3. Attachment file upload</a:t>
            </a:r>
            <a:endParaRPr lang="ja-JP" altLang="en-US" sz="4400" dirty="0">
              <a:solidFill>
                <a:schemeClr val="tx1"/>
              </a:solidFill>
              <a:latin typeface="+mj-lt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68755C-21D7-4084-3D60-25A40A9878C7}"/>
              </a:ext>
            </a:extLst>
          </p:cNvPr>
          <p:cNvSpPr txBox="1"/>
          <p:nvPr/>
        </p:nvSpPr>
        <p:spPr>
          <a:xfrm>
            <a:off x="228600" y="729504"/>
            <a:ext cx="11601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Way 1: Create File </a:t>
            </a:r>
            <a:endParaRPr lang="en-IN" sz="14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FAA5D6-0FCA-2484-02B4-2CF6F89F5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8992"/>
            <a:ext cx="5334000" cy="3255244"/>
          </a:xfrm>
          <a:prstGeom prst="rect">
            <a:avLst/>
          </a:prstGeom>
        </p:spPr>
      </p:pic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A74F4515-B5E2-DA06-3BE8-170A018A0217}"/>
              </a:ext>
            </a:extLst>
          </p:cNvPr>
          <p:cNvSpPr/>
          <p:nvPr/>
        </p:nvSpPr>
        <p:spPr bwMode="auto">
          <a:xfrm>
            <a:off x="2061645" y="883392"/>
            <a:ext cx="1438274" cy="324794"/>
          </a:xfrm>
          <a:prstGeom prst="wedgeRectCallout">
            <a:avLst>
              <a:gd name="adj1" fmla="val -81594"/>
              <a:gd name="adj2" fmla="val 48588"/>
            </a:avLst>
          </a:prstGeom>
          <a:solidFill>
            <a:srgbClr val="FFFF99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IN" sz="1050" b="0" i="0" u="none" strike="noStrike" cap="none" normalizeH="0" baseline="0" dirty="0">
                <a:ln>
                  <a:noFill/>
                </a:ln>
                <a:effectLst/>
                <a:latin typeface="Meiryo UI" panose="020B0604030504040204" pitchFamily="34" charset="-128"/>
                <a:ea typeface="Meiryo UI" panose="020B0604030504040204" pitchFamily="34" charset="-128"/>
              </a:rPr>
              <a:t>① Click on Create </a:t>
            </a: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52F4C88A-A1C0-EC16-9069-5E5DDF19DD41}"/>
              </a:ext>
            </a:extLst>
          </p:cNvPr>
          <p:cNvSpPr/>
          <p:nvPr/>
        </p:nvSpPr>
        <p:spPr bwMode="auto">
          <a:xfrm>
            <a:off x="1172094" y="1843490"/>
            <a:ext cx="1438274" cy="324794"/>
          </a:xfrm>
          <a:prstGeom prst="wedgeRectCallout">
            <a:avLst>
              <a:gd name="adj1" fmla="val -81594"/>
              <a:gd name="adj2" fmla="val 48588"/>
            </a:avLst>
          </a:prstGeom>
          <a:solidFill>
            <a:srgbClr val="FFFF99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IN" sz="1050" b="0" i="0" u="none" strike="noStrike" cap="none" normalizeH="0" baseline="0" dirty="0">
                <a:ln>
                  <a:noFill/>
                </a:ln>
                <a:effectLst/>
                <a:latin typeface="Meiryo UI" panose="020B0604030504040204" pitchFamily="34" charset="-128"/>
                <a:ea typeface="Meiryo UI" panose="020B0604030504040204" pitchFamily="34" charset="-128"/>
              </a:rPr>
              <a:t>② Select File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DDB2D2-AE6E-E842-A69A-8BFC623E2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0218" y="2990850"/>
            <a:ext cx="5599664" cy="3299063"/>
          </a:xfrm>
          <a:prstGeom prst="rect">
            <a:avLst/>
          </a:prstGeom>
        </p:spPr>
      </p:pic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349B6B56-BD2B-85FF-65C9-599B59222346}"/>
              </a:ext>
            </a:extLst>
          </p:cNvPr>
          <p:cNvCxnSpPr/>
          <p:nvPr/>
        </p:nvCxnSpPr>
        <p:spPr bwMode="auto">
          <a:xfrm rot="16200000" flipH="1">
            <a:off x="383566" y="4350806"/>
            <a:ext cx="1009961" cy="629428"/>
          </a:xfrm>
          <a:prstGeom prst="bentConnector3">
            <a:avLst>
              <a:gd name="adj1" fmla="val 99057"/>
            </a:avLst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角丸四角形 26">
            <a:extLst>
              <a:ext uri="{FF2B5EF4-FFF2-40B4-BE49-F238E27FC236}">
                <a16:creationId xmlns:a16="http://schemas.microsoft.com/office/drawing/2014/main" id="{ED62BC45-0B45-7364-25A7-0488AE36882F}"/>
              </a:ext>
            </a:extLst>
          </p:cNvPr>
          <p:cNvSpPr/>
          <p:nvPr/>
        </p:nvSpPr>
        <p:spPr>
          <a:xfrm>
            <a:off x="1410218" y="4079745"/>
            <a:ext cx="5599664" cy="443979"/>
          </a:xfrm>
          <a:prstGeom prst="roundRect">
            <a:avLst/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16" name="角丸四角形 26">
            <a:extLst>
              <a:ext uri="{FF2B5EF4-FFF2-40B4-BE49-F238E27FC236}">
                <a16:creationId xmlns:a16="http://schemas.microsoft.com/office/drawing/2014/main" id="{38EF3D7A-9C02-408F-C84C-FD782698B9DB}"/>
              </a:ext>
            </a:extLst>
          </p:cNvPr>
          <p:cNvSpPr/>
          <p:nvPr/>
        </p:nvSpPr>
        <p:spPr>
          <a:xfrm>
            <a:off x="1410218" y="3577966"/>
            <a:ext cx="5599664" cy="443979"/>
          </a:xfrm>
          <a:prstGeom prst="roundRect">
            <a:avLst/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ADDFE7-C809-1DE1-FF6B-8FC6FCBA7DE7}"/>
              </a:ext>
            </a:extLst>
          </p:cNvPr>
          <p:cNvSpPr txBox="1"/>
          <p:nvPr/>
        </p:nvSpPr>
        <p:spPr>
          <a:xfrm>
            <a:off x="1086628" y="3552808"/>
            <a:ext cx="170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FF000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①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8FB08A-9BB8-0098-1144-8209CC5B80BB}"/>
              </a:ext>
            </a:extLst>
          </p:cNvPr>
          <p:cNvSpPr txBox="1"/>
          <p:nvPr/>
        </p:nvSpPr>
        <p:spPr>
          <a:xfrm>
            <a:off x="7086082" y="3416686"/>
            <a:ext cx="48201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>
                <a:latin typeface="Meiryo UI" panose="020B0604030504040204" pitchFamily="34" charset="-128"/>
                <a:ea typeface="Meiryo UI" panose="020B0604030504040204" pitchFamily="34" charset="-128"/>
              </a:rPr>
              <a:t>① Location: </a:t>
            </a:r>
            <a:r>
              <a:rPr lang="en-IN" sz="1050" dirty="0">
                <a:latin typeface="Meiryo UI" panose="020B0604030504040204" pitchFamily="34" charset="-128"/>
                <a:ea typeface="Meiryo UI" panose="020B0604030504040204" pitchFamily="34" charset="-128"/>
              </a:rPr>
              <a:t>where the file gets stored.</a:t>
            </a:r>
            <a:r>
              <a:rPr lang="en-IN" sz="1050" b="1" dirty="0"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72A786-E941-CAC4-86BD-73445DAA20BB}"/>
              </a:ext>
            </a:extLst>
          </p:cNvPr>
          <p:cNvSpPr txBox="1"/>
          <p:nvPr/>
        </p:nvSpPr>
        <p:spPr>
          <a:xfrm>
            <a:off x="1077492" y="4178294"/>
            <a:ext cx="170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FF000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②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F436A8-A593-5D1A-0C61-18D2E20799C0}"/>
              </a:ext>
            </a:extLst>
          </p:cNvPr>
          <p:cNvSpPr txBox="1"/>
          <p:nvPr/>
        </p:nvSpPr>
        <p:spPr>
          <a:xfrm>
            <a:off x="7086082" y="3670602"/>
            <a:ext cx="48201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>
                <a:latin typeface="Meiryo UI" panose="020B0604030504040204" pitchFamily="34" charset="-128"/>
                <a:ea typeface="Meiryo UI" panose="020B0604030504040204" pitchFamily="34" charset="-128"/>
              </a:rPr>
              <a:t>② File Name: </a:t>
            </a:r>
            <a:r>
              <a:rPr lang="en-IN" sz="1050" dirty="0">
                <a:latin typeface="Meiryo UI" panose="020B0604030504040204" pitchFamily="34" charset="-128"/>
                <a:ea typeface="Meiryo UI" panose="020B0604030504040204" pitchFamily="34" charset="-128"/>
              </a:rPr>
              <a:t>Give an appropriate file name.</a:t>
            </a:r>
            <a:endParaRPr lang="en-IN" sz="1050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23" name="角丸四角形 26">
            <a:extLst>
              <a:ext uri="{FF2B5EF4-FFF2-40B4-BE49-F238E27FC236}">
                <a16:creationId xmlns:a16="http://schemas.microsoft.com/office/drawing/2014/main" id="{0AC09050-B9DB-65D1-5937-3759385B110F}"/>
              </a:ext>
            </a:extLst>
          </p:cNvPr>
          <p:cNvSpPr/>
          <p:nvPr/>
        </p:nvSpPr>
        <p:spPr>
          <a:xfrm>
            <a:off x="1410218" y="4556605"/>
            <a:ext cx="5599664" cy="298411"/>
          </a:xfrm>
          <a:prstGeom prst="roundRect">
            <a:avLst/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E32C02-B29D-E9CC-C239-67EAF5A090C7}"/>
              </a:ext>
            </a:extLst>
          </p:cNvPr>
          <p:cNvSpPr txBox="1"/>
          <p:nvPr/>
        </p:nvSpPr>
        <p:spPr>
          <a:xfrm>
            <a:off x="1072924" y="4467478"/>
            <a:ext cx="170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FF000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③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5C9395-AF4A-2D2B-CA71-06B025F7598E}"/>
              </a:ext>
            </a:extLst>
          </p:cNvPr>
          <p:cNvSpPr txBox="1"/>
          <p:nvPr/>
        </p:nvSpPr>
        <p:spPr>
          <a:xfrm>
            <a:off x="7086082" y="3927563"/>
            <a:ext cx="482016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>
                <a:latin typeface="Meiryo UI" panose="020B0604030504040204" pitchFamily="34" charset="-128"/>
                <a:ea typeface="Meiryo UI" panose="020B0604030504040204" pitchFamily="34" charset="-128"/>
              </a:rPr>
              <a:t>③ Confidentiality Classification : </a:t>
            </a:r>
            <a:r>
              <a:rPr lang="en-IN" sz="1050" dirty="0">
                <a:latin typeface="Meiryo UI" panose="020B0604030504040204" pitchFamily="34" charset="-128"/>
                <a:ea typeface="Meiryo UI" panose="020B0604030504040204" pitchFamily="34" charset="-128"/>
              </a:rPr>
              <a:t>Select the applicable value from the drop-down list.</a:t>
            </a:r>
            <a:endParaRPr lang="en-IN" sz="1050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E67CC16-9806-45F0-7C29-72BAF386C2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6150" y="4343061"/>
            <a:ext cx="1447018" cy="1712304"/>
          </a:xfrm>
          <a:prstGeom prst="rect">
            <a:avLst/>
          </a:prstGeom>
        </p:spPr>
      </p:pic>
      <p:sp>
        <p:nvSpPr>
          <p:cNvPr id="28" name="角丸四角形 26">
            <a:extLst>
              <a:ext uri="{FF2B5EF4-FFF2-40B4-BE49-F238E27FC236}">
                <a16:creationId xmlns:a16="http://schemas.microsoft.com/office/drawing/2014/main" id="{E246E42B-CC24-F069-AA01-7881D51A0D2A}"/>
              </a:ext>
            </a:extLst>
          </p:cNvPr>
          <p:cNvSpPr/>
          <p:nvPr/>
        </p:nvSpPr>
        <p:spPr>
          <a:xfrm>
            <a:off x="1410218" y="4977223"/>
            <a:ext cx="5599664" cy="443979"/>
          </a:xfrm>
          <a:prstGeom prst="roundRect">
            <a:avLst/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5F316DB-25B9-A75D-D090-8CDF607CC828}"/>
              </a:ext>
            </a:extLst>
          </p:cNvPr>
          <p:cNvSpPr txBox="1"/>
          <p:nvPr/>
        </p:nvSpPr>
        <p:spPr>
          <a:xfrm>
            <a:off x="1063917" y="4978700"/>
            <a:ext cx="170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FF000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④</a:t>
            </a:r>
          </a:p>
        </p:txBody>
      </p:sp>
      <p:sp>
        <p:nvSpPr>
          <p:cNvPr id="34" name="Speech Bubble: Rectangle 33">
            <a:extLst>
              <a:ext uri="{FF2B5EF4-FFF2-40B4-BE49-F238E27FC236}">
                <a16:creationId xmlns:a16="http://schemas.microsoft.com/office/drawing/2014/main" id="{29B7CE55-D9FC-6F1C-39BA-021E36AAFF30}"/>
              </a:ext>
            </a:extLst>
          </p:cNvPr>
          <p:cNvSpPr/>
          <p:nvPr/>
        </p:nvSpPr>
        <p:spPr bwMode="auto">
          <a:xfrm>
            <a:off x="2410344" y="5719362"/>
            <a:ext cx="2504556" cy="776687"/>
          </a:xfrm>
          <a:prstGeom prst="wedgeRectCallout">
            <a:avLst>
              <a:gd name="adj1" fmla="val -66382"/>
              <a:gd name="adj2" fmla="val 4439"/>
            </a:avLst>
          </a:prstGeom>
          <a:solidFill>
            <a:srgbClr val="FFFF99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IN" sz="1050" b="0" i="0" u="none" strike="noStrike" cap="none" normalizeH="0" baseline="0" dirty="0">
                <a:ln>
                  <a:noFill/>
                </a:ln>
                <a:effectLst/>
                <a:latin typeface="Meiryo UI" panose="020B0604030504040204" pitchFamily="34" charset="-128"/>
                <a:ea typeface="Meiryo UI" panose="020B0604030504040204" pitchFamily="34" charset="-128"/>
              </a:rPr>
              <a:t>Click on Cancel to cancel uploading the attachment. Upon clicking cancel, detailed document screen displays.</a:t>
            </a:r>
          </a:p>
        </p:txBody>
      </p:sp>
      <p:sp>
        <p:nvSpPr>
          <p:cNvPr id="35" name="Speech Bubble: Rectangle 34">
            <a:extLst>
              <a:ext uri="{FF2B5EF4-FFF2-40B4-BE49-F238E27FC236}">
                <a16:creationId xmlns:a16="http://schemas.microsoft.com/office/drawing/2014/main" id="{221D2BAB-CA25-8CB7-83B1-043F46A741C8}"/>
              </a:ext>
            </a:extLst>
          </p:cNvPr>
          <p:cNvSpPr/>
          <p:nvPr/>
        </p:nvSpPr>
        <p:spPr bwMode="auto">
          <a:xfrm>
            <a:off x="5124968" y="5397957"/>
            <a:ext cx="2060284" cy="559249"/>
          </a:xfrm>
          <a:prstGeom prst="wedgeRectCallout">
            <a:avLst>
              <a:gd name="adj1" fmla="val -10097"/>
              <a:gd name="adj2" fmla="val 64531"/>
            </a:avLst>
          </a:prstGeom>
          <a:solidFill>
            <a:srgbClr val="FFFF99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IN" sz="1050" b="0" i="0" u="none" strike="noStrike" cap="none" normalizeH="0" baseline="0" dirty="0">
                <a:ln>
                  <a:noFill/>
                </a:ln>
                <a:effectLst/>
                <a:latin typeface="Meiryo UI" panose="020B0604030504040204" pitchFamily="34" charset="-128"/>
                <a:ea typeface="Meiryo UI" panose="020B0604030504040204" pitchFamily="34" charset="-128"/>
              </a:rPr>
              <a:t>Click on Back to go back to previous page as in above picture</a:t>
            </a:r>
          </a:p>
        </p:txBody>
      </p:sp>
      <p:sp>
        <p:nvSpPr>
          <p:cNvPr id="36" name="Speech Bubble: Rectangle 35">
            <a:extLst>
              <a:ext uri="{FF2B5EF4-FFF2-40B4-BE49-F238E27FC236}">
                <a16:creationId xmlns:a16="http://schemas.microsoft.com/office/drawing/2014/main" id="{9C92A3AD-C433-51D2-0EB6-9E2C5110F822}"/>
              </a:ext>
            </a:extLst>
          </p:cNvPr>
          <p:cNvSpPr/>
          <p:nvPr/>
        </p:nvSpPr>
        <p:spPr bwMode="auto">
          <a:xfrm>
            <a:off x="6979866" y="6274371"/>
            <a:ext cx="1935534" cy="475798"/>
          </a:xfrm>
          <a:prstGeom prst="wedgeRectCallout">
            <a:avLst>
              <a:gd name="adj1" fmla="val -58178"/>
              <a:gd name="adj2" fmla="val -56395"/>
            </a:avLst>
          </a:prstGeom>
          <a:solidFill>
            <a:srgbClr val="FFFF99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IN" sz="1050" b="0" i="0" u="none" strike="noStrike" cap="none" normalizeH="0" baseline="0" dirty="0">
                <a:ln>
                  <a:noFill/>
                </a:ln>
                <a:effectLst/>
                <a:latin typeface="Meiryo UI" panose="020B0604030504040204" pitchFamily="34" charset="-128"/>
                <a:ea typeface="Meiryo UI" panose="020B0604030504040204" pitchFamily="34" charset="-128"/>
              </a:rPr>
              <a:t>Click on Create to complete file creation.</a:t>
            </a:r>
          </a:p>
        </p:txBody>
      </p:sp>
    </p:spTree>
    <p:extLst>
      <p:ext uri="{BB962C8B-B14F-4D97-AF65-F5344CB8AC3E}">
        <p14:creationId xmlns:p14="http://schemas.microsoft.com/office/powerpoint/2010/main" val="5059332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C1CBDA-D0E8-B4B8-840B-E270B2D2B0D0}"/>
              </a:ext>
            </a:extLst>
          </p:cNvPr>
          <p:cNvSpPr txBox="1">
            <a:spLocks/>
          </p:cNvSpPr>
          <p:nvPr/>
        </p:nvSpPr>
        <p:spPr>
          <a:xfrm>
            <a:off x="-76200" y="0"/>
            <a:ext cx="9753600" cy="5365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Verdana" pitchFamily="34" charset="0"/>
                <a:ea typeface="+mj-ea"/>
                <a:cs typeface="Verdana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5pPr>
            <a:lvl6pPr marL="3429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6pPr>
            <a:lvl7pPr marL="685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7pPr>
            <a:lvl8pPr marL="10287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8pPr>
            <a:lvl9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9pPr>
          </a:lstStyle>
          <a:p>
            <a:r>
              <a:rPr lang="en-US" altLang="ja-JP" kern="0" dirty="0"/>
              <a:t> </a:t>
            </a:r>
            <a:r>
              <a:rPr lang="en-US" altLang="ja-JP" sz="4400" dirty="0">
                <a:solidFill>
                  <a:schemeClr val="tx1"/>
                </a:solidFill>
                <a:latin typeface="+mj-lt"/>
                <a:cs typeface="+mj-cs"/>
              </a:rPr>
              <a:t>3-3. Attachment file upload</a:t>
            </a:r>
            <a:endParaRPr lang="ja-JP" altLang="en-US" sz="4400" dirty="0">
              <a:solidFill>
                <a:schemeClr val="tx1"/>
              </a:solidFill>
              <a:latin typeface="+mj-lt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6DCE0C-BD4F-A080-DED5-50DAC10CD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16" y="1069891"/>
            <a:ext cx="1543050" cy="14257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E9D9A0-E9B7-44EA-AA0D-B6986D0FCFE1}"/>
              </a:ext>
            </a:extLst>
          </p:cNvPr>
          <p:cNvSpPr txBox="1"/>
          <p:nvPr/>
        </p:nvSpPr>
        <p:spPr>
          <a:xfrm>
            <a:off x="152400" y="676275"/>
            <a:ext cx="115633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>
                <a:latin typeface="Meiryo UI" panose="020B0604030504040204" pitchFamily="34" charset="-128"/>
                <a:ea typeface="Meiryo UI" panose="020B0604030504040204" pitchFamily="34" charset="-128"/>
              </a:rPr>
              <a:t>④ Distinction:</a:t>
            </a:r>
            <a:r>
              <a:rPr lang="en-IN" sz="1050" dirty="0">
                <a:latin typeface="Meiryo UI" panose="020B0604030504040204" pitchFamily="34" charset="-128"/>
                <a:ea typeface="Meiryo UI" panose="020B0604030504040204" pitchFamily="34" charset="-128"/>
              </a:rPr>
              <a:t> Give proper distinction for the file.</a:t>
            </a:r>
            <a:endParaRPr lang="en-IN" sz="1050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5F4911-1D12-4039-DDA5-237C9864E79A}"/>
              </a:ext>
            </a:extLst>
          </p:cNvPr>
          <p:cNvSpPr txBox="1"/>
          <p:nvPr/>
        </p:nvSpPr>
        <p:spPr>
          <a:xfrm>
            <a:off x="66675" y="1656234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a</a:t>
            </a:r>
            <a:endParaRPr lang="en-IN" sz="1400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285403-B4FD-6EAA-C3F4-01A3712E7BD7}"/>
              </a:ext>
            </a:extLst>
          </p:cNvPr>
          <p:cNvSpPr txBox="1"/>
          <p:nvPr/>
        </p:nvSpPr>
        <p:spPr>
          <a:xfrm>
            <a:off x="66416" y="1899957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b</a:t>
            </a:r>
            <a:endParaRPr lang="en-IN" sz="1400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D46492-780E-51BD-AEAE-559720B51E36}"/>
              </a:ext>
            </a:extLst>
          </p:cNvPr>
          <p:cNvSpPr txBox="1"/>
          <p:nvPr/>
        </p:nvSpPr>
        <p:spPr>
          <a:xfrm>
            <a:off x="66416" y="2187892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c</a:t>
            </a:r>
            <a:endParaRPr lang="en-IN" sz="1400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EB4E60-3AE6-2B3B-38AE-7910013DB5EB}"/>
              </a:ext>
            </a:extLst>
          </p:cNvPr>
          <p:cNvSpPr txBox="1"/>
          <p:nvPr/>
        </p:nvSpPr>
        <p:spPr>
          <a:xfrm>
            <a:off x="152400" y="2676525"/>
            <a:ext cx="11420475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Meiryo UI" panose="020B0604030504040204" pitchFamily="34" charset="-128"/>
                <a:ea typeface="Meiryo UI" panose="020B0604030504040204" pitchFamily="34" charset="-128"/>
              </a:rPr>
              <a:t>a. </a:t>
            </a:r>
            <a:r>
              <a:rPr lang="en-US" sz="1050" b="1" dirty="0" err="1">
                <a:latin typeface="Meiryo UI" panose="020B0604030504040204" pitchFamily="34" charset="-128"/>
                <a:ea typeface="Meiryo UI" panose="020B0604030504040204" pitchFamily="34" charset="-128"/>
              </a:rPr>
              <a:t>Fulldocument</a:t>
            </a:r>
            <a:r>
              <a:rPr lang="en-US" sz="1050" b="1" dirty="0">
                <a:latin typeface="Meiryo UI" panose="020B0604030504040204" pitchFamily="34" charset="-128"/>
                <a:ea typeface="Meiryo UI" panose="020B0604030504040204" pitchFamily="34" charset="-128"/>
              </a:rPr>
              <a:t>: </a:t>
            </a:r>
            <a:r>
              <a:rPr lang="en-US" sz="1050" dirty="0">
                <a:latin typeface="Meiryo UI" panose="020B0604030504040204" pitchFamily="34" charset="-128"/>
                <a:ea typeface="Meiryo UI" panose="020B0604030504040204" pitchFamily="34" charset="-128"/>
              </a:rPr>
              <a:t>upon selecting this option, we can click on Create button to create a file.</a:t>
            </a:r>
          </a:p>
          <a:p>
            <a:r>
              <a:rPr lang="en-US" sz="1050" b="1" dirty="0">
                <a:latin typeface="Meiryo UI" panose="020B0604030504040204" pitchFamily="34" charset="-128"/>
                <a:ea typeface="Meiryo UI" panose="020B0604030504040204" pitchFamily="34" charset="-128"/>
              </a:rPr>
              <a:t>b. </a:t>
            </a:r>
            <a:r>
              <a:rPr lang="en-US" sz="1050" b="1" dirty="0" err="1">
                <a:latin typeface="Meiryo UI" panose="020B0604030504040204" pitchFamily="34" charset="-128"/>
                <a:ea typeface="Meiryo UI" panose="020B0604030504040204" pitchFamily="34" charset="-128"/>
              </a:rPr>
              <a:t>ReferenceDocument</a:t>
            </a:r>
            <a:r>
              <a:rPr lang="en-US" sz="1050" b="1" dirty="0">
                <a:latin typeface="Meiryo UI" panose="020B0604030504040204" pitchFamily="34" charset="-128"/>
                <a:ea typeface="Meiryo UI" panose="020B0604030504040204" pitchFamily="34" charset="-128"/>
              </a:rPr>
              <a:t>: </a:t>
            </a:r>
            <a:r>
              <a:rPr lang="en-US" sz="1050" dirty="0">
                <a:latin typeface="Meiryo UI" panose="020B0604030504040204" pitchFamily="34" charset="-128"/>
                <a:ea typeface="Meiryo UI" panose="020B0604030504040204" pitchFamily="34" charset="-128"/>
              </a:rPr>
              <a:t>The below options appear. Provide user name for </a:t>
            </a:r>
            <a:r>
              <a:rPr lang="en-US" sz="1050" b="1" dirty="0">
                <a:latin typeface="Meiryo UI" panose="020B0604030504040204" pitchFamily="34" charset="-128"/>
                <a:ea typeface="Meiryo UI" panose="020B0604030504040204" pitchFamily="34" charset="-128"/>
              </a:rPr>
              <a:t>Disclosure Level </a:t>
            </a:r>
            <a:r>
              <a:rPr lang="en-US" sz="1050" dirty="0">
                <a:latin typeface="Meiryo UI" panose="020B0604030504040204" pitchFamily="34" charset="-128"/>
                <a:ea typeface="Meiryo UI" panose="020B0604030504040204" pitchFamily="34" charset="-128"/>
              </a:rPr>
              <a:t>and select  </a:t>
            </a:r>
            <a:r>
              <a:rPr lang="en-US" sz="1050" b="1" dirty="0">
                <a:latin typeface="Meiryo UI" panose="020B0604030504040204" pitchFamily="34" charset="-128"/>
                <a:ea typeface="Meiryo UI" panose="020B0604030504040204" pitchFamily="34" charset="-128"/>
              </a:rPr>
              <a:t>Expiration Date </a:t>
            </a:r>
            <a:r>
              <a:rPr lang="en-US" sz="1050" dirty="0">
                <a:latin typeface="Meiryo UI" panose="020B0604030504040204" pitchFamily="34" charset="-128"/>
                <a:ea typeface="Meiryo UI" panose="020B0604030504040204" pitchFamily="34" charset="-128"/>
              </a:rPr>
              <a:t>from the drop-downlist.</a:t>
            </a:r>
          </a:p>
          <a:p>
            <a:endParaRPr lang="en-IN" sz="1050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FD27A77-7AF9-A9D6-EDD9-1AABC3C89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16" y="3253606"/>
            <a:ext cx="6998520" cy="15122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49F4CA4-4644-D8D1-6E93-39296E4B52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2925" y="3604395"/>
            <a:ext cx="1381124" cy="1705689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FC28BC4-5AE0-4575-A98B-78A0548DB41E}"/>
              </a:ext>
            </a:extLst>
          </p:cNvPr>
          <p:cNvCxnSpPr/>
          <p:nvPr/>
        </p:nvCxnSpPr>
        <p:spPr bwMode="auto">
          <a:xfrm>
            <a:off x="6096000" y="4543425"/>
            <a:ext cx="2162175" cy="1524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2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A5FAA97-28D3-3EE6-D77B-CB7290EAB454}"/>
              </a:ext>
            </a:extLst>
          </p:cNvPr>
          <p:cNvSpPr txBox="1"/>
          <p:nvPr/>
        </p:nvSpPr>
        <p:spPr>
          <a:xfrm>
            <a:off x="66416" y="5676900"/>
            <a:ext cx="1186840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Meiryo UI" panose="020B0604030504040204" pitchFamily="34" charset="-128"/>
                <a:ea typeface="Meiryo UI" panose="020B0604030504040204" pitchFamily="34" charset="-128"/>
              </a:rPr>
              <a:t>C. </a:t>
            </a:r>
            <a:r>
              <a:rPr lang="en-US" sz="1050" b="1" dirty="0" err="1">
                <a:latin typeface="Meiryo UI" panose="020B0604030504040204" pitchFamily="34" charset="-128"/>
                <a:ea typeface="Meiryo UI" panose="020B0604030504040204" pitchFamily="34" charset="-128"/>
              </a:rPr>
              <a:t>Summarydocument</a:t>
            </a:r>
            <a:r>
              <a:rPr lang="en-US" sz="1050" b="1" dirty="0">
                <a:latin typeface="Meiryo UI" panose="020B0604030504040204" pitchFamily="34" charset="-128"/>
                <a:ea typeface="Meiryo UI" panose="020B0604030504040204" pitchFamily="34" charset="-128"/>
              </a:rPr>
              <a:t>: </a:t>
            </a:r>
            <a:r>
              <a:rPr lang="en-US" sz="1050" dirty="0">
                <a:latin typeface="Meiryo UI" panose="020B0604030504040204" pitchFamily="34" charset="-128"/>
                <a:ea typeface="Meiryo UI" panose="020B0604030504040204" pitchFamily="34" charset="-128"/>
              </a:rPr>
              <a:t>upon selecting this option, we can click on Create button to create a file.</a:t>
            </a:r>
            <a:endParaRPr lang="en-IN" sz="1050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77143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FBEF56-C19B-530A-7B8D-99A1F9A5E8E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753600" cy="5365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Verdana" pitchFamily="34" charset="0"/>
                <a:ea typeface="+mj-ea"/>
                <a:cs typeface="Verdana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5pPr>
            <a:lvl6pPr marL="3429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6pPr>
            <a:lvl7pPr marL="685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7pPr>
            <a:lvl8pPr marL="10287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8pPr>
            <a:lvl9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9pPr>
          </a:lstStyle>
          <a:p>
            <a:r>
              <a:rPr lang="en-US" altLang="ja-JP" kern="0" dirty="0"/>
              <a:t> </a:t>
            </a:r>
            <a:r>
              <a:rPr lang="en-US" altLang="ja-JP" sz="4400" dirty="0">
                <a:solidFill>
                  <a:schemeClr val="tx1"/>
                </a:solidFill>
                <a:latin typeface="+mj-lt"/>
                <a:cs typeface="+mj-cs"/>
              </a:rPr>
              <a:t>3-3. Attachment file upload</a:t>
            </a:r>
            <a:endParaRPr lang="ja-JP" altLang="en-US" sz="4400" dirty="0">
              <a:solidFill>
                <a:schemeClr val="tx1"/>
              </a:solidFill>
              <a:latin typeface="+mj-lt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6433D5-D619-330C-71F0-622B7EB23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3" y="1354032"/>
            <a:ext cx="5472112" cy="30465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4E6E3F-8EAB-D8C3-91D6-74E11BB2264D}"/>
              </a:ext>
            </a:extLst>
          </p:cNvPr>
          <p:cNvSpPr txBox="1"/>
          <p:nvPr/>
        </p:nvSpPr>
        <p:spPr>
          <a:xfrm>
            <a:off x="200025" y="800100"/>
            <a:ext cx="110013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Upon clicking Create button, we get the below screen</a:t>
            </a:r>
            <a:endParaRPr lang="en-IN" sz="14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E5CD472A-1ED1-A636-C88E-52DE9257753E}"/>
              </a:ext>
            </a:extLst>
          </p:cNvPr>
          <p:cNvSpPr/>
          <p:nvPr/>
        </p:nvSpPr>
        <p:spPr bwMode="auto">
          <a:xfrm>
            <a:off x="3105149" y="3400425"/>
            <a:ext cx="1095375" cy="495300"/>
          </a:xfrm>
          <a:prstGeom prst="wedgeRectCallout">
            <a:avLst>
              <a:gd name="adj1" fmla="val -122407"/>
              <a:gd name="adj2" fmla="val 100962"/>
            </a:avLst>
          </a:prstGeom>
          <a:solidFill>
            <a:srgbClr val="FFFF99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000" b="0" i="0" u="none" strike="noStrike" cap="none" normalizeH="0" baseline="0" dirty="0">
                <a:ln>
                  <a:noFill/>
                </a:ln>
                <a:effectLst/>
                <a:latin typeface="Meiryo UI" panose="020B0604030504040204" pitchFamily="34" charset="-128"/>
                <a:ea typeface="Meiryo UI" panose="020B0604030504040204" pitchFamily="34" charset="-128"/>
              </a:rPr>
              <a:t>Click here to upload the file</a:t>
            </a:r>
            <a:endParaRPr kumimoji="1" lang="en-IN" sz="1000" b="0" i="0" u="none" strike="noStrike" cap="none" normalizeH="0" baseline="0" dirty="0" err="1">
              <a:ln>
                <a:noFill/>
              </a:ln>
              <a:effectLst/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6AF587-6483-A556-EBB8-D182F05CE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450" y="1088827"/>
            <a:ext cx="4605337" cy="3290220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73581FBE-D2ED-FEF0-5F34-6784E9B42A15}"/>
              </a:ext>
            </a:extLst>
          </p:cNvPr>
          <p:cNvSpPr/>
          <p:nvPr/>
        </p:nvSpPr>
        <p:spPr bwMode="auto">
          <a:xfrm>
            <a:off x="3929063" y="3954797"/>
            <a:ext cx="2266950" cy="286274"/>
          </a:xfrm>
          <a:prstGeom prst="rightArrow">
            <a:avLst/>
          </a:prstGeom>
          <a:solidFill>
            <a:schemeClr val="accent2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080A0C4B-084C-003E-B3F7-82DC415F3763}"/>
              </a:ext>
            </a:extLst>
          </p:cNvPr>
          <p:cNvSpPr/>
          <p:nvPr/>
        </p:nvSpPr>
        <p:spPr bwMode="auto">
          <a:xfrm>
            <a:off x="10868024" y="3429000"/>
            <a:ext cx="1123951" cy="704850"/>
          </a:xfrm>
          <a:prstGeom prst="wedgeRectCallout">
            <a:avLst>
              <a:gd name="adj1" fmla="val -95288"/>
              <a:gd name="adj2" fmla="val 52313"/>
            </a:avLst>
          </a:prstGeom>
          <a:solidFill>
            <a:srgbClr val="FFFF99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000" b="0" i="0" u="none" strike="noStrike" cap="none" normalizeH="0" baseline="0" dirty="0">
                <a:ln>
                  <a:noFill/>
                </a:ln>
                <a:effectLst/>
                <a:latin typeface="Meiryo UI" panose="020B0604030504040204" pitchFamily="34" charset="-128"/>
                <a:ea typeface="Meiryo UI" panose="020B0604030504040204" pitchFamily="34" charset="-128"/>
              </a:rPr>
              <a:t>Select the required file and click on Open</a:t>
            </a:r>
            <a:endParaRPr kumimoji="1" lang="en-IN" sz="1000" b="0" i="0" u="none" strike="noStrike" cap="none" normalizeH="0" baseline="0" dirty="0" err="1">
              <a:ln>
                <a:noFill/>
              </a:ln>
              <a:effectLst/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D67E94-FB8C-465D-44A0-176FDA9C78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875" y="4389369"/>
            <a:ext cx="4819650" cy="2482251"/>
          </a:xfrm>
          <a:prstGeom prst="rect">
            <a:avLst/>
          </a:prstGeom>
        </p:spPr>
      </p:pic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A77BC09D-3D76-ACE7-70ED-353E364B0472}"/>
              </a:ext>
            </a:extLst>
          </p:cNvPr>
          <p:cNvCxnSpPr>
            <a:endCxn id="12" idx="3"/>
          </p:cNvCxnSpPr>
          <p:nvPr/>
        </p:nvCxnSpPr>
        <p:spPr bwMode="auto">
          <a:xfrm rot="5400000">
            <a:off x="8108737" y="4788114"/>
            <a:ext cx="1125170" cy="559593"/>
          </a:xfrm>
          <a:prstGeom prst="bentConnector2">
            <a:avLst/>
          </a:prstGeom>
          <a:solidFill>
            <a:schemeClr val="accent1"/>
          </a:solidFill>
          <a:ln w="76200" cap="flat" cmpd="sng" algn="ctr">
            <a:solidFill>
              <a:schemeClr val="accent2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Speech Bubble: Rectangle 14">
            <a:extLst>
              <a:ext uri="{FF2B5EF4-FFF2-40B4-BE49-F238E27FC236}">
                <a16:creationId xmlns:a16="http://schemas.microsoft.com/office/drawing/2014/main" id="{58A96DBE-6E7B-7056-C922-A5D305D19CA3}"/>
              </a:ext>
            </a:extLst>
          </p:cNvPr>
          <p:cNvSpPr/>
          <p:nvPr/>
        </p:nvSpPr>
        <p:spPr bwMode="auto">
          <a:xfrm>
            <a:off x="9172576" y="4905375"/>
            <a:ext cx="1524000" cy="304800"/>
          </a:xfrm>
          <a:prstGeom prst="wedgeRectCallout">
            <a:avLst>
              <a:gd name="adj1" fmla="val -95288"/>
              <a:gd name="adj2" fmla="val 52313"/>
            </a:avLst>
          </a:prstGeom>
          <a:solidFill>
            <a:srgbClr val="FFFF99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000" b="0" i="0" u="none" strike="noStrike" cap="none" normalizeH="0" baseline="0" dirty="0">
                <a:ln>
                  <a:noFill/>
                </a:ln>
                <a:effectLst/>
                <a:latin typeface="Meiryo UI" panose="020B0604030504040204" pitchFamily="34" charset="-128"/>
                <a:ea typeface="Meiryo UI" panose="020B0604030504040204" pitchFamily="34" charset="-128"/>
              </a:rPr>
              <a:t>File is uploaded</a:t>
            </a:r>
            <a:endParaRPr kumimoji="1" lang="en-IN" sz="1000" b="0" i="0" u="none" strike="noStrike" cap="none" normalizeH="0" baseline="0" dirty="0" err="1">
              <a:ln>
                <a:noFill/>
              </a:ln>
              <a:effectLst/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886940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0BB8A2-5D8D-964C-0F56-300F34EAE36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753600" cy="5365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Verdana" pitchFamily="34" charset="0"/>
                <a:ea typeface="+mj-ea"/>
                <a:cs typeface="Verdana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5pPr>
            <a:lvl6pPr marL="3429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6pPr>
            <a:lvl7pPr marL="685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7pPr>
            <a:lvl8pPr marL="10287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8pPr>
            <a:lvl9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9pPr>
          </a:lstStyle>
          <a:p>
            <a:r>
              <a:rPr lang="en-US" altLang="ja-JP" kern="0" dirty="0"/>
              <a:t> </a:t>
            </a:r>
            <a:r>
              <a:rPr lang="en-US" altLang="ja-JP" sz="4400" dirty="0">
                <a:solidFill>
                  <a:schemeClr val="tx1"/>
                </a:solidFill>
                <a:latin typeface="+mj-lt"/>
                <a:cs typeface="+mj-cs"/>
              </a:rPr>
              <a:t>3-3. Attachment file upload</a:t>
            </a:r>
            <a:endParaRPr lang="ja-JP" altLang="en-US" sz="4400" dirty="0">
              <a:solidFill>
                <a:schemeClr val="tx1"/>
              </a:solidFill>
              <a:latin typeface="+mj-lt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306E0C-61AC-ECE4-6462-D605608058B4}"/>
              </a:ext>
            </a:extLst>
          </p:cNvPr>
          <p:cNvSpPr txBox="1"/>
          <p:nvPr/>
        </p:nvSpPr>
        <p:spPr>
          <a:xfrm>
            <a:off x="228600" y="729504"/>
            <a:ext cx="11601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Way 2: Import file</a:t>
            </a:r>
            <a:endParaRPr lang="en-IN" sz="14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81C59E-40F0-2003-D74E-39EEDBA30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037281"/>
            <a:ext cx="5953125" cy="3490762"/>
          </a:xfrm>
          <a:prstGeom prst="rect">
            <a:avLst/>
          </a:prstGeom>
        </p:spPr>
      </p:pic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E7A215CB-0C67-4CE3-53A3-781873658983}"/>
              </a:ext>
            </a:extLst>
          </p:cNvPr>
          <p:cNvSpPr/>
          <p:nvPr/>
        </p:nvSpPr>
        <p:spPr bwMode="auto">
          <a:xfrm>
            <a:off x="5276850" y="729503"/>
            <a:ext cx="1457325" cy="307777"/>
          </a:xfrm>
          <a:prstGeom prst="wedgeRectCallout">
            <a:avLst>
              <a:gd name="adj1" fmla="val -82917"/>
              <a:gd name="adj2" fmla="val 83681"/>
            </a:avLst>
          </a:prstGeom>
          <a:solidFill>
            <a:srgbClr val="FFFF99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050" b="0" i="0" u="none" strike="noStrike" cap="none" normalizeH="0" baseline="0" dirty="0">
                <a:ln>
                  <a:noFill/>
                </a:ln>
                <a:effectLst/>
                <a:latin typeface="Meiryo UI" panose="020B0604030504040204" pitchFamily="34" charset="-128"/>
                <a:ea typeface="Meiryo UI" panose="020B0604030504040204" pitchFamily="34" charset="-128"/>
              </a:rPr>
              <a:t>Click on Import</a:t>
            </a:r>
            <a:endParaRPr kumimoji="1" lang="en-IN" sz="1050" b="0" i="0" u="none" strike="noStrike" cap="none" normalizeH="0" baseline="0" dirty="0" err="1">
              <a:ln>
                <a:noFill/>
              </a:ln>
              <a:effectLst/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F7A2E4BB-56AD-B769-CE0D-B1C9284EE709}"/>
              </a:ext>
            </a:extLst>
          </p:cNvPr>
          <p:cNvSpPr/>
          <p:nvPr/>
        </p:nvSpPr>
        <p:spPr bwMode="auto">
          <a:xfrm>
            <a:off x="4324350" y="2320051"/>
            <a:ext cx="847725" cy="270750"/>
          </a:xfrm>
          <a:prstGeom prst="wedgeRectCallout">
            <a:avLst>
              <a:gd name="adj1" fmla="val -99322"/>
              <a:gd name="adj2" fmla="val 68207"/>
            </a:avLst>
          </a:prstGeom>
          <a:solidFill>
            <a:srgbClr val="FFFF99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050" b="0" i="0" u="none" strike="noStrike" cap="none" normalizeH="0" baseline="0" dirty="0">
                <a:ln>
                  <a:noFill/>
                </a:ln>
                <a:effectLst/>
                <a:latin typeface="Meiryo UI" panose="020B0604030504040204" pitchFamily="34" charset="-128"/>
                <a:ea typeface="Meiryo UI" panose="020B0604030504040204" pitchFamily="34" charset="-128"/>
              </a:rPr>
              <a:t>Click here</a:t>
            </a:r>
            <a:endParaRPr kumimoji="1" lang="en-IN" sz="1050" b="0" i="0" u="none" strike="noStrike" cap="none" normalizeH="0" baseline="0" dirty="0" err="1">
              <a:ln>
                <a:noFill/>
              </a:ln>
              <a:effectLst/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138468-A166-FB10-64DD-C5E308120472}"/>
              </a:ext>
            </a:extLst>
          </p:cNvPr>
          <p:cNvSpPr txBox="1"/>
          <p:nvPr/>
        </p:nvSpPr>
        <p:spPr>
          <a:xfrm>
            <a:off x="4991100" y="729503"/>
            <a:ext cx="285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463EF4-E3EC-C44E-D67E-1653C4BCDD22}"/>
              </a:ext>
            </a:extLst>
          </p:cNvPr>
          <p:cNvSpPr txBox="1"/>
          <p:nvPr/>
        </p:nvSpPr>
        <p:spPr>
          <a:xfrm>
            <a:off x="3952875" y="2166769"/>
            <a:ext cx="285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FF0000"/>
                </a:solidFill>
              </a:rPr>
              <a:t>②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0E03181-DC9D-59C9-5D98-92C80A1FF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5512" y="2623820"/>
            <a:ext cx="5813126" cy="3808445"/>
          </a:xfrm>
          <a:prstGeom prst="rect">
            <a:avLst/>
          </a:prstGeom>
        </p:spPr>
      </p:pic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84E2A6BC-6A50-EA74-9DBC-FF6AD84CDE54}"/>
              </a:ext>
            </a:extLst>
          </p:cNvPr>
          <p:cNvSpPr/>
          <p:nvPr/>
        </p:nvSpPr>
        <p:spPr bwMode="auto">
          <a:xfrm>
            <a:off x="9153525" y="4863226"/>
            <a:ext cx="1133475" cy="413624"/>
          </a:xfrm>
          <a:prstGeom prst="wedgeRectCallout">
            <a:avLst>
              <a:gd name="adj1" fmla="val -101843"/>
              <a:gd name="adj2" fmla="val 35968"/>
            </a:avLst>
          </a:prstGeom>
          <a:solidFill>
            <a:srgbClr val="FFFF99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050" b="0" i="0" u="none" strike="noStrike" cap="none" normalizeH="0" baseline="0" dirty="0">
                <a:ln>
                  <a:noFill/>
                </a:ln>
                <a:effectLst/>
                <a:latin typeface="Meiryo UI" panose="020B0604030504040204" pitchFamily="34" charset="-128"/>
                <a:ea typeface="Meiryo UI" panose="020B0604030504040204" pitchFamily="34" charset="-128"/>
              </a:rPr>
              <a:t>Select the required file</a:t>
            </a:r>
            <a:endParaRPr kumimoji="1" lang="en-IN" sz="1050" b="0" i="0" u="none" strike="noStrike" cap="none" normalizeH="0" baseline="0" dirty="0" err="1">
              <a:ln>
                <a:noFill/>
              </a:ln>
              <a:effectLst/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B683EE-DF47-58E3-CD88-5BE2747521CB}"/>
              </a:ext>
            </a:extLst>
          </p:cNvPr>
          <p:cNvSpPr txBox="1"/>
          <p:nvPr/>
        </p:nvSpPr>
        <p:spPr>
          <a:xfrm>
            <a:off x="8867775" y="4814605"/>
            <a:ext cx="285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FF0000"/>
                </a:solidFill>
              </a:rPr>
              <a:t>③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378863BD-39E6-C2DF-377A-ECAF446A4860}"/>
              </a:ext>
            </a:extLst>
          </p:cNvPr>
          <p:cNvCxnSpPr>
            <a:stCxn id="5" idx="2"/>
          </p:cNvCxnSpPr>
          <p:nvPr/>
        </p:nvCxnSpPr>
        <p:spPr bwMode="auto">
          <a:xfrm rot="16200000" flipH="1">
            <a:off x="4365081" y="3215725"/>
            <a:ext cx="282870" cy="2907506"/>
          </a:xfrm>
          <a:prstGeom prst="bentConnector2">
            <a:avLst/>
          </a:prstGeom>
          <a:solidFill>
            <a:schemeClr val="accent1"/>
          </a:solidFill>
          <a:ln w="76200" cap="flat" cmpd="sng" algn="ctr">
            <a:solidFill>
              <a:schemeClr val="accent2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334387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5642DF-EB58-7048-08CE-93379D948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475" y="1356296"/>
            <a:ext cx="7914554" cy="4407506"/>
          </a:xfrm>
          <a:prstGeom prst="rect">
            <a:avLst/>
          </a:prstGeom>
        </p:spPr>
      </p:pic>
      <p:sp>
        <p:nvSpPr>
          <p:cNvPr id="6" name="タイトル 1">
            <a:extLst>
              <a:ext uri="{FF2B5EF4-FFF2-40B4-BE49-F238E27FC236}">
                <a16:creationId xmlns:a16="http://schemas.microsoft.com/office/drawing/2014/main" id="{2E95F2BF-8542-1939-4AC7-3DF0BC46E9B4}"/>
              </a:ext>
            </a:extLst>
          </p:cNvPr>
          <p:cNvSpPr txBox="1">
            <a:spLocks/>
          </p:cNvSpPr>
          <p:nvPr/>
        </p:nvSpPr>
        <p:spPr>
          <a:xfrm>
            <a:off x="0" y="33421"/>
            <a:ext cx="9753600" cy="5365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Verdana" pitchFamily="34" charset="0"/>
                <a:ea typeface="+mj-ea"/>
                <a:cs typeface="Verdana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5pPr>
            <a:lvl6pPr marL="3429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6pPr>
            <a:lvl7pPr marL="685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7pPr>
            <a:lvl8pPr marL="10287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8pPr>
            <a:lvl9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9pPr>
          </a:lstStyle>
          <a:p>
            <a:r>
              <a:rPr lang="en-US" altLang="ja-JP" kern="0" dirty="0"/>
              <a:t> </a:t>
            </a:r>
            <a:r>
              <a:rPr lang="en-US" altLang="ja-JP" sz="4400" dirty="0">
                <a:solidFill>
                  <a:schemeClr val="tx1"/>
                </a:solidFill>
                <a:latin typeface="+mj-lt"/>
                <a:cs typeface="+mj-cs"/>
              </a:rPr>
              <a:t>3-3. Attachment file upload</a:t>
            </a:r>
            <a:endParaRPr lang="ja-JP" altLang="en-US" sz="4400" dirty="0">
              <a:solidFill>
                <a:schemeClr val="tx1"/>
              </a:solidFill>
              <a:latin typeface="+mj-lt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025F8B-2E34-5646-1C7C-8141BCA0E7E7}"/>
              </a:ext>
            </a:extLst>
          </p:cNvPr>
          <p:cNvSpPr txBox="1"/>
          <p:nvPr/>
        </p:nvSpPr>
        <p:spPr>
          <a:xfrm>
            <a:off x="228600" y="729504"/>
            <a:ext cx="11601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File gets uploaded.</a:t>
            </a:r>
            <a:endParaRPr lang="en-IN" sz="14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367242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0AB173-6A06-865C-F639-365B63C06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73" y="1984876"/>
            <a:ext cx="5623073" cy="30879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F04DBF-2644-FB02-44AA-A585938A7AA8}"/>
              </a:ext>
            </a:extLst>
          </p:cNvPr>
          <p:cNvSpPr txBox="1"/>
          <p:nvPr/>
        </p:nvSpPr>
        <p:spPr>
          <a:xfrm>
            <a:off x="0" y="638086"/>
            <a:ext cx="119253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After you click the "Create" button, your file will be created and added as an attachment to your document. Once you see the below, your attachment has been uploaded successfully.</a:t>
            </a:r>
          </a:p>
        </p:txBody>
      </p:sp>
      <p:sp>
        <p:nvSpPr>
          <p:cNvPr id="7" name="タイトル 1">
            <a:extLst>
              <a:ext uri="{FF2B5EF4-FFF2-40B4-BE49-F238E27FC236}">
                <a16:creationId xmlns:a16="http://schemas.microsoft.com/office/drawing/2014/main" id="{471223A6-EC09-720A-89DF-FDD0DEB22C1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753600" cy="5365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Verdana" pitchFamily="34" charset="0"/>
                <a:ea typeface="+mj-ea"/>
                <a:cs typeface="Verdana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5pPr>
            <a:lvl6pPr marL="3429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6pPr>
            <a:lvl7pPr marL="685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7pPr>
            <a:lvl8pPr marL="10287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8pPr>
            <a:lvl9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9pPr>
          </a:lstStyle>
          <a:p>
            <a:r>
              <a:rPr lang="en-US" altLang="ja-JP" sz="4400" dirty="0">
                <a:solidFill>
                  <a:schemeClr val="tx1"/>
                </a:solidFill>
                <a:latin typeface="+mj-lt"/>
                <a:cs typeface="+mj-cs"/>
              </a:rPr>
              <a:t> 3-3. Attachment file upload</a:t>
            </a:r>
            <a:endParaRPr lang="ja-JP" altLang="en-US" sz="4400" dirty="0">
              <a:solidFill>
                <a:schemeClr val="tx1"/>
              </a:solidFill>
              <a:latin typeface="+mj-lt"/>
              <a:cs typeface="+mj-cs"/>
            </a:endParaRPr>
          </a:p>
        </p:txBody>
      </p:sp>
      <p:sp>
        <p:nvSpPr>
          <p:cNvPr id="8" name="角丸四角形 26">
            <a:extLst>
              <a:ext uri="{FF2B5EF4-FFF2-40B4-BE49-F238E27FC236}">
                <a16:creationId xmlns:a16="http://schemas.microsoft.com/office/drawing/2014/main" id="{1103F074-E4E6-3650-C542-6CCCC6EA998F}"/>
              </a:ext>
            </a:extLst>
          </p:cNvPr>
          <p:cNvSpPr/>
          <p:nvPr/>
        </p:nvSpPr>
        <p:spPr>
          <a:xfrm>
            <a:off x="357187" y="3901457"/>
            <a:ext cx="5876925" cy="613952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38AE375E-0715-423D-FDA9-1867B1E45CF4}"/>
              </a:ext>
            </a:extLst>
          </p:cNvPr>
          <p:cNvSpPr/>
          <p:nvPr/>
        </p:nvSpPr>
        <p:spPr bwMode="auto">
          <a:xfrm>
            <a:off x="823323" y="5191359"/>
            <a:ext cx="1724026" cy="704106"/>
          </a:xfrm>
          <a:prstGeom prst="wedgeRectCallout">
            <a:avLst>
              <a:gd name="adj1" fmla="val -47389"/>
              <a:gd name="adj2" fmla="val -140231"/>
            </a:avLst>
          </a:prstGeom>
          <a:solidFill>
            <a:srgbClr val="FFFF99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000" b="0" i="0" u="none" strike="noStrike" cap="none" normalizeH="0" baseline="0" dirty="0">
                <a:ln>
                  <a:noFill/>
                </a:ln>
                <a:effectLst/>
                <a:latin typeface="Meiryo UI" panose="020B0604030504040204" pitchFamily="34" charset="-128"/>
                <a:ea typeface="Meiryo UI" panose="020B0604030504040204" pitchFamily="34" charset="-128"/>
              </a:rPr>
              <a:t>List of uploaded files. Click on the file to view details like the image on the right.</a:t>
            </a:r>
            <a:endParaRPr kumimoji="1" lang="en-IN" sz="1000" b="0" i="0" u="none" strike="noStrike" cap="none" normalizeH="0" baseline="0" dirty="0">
              <a:ln>
                <a:noFill/>
              </a:ln>
              <a:effectLst/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387CC22-6C48-F4C4-D314-4928939E6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1329" y="2058737"/>
            <a:ext cx="6201246" cy="3147757"/>
          </a:xfrm>
          <a:prstGeom prst="rect">
            <a:avLst/>
          </a:prstGeom>
        </p:spPr>
      </p:pic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C0343E88-7626-2903-022F-BD5208DA3B7A}"/>
              </a:ext>
            </a:extLst>
          </p:cNvPr>
          <p:cNvSpPr/>
          <p:nvPr/>
        </p:nvSpPr>
        <p:spPr bwMode="auto">
          <a:xfrm>
            <a:off x="3555924" y="5618722"/>
            <a:ext cx="2324101" cy="704106"/>
          </a:xfrm>
          <a:prstGeom prst="wedgeRectCallout">
            <a:avLst>
              <a:gd name="adj1" fmla="val 36484"/>
              <a:gd name="adj2" fmla="val -132177"/>
            </a:avLst>
          </a:prstGeom>
          <a:solidFill>
            <a:srgbClr val="FFFF99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000" b="0" i="0" u="none" strike="noStrike" cap="none" normalizeH="0" baseline="0" dirty="0">
                <a:ln>
                  <a:noFill/>
                </a:ln>
                <a:effectLst/>
                <a:latin typeface="Meiryo UI" panose="020B0604030504040204" pitchFamily="34" charset="-128"/>
                <a:ea typeface="Meiryo UI" panose="020B0604030504040204" pitchFamily="34" charset="-128"/>
              </a:rPr>
              <a:t>If you have more attachments, click the blue-white + button on the document screen and repeat the attachment upload flow.</a:t>
            </a:r>
            <a:endParaRPr kumimoji="1" lang="en-IN" sz="1000" b="0" i="0" u="none" strike="noStrike" cap="none" normalizeH="0" baseline="0" dirty="0">
              <a:ln>
                <a:noFill/>
              </a:ln>
              <a:effectLst/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0" name="角丸四角形 26">
            <a:extLst>
              <a:ext uri="{FF2B5EF4-FFF2-40B4-BE49-F238E27FC236}">
                <a16:creationId xmlns:a16="http://schemas.microsoft.com/office/drawing/2014/main" id="{071FD2AD-783B-ACEE-267D-E74A85941141}"/>
              </a:ext>
            </a:extLst>
          </p:cNvPr>
          <p:cNvSpPr/>
          <p:nvPr/>
        </p:nvSpPr>
        <p:spPr>
          <a:xfrm>
            <a:off x="10455349" y="2021306"/>
            <a:ext cx="1221858" cy="342121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7019F166-3F08-DBA6-8C03-E7BEB100F5E3}"/>
              </a:ext>
            </a:extLst>
          </p:cNvPr>
          <p:cNvSpPr/>
          <p:nvPr/>
        </p:nvSpPr>
        <p:spPr bwMode="auto">
          <a:xfrm>
            <a:off x="8811952" y="2847216"/>
            <a:ext cx="2324101" cy="959240"/>
          </a:xfrm>
          <a:prstGeom prst="wedgeRectCallout">
            <a:avLst>
              <a:gd name="adj1" fmla="val 33739"/>
              <a:gd name="adj2" fmla="val -108530"/>
            </a:avLst>
          </a:prstGeom>
          <a:solidFill>
            <a:srgbClr val="FFFF99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000" b="0" i="0" u="none" strike="noStrike" cap="none" normalizeH="0" baseline="0" dirty="0">
                <a:ln>
                  <a:noFill/>
                </a:ln>
                <a:effectLst/>
                <a:latin typeface="Meiryo UI" panose="020B0604030504040204" pitchFamily="34" charset="-128"/>
                <a:ea typeface="Meiryo UI" panose="020B0604030504040204" pitchFamily="34" charset="-128"/>
              </a:rPr>
              <a:t>This area displays the actions available for the current file. The display of buttons depend on the user's access rights and the current status of the document.</a:t>
            </a:r>
            <a:endParaRPr kumimoji="1" lang="en-IN" sz="1000" b="0" i="0" u="none" strike="noStrike" cap="none" normalizeH="0" baseline="0" dirty="0">
              <a:ln>
                <a:noFill/>
              </a:ln>
              <a:effectLst/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3" name="角丸四角形 26">
            <a:extLst>
              <a:ext uri="{FF2B5EF4-FFF2-40B4-BE49-F238E27FC236}">
                <a16:creationId xmlns:a16="http://schemas.microsoft.com/office/drawing/2014/main" id="{3C9F2677-F756-8828-7366-00820F457B13}"/>
              </a:ext>
            </a:extLst>
          </p:cNvPr>
          <p:cNvSpPr/>
          <p:nvPr/>
        </p:nvSpPr>
        <p:spPr>
          <a:xfrm>
            <a:off x="8895907" y="4901804"/>
            <a:ext cx="943416" cy="342121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9AF598D5-9A3A-2C38-40DC-2E72487BC683}"/>
              </a:ext>
            </a:extLst>
          </p:cNvPr>
          <p:cNvSpPr/>
          <p:nvPr/>
        </p:nvSpPr>
        <p:spPr bwMode="auto">
          <a:xfrm>
            <a:off x="7649902" y="5423785"/>
            <a:ext cx="2189422" cy="680140"/>
          </a:xfrm>
          <a:prstGeom prst="wedgeRectCallout">
            <a:avLst>
              <a:gd name="adj1" fmla="val 15439"/>
              <a:gd name="adj2" fmla="val -66409"/>
            </a:avLst>
          </a:prstGeom>
          <a:solidFill>
            <a:srgbClr val="FFFF99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000" b="0" i="0" u="none" strike="noStrike" cap="none" normalizeH="0" baseline="0" dirty="0">
                <a:ln>
                  <a:noFill/>
                </a:ln>
                <a:effectLst/>
                <a:latin typeface="Meiryo UI" panose="020B0604030504040204" pitchFamily="34" charset="-128"/>
                <a:ea typeface="Meiryo UI" panose="020B0604030504040204" pitchFamily="34" charset="-128"/>
              </a:rPr>
              <a:t>You can also perform the following operations on the uploaded files (see "Attachment Details" for details)</a:t>
            </a:r>
            <a:endParaRPr kumimoji="1" lang="en-IN" sz="1000" b="0" i="0" u="none" strike="noStrike" cap="none" normalizeH="0" baseline="0" dirty="0">
              <a:ln>
                <a:noFill/>
              </a:ln>
              <a:effectLst/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716405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5123714" y="3136612"/>
            <a:ext cx="19445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3200" dirty="0">
                <a:latin typeface="Nissan Pro Regular" panose="02000503030000020003" pitchFamily="50" charset="0"/>
              </a:rPr>
              <a:t>Thank you</a:t>
            </a:r>
            <a:endParaRPr kumimoji="1" lang="ja-JP" altLang="en-US" sz="3200" dirty="0">
              <a:latin typeface="Nissan Pro Regular" panose="0200050303000002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9461841"/>
      </p:ext>
    </p:extLst>
  </p:cSld>
  <p:clrMapOvr>
    <a:masterClrMapping/>
  </p:clrMapOvr>
</p:sld>
</file>

<file path=ppt/theme/theme1.xml><?xml version="1.0" encoding="utf-8"?>
<a:theme xmlns:a="http://schemas.openxmlformats.org/drawingml/2006/main" name="1. Cover Slide">
  <a:themeElements>
    <a:clrScheme name="Corporate Color">
      <a:dk1>
        <a:srgbClr val="000000"/>
      </a:dk1>
      <a:lt1>
        <a:srgbClr val="FFFFFF"/>
      </a:lt1>
      <a:dk2>
        <a:srgbClr val="003F66"/>
      </a:dk2>
      <a:lt2>
        <a:srgbClr val="5795BB"/>
      </a:lt2>
      <a:accent1>
        <a:srgbClr val="000000"/>
      </a:accent1>
      <a:accent2>
        <a:srgbClr val="003F66"/>
      </a:accent2>
      <a:accent3>
        <a:srgbClr val="5795BB"/>
      </a:accent3>
      <a:accent4>
        <a:srgbClr val="999999"/>
      </a:accent4>
      <a:accent5>
        <a:srgbClr val="666666"/>
      </a:accent5>
      <a:accent6>
        <a:srgbClr val="4C4C4C"/>
      </a:accent6>
      <a:hlink>
        <a:srgbClr val="0070C0"/>
      </a:hlink>
      <a:folHlink>
        <a:srgbClr val="7F7F7F"/>
      </a:folHlink>
    </a:clrScheme>
    <a:fontScheme name="Corporate Font">
      <a:majorFont>
        <a:latin typeface="Nissan Pro Regular"/>
        <a:ea typeface="メイリオ"/>
        <a:cs typeface=""/>
      </a:majorFont>
      <a:minorFont>
        <a:latin typeface="Nissan Pro Regular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デザインの設定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デザインの設定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デザインの設定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デザインの設定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デザインの設定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デザインの設定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デザインの設定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デザインの設定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デザインの設定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デザインの設定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デザインの設定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デザインの設定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EDMS ED Registration GlobalISIT_PPT_16_9_S" id="{FFBE7B8E-42FB-4DED-A924-E1E4D6ECF83E}" vid="{E5B555C0-3238-4183-A432-B11EC8355A0E}"/>
    </a:ext>
  </a:extLst>
</a:theme>
</file>

<file path=ppt/theme/theme2.xml><?xml version="1.0" encoding="utf-8"?>
<a:theme xmlns:a="http://schemas.openxmlformats.org/drawingml/2006/main" name="2. Expecta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orporate Font">
      <a:majorFont>
        <a:latin typeface="Nissan Pro Regular"/>
        <a:ea typeface="メイリオ"/>
        <a:cs typeface=""/>
      </a:majorFont>
      <a:minorFont>
        <a:latin typeface="Nissan Pro Regular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DMS ED Registration GlobalISIT_PPT_16_9_S" id="{FFBE7B8E-42FB-4DED-A924-E1E4D6ECF83E}" vid="{BE7DFC81-44D8-459F-B16E-AF521637912F}"/>
    </a:ext>
  </a:extLst>
</a:theme>
</file>

<file path=ppt/theme/theme3.xml><?xml version="1.0" encoding="utf-8"?>
<a:theme xmlns:a="http://schemas.openxmlformats.org/drawingml/2006/main" name="3. Blank Slide">
  <a:themeElements>
    <a:clrScheme name="Corporate Color">
      <a:dk1>
        <a:srgbClr val="000000"/>
      </a:dk1>
      <a:lt1>
        <a:srgbClr val="FFFFFF"/>
      </a:lt1>
      <a:dk2>
        <a:srgbClr val="003F66"/>
      </a:dk2>
      <a:lt2>
        <a:srgbClr val="5795BB"/>
      </a:lt2>
      <a:accent1>
        <a:srgbClr val="000000"/>
      </a:accent1>
      <a:accent2>
        <a:srgbClr val="003F66"/>
      </a:accent2>
      <a:accent3>
        <a:srgbClr val="5795BB"/>
      </a:accent3>
      <a:accent4>
        <a:srgbClr val="999999"/>
      </a:accent4>
      <a:accent5>
        <a:srgbClr val="666666"/>
      </a:accent5>
      <a:accent6>
        <a:srgbClr val="4C4C4C"/>
      </a:accent6>
      <a:hlink>
        <a:srgbClr val="0070C0"/>
      </a:hlink>
      <a:folHlink>
        <a:srgbClr val="7F7F7F"/>
      </a:folHlink>
    </a:clrScheme>
    <a:fontScheme name="Corporate Font">
      <a:majorFont>
        <a:latin typeface="Nissan Pro Regular"/>
        <a:ea typeface="メイリオ"/>
        <a:cs typeface=""/>
      </a:majorFont>
      <a:minorFont>
        <a:latin typeface="Nissan Pro Regular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DMS ED Registration GlobalISIT_PPT_16_9_S" id="{FFBE7B8E-42FB-4DED-A924-E1E4D6ECF83E}" vid="{9B4B5B8E-2B73-4FE7-BB64-90749C295B0B}"/>
    </a:ext>
  </a:extLst>
</a:theme>
</file>

<file path=ppt/theme/theme4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6FD94448B71AFC4A8B1EBDDDC854B0DE" ma:contentTypeVersion="16" ma:contentTypeDescription="新しいドキュメントを作成します。" ma:contentTypeScope="" ma:versionID="ebda6bb7a9766a19165573f96521afa2">
  <xsd:schema xmlns:xsd="http://www.w3.org/2001/XMLSchema" xmlns:xs="http://www.w3.org/2001/XMLSchema" xmlns:p="http://schemas.microsoft.com/office/2006/metadata/properties" xmlns:ns1="http://schemas.microsoft.com/sharepoint/v3" xmlns:ns2="452b68de-9366-4a6d-8b6e-45428c3cd271" xmlns:ns3="ec38023c-351b-4ee8-a88e-8f6363b5466e" targetNamespace="http://schemas.microsoft.com/office/2006/metadata/properties" ma:root="true" ma:fieldsID="7fa6882473ca470321a00f2a5b04302e" ns1:_="" ns2:_="" ns3:_="">
    <xsd:import namespace="http://schemas.microsoft.com/sharepoint/v3"/>
    <xsd:import namespace="452b68de-9366-4a6d-8b6e-45428c3cd271"/>
    <xsd:import namespace="ec38023c-351b-4ee8-a88e-8f6363b5466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統合コンプライアンス ポリシーのプロパティ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統合コンプライアンス ポリシーの UI アクション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2b68de-9366-4a6d-8b6e-45428c3cd2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4e993f94-6c0e-4a87-8957-b0e4ba0de1a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38023c-351b-4ee8-a88e-8f6363b5466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50f2b330-1e26-4f81-b56a-fa51a7a3ebf6}" ma:internalName="TaxCatchAll" ma:showField="CatchAllData" ma:web="ec38023c-351b-4ee8-a88e-8f6363b5466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38023c-351b-4ee8-a88e-8f6363b5466e">
      <Value>4</Value>
    </TaxCatchAll>
    <_ip_UnifiedCompliancePolicyUIAction xmlns="http://schemas.microsoft.com/sharepoint/v3" xsi:nil="true"/>
    <lcf76f155ced4ddcb4097134ff3c332f xmlns="452b68de-9366-4a6d-8b6e-45428c3cd271">
      <Terms xmlns="http://schemas.microsoft.com/office/infopath/2007/PartnerControls"/>
    </lcf76f155ced4ddcb4097134ff3c332f>
    <_ip_UnifiedCompliancePolicyProperties xmlns="http://schemas.microsoft.com/sharepoint/v3" xsi:nil="true"/>
  </documentManagement>
</p:properties>
</file>

<file path=customXml/item4.xml><?xml version="1.0" encoding="utf-8"?>
<LongProperties xmlns="http://schemas.microsoft.com/office/2006/metadata/longProperties"/>
</file>

<file path=customXml/itemProps1.xml><?xml version="1.0" encoding="utf-8"?>
<ds:datastoreItem xmlns:ds="http://schemas.openxmlformats.org/officeDocument/2006/customXml" ds:itemID="{C978CB5E-DCDF-4123-8B1F-4541C3EC9CD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8BF373D-1A20-4DFF-8DA1-0711BF63C0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452b68de-9366-4a6d-8b6e-45428c3cd271"/>
    <ds:schemaRef ds:uri="ec38023c-351b-4ee8-a88e-8f6363b5466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EDDF703-E9F5-456C-BB9E-9A3971734E1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152c0564-0d49-45bb-8ba5-6417696b9a04"/>
    <ds:schemaRef ds:uri="ec38023c-351b-4ee8-a88e-8f6363b5466e"/>
    <ds:schemaRef ds:uri="452b68de-9366-4a6d-8b6e-45428c3cd271"/>
  </ds:schemaRefs>
</ds:datastoreItem>
</file>

<file path=customXml/itemProps4.xml><?xml version="1.0" encoding="utf-8"?>
<ds:datastoreItem xmlns:ds="http://schemas.openxmlformats.org/officeDocument/2006/customXml" ds:itemID="{1FF7788A-C23C-465D-8064-A50C91A5D78E}">
  <ds:schemaRefs>
    <ds:schemaRef ds:uri="http://schemas.microsoft.com/office/2006/metadata/longProperties"/>
  </ds:schemaRefs>
</ds:datastoreItem>
</file>

<file path=docMetadata/LabelInfo.xml><?xml version="1.0" encoding="utf-8"?>
<clbl:labelList xmlns:clbl="http://schemas.microsoft.com/office/2020/mipLabelMetadata">
  <clbl:label id="{7f30fc12-c89a-4829-a476-5bf9e2086332}" enabled="1" method="Privileged" siteId="{d6b0bbee-7cd9-4d60-bce6-4a67b543e2ae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EDMS ED Registration GlobalISIT_PPT_16_9_S</Template>
  <TotalTime>40</TotalTime>
  <Words>2030</Words>
  <Application>Microsoft Office PowerPoint</Application>
  <PresentationFormat>Widescreen</PresentationFormat>
  <Paragraphs>203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25</vt:i4>
      </vt:variant>
    </vt:vector>
  </HeadingPairs>
  <TitlesOfParts>
    <vt:vector size="38" baseType="lpstr">
      <vt:lpstr>Meiryo UI</vt:lpstr>
      <vt:lpstr>ＭＳ Ｐゴシック</vt:lpstr>
      <vt:lpstr>Arial</vt:lpstr>
      <vt:lpstr>Calibri</vt:lpstr>
      <vt:lpstr>Inter</vt:lpstr>
      <vt:lpstr>Nissan Pro Bold</vt:lpstr>
      <vt:lpstr>Nissan Pro Regular</vt:lpstr>
      <vt:lpstr>Times New Roman</vt:lpstr>
      <vt:lpstr>Verdana</vt:lpstr>
      <vt:lpstr>Wingdings</vt:lpstr>
      <vt:lpstr>1. Cover Slide</vt:lpstr>
      <vt:lpstr>2. Expectation</vt:lpstr>
      <vt:lpstr>3. Blank Slide</vt:lpstr>
      <vt:lpstr>PowerPoint Presentation</vt:lpstr>
      <vt:lpstr>Table Of Contents</vt:lpstr>
      <vt:lpstr>1.ED – Introduction</vt:lpstr>
      <vt:lpstr>PowerPoint Presentation</vt:lpstr>
      <vt:lpstr>2.1. URL &amp; Signing in </vt:lpstr>
      <vt:lpstr>2-2.How to change Language</vt:lpstr>
      <vt:lpstr>2-2.How to change Language</vt:lpstr>
      <vt:lpstr>PowerPoint Presentation</vt:lpstr>
      <vt:lpstr>3-1.Home screen- Layout</vt:lpstr>
      <vt:lpstr> 3-2.ED Registration</vt:lpstr>
      <vt:lpstr> 3-2.ED Registration</vt:lpstr>
      <vt:lpstr> 3-2.ED Registration</vt:lpstr>
      <vt:lpstr> 3-2.ED Registration</vt:lpstr>
      <vt:lpstr> 3-2.ED Registration</vt:lpstr>
      <vt:lpstr> 3-2.ED Registration</vt:lpstr>
      <vt:lpstr> 3-2.ED Registration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MANIVANNAN Subha</dc:creator>
  <cp:keywords>Alliance;N-C;Nissan Confidential C</cp:keywords>
  <cp:lastModifiedBy>SUBHA, MANIVANNAN</cp:lastModifiedBy>
  <cp:revision>5</cp:revision>
  <cp:lastPrinted>2020-05-13T04:25:47Z</cp:lastPrinted>
  <dcterms:created xsi:type="dcterms:W3CDTF">2024-07-08T03:46:14Z</dcterms:created>
  <dcterms:modified xsi:type="dcterms:W3CDTF">2025-09-23T12:35:04Z</dcterms:modified>
  <cp:category>N-C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ExpireDate">
    <vt:lpwstr>2017-03-13T00:00:00Z</vt:lpwstr>
  </property>
  <property fmtid="{D5CDD505-2E9C-101B-9397-08002B2CF9AE}" pid="3" name="ItemRetentionFormula">
    <vt:lpwstr/>
  </property>
  <property fmtid="{D5CDD505-2E9C-101B-9397-08002B2CF9AE}" pid="4" name="_dlc_policyId">
    <vt:lpwstr>0x01010066E3D1BD537B466A9FB4715B858074E90086CBB1B2C534404481B05826C05EBC4F|473777199</vt:lpwstr>
  </property>
  <property fmtid="{D5CDD505-2E9C-101B-9397-08002B2CF9AE}" pid="5" name="ACP_Nissan_SecurityClassification">
    <vt:lpwstr>4;#CU/NC|e41da57d-3dff-4267-98d4-5ef0a8afe73e</vt:lpwstr>
  </property>
  <property fmtid="{D5CDD505-2E9C-101B-9397-08002B2CF9AE}" pid="6" name="ACP_Nissan_DocumentType">
    <vt:lpwstr/>
  </property>
  <property fmtid="{D5CDD505-2E9C-101B-9397-08002B2CF9AE}" pid="7" name="ACP_OwnerOrganization">
    <vt:lpwstr/>
  </property>
  <property fmtid="{D5CDD505-2E9C-101B-9397-08002B2CF9AE}" pid="8" name="ACP_Nissan_RelevantRegion">
    <vt:lpwstr/>
  </property>
  <property fmtid="{D5CDD505-2E9C-101B-9397-08002B2CF9AE}" pid="9" name="ContentTypeId">
    <vt:lpwstr>0x0101006FD94448B71AFC4A8B1EBDDDC854B0DE</vt:lpwstr>
  </property>
  <property fmtid="{D5CDD505-2E9C-101B-9397-08002B2CF9AE}" pid="10" name="_dlc_ItemStageId">
    <vt:lpwstr>1</vt:lpwstr>
  </property>
  <property fmtid="{D5CDD505-2E9C-101B-9397-08002B2CF9AE}" pid="11" name="_dlc_LastRun">
    <vt:lpwstr>03/19/2017 01:29:10</vt:lpwstr>
  </property>
  <property fmtid="{D5CDD505-2E9C-101B-9397-08002B2CF9AE}" pid="12" name="ClassificationContentMarkingFooterText">
    <vt:lpwstr>Internal I</vt:lpwstr>
  </property>
</Properties>
</file>