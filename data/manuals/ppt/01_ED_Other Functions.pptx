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5"/>
    <p:sldMasterId id="2147483666" r:id="rId6"/>
    <p:sldMasterId id="2147483659" r:id="rId7"/>
  </p:sldMasterIdLst>
  <p:notesMasterIdLst>
    <p:notesMasterId r:id="rId32"/>
  </p:notesMasterIdLst>
  <p:handoutMasterIdLst>
    <p:handoutMasterId r:id="rId33"/>
  </p:handoutMasterIdLst>
  <p:sldIdLst>
    <p:sldId id="457" r:id="rId8"/>
    <p:sldId id="460" r:id="rId9"/>
    <p:sldId id="447" r:id="rId10"/>
    <p:sldId id="461" r:id="rId11"/>
    <p:sldId id="462" r:id="rId12"/>
    <p:sldId id="463" r:id="rId13"/>
    <p:sldId id="464" r:id="rId14"/>
    <p:sldId id="472" r:id="rId15"/>
    <p:sldId id="473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4" r:id="rId24"/>
    <p:sldId id="475" r:id="rId25"/>
    <p:sldId id="476" r:id="rId26"/>
    <p:sldId id="477" r:id="rId27"/>
    <p:sldId id="478" r:id="rId28"/>
    <p:sldId id="479" r:id="rId29"/>
    <p:sldId id="480" r:id="rId30"/>
    <p:sldId id="458" r:id="rId31"/>
  </p:sldIdLst>
  <p:sldSz cx="12192000" cy="6858000"/>
  <p:notesSz cx="10007600" cy="143637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166" userDrawn="1">
          <p15:clr>
            <a:srgbClr val="A4A3A4"/>
          </p15:clr>
        </p15:guide>
        <p15:guide id="7" orient="horz" pos="119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6" orient="horz" pos="4178" userDrawn="1">
          <p15:clr>
            <a:srgbClr val="A4A3A4"/>
          </p15:clr>
        </p15:guide>
        <p15:guide id="17" pos="7514" userDrawn="1">
          <p15:clr>
            <a:srgbClr val="A4A3A4"/>
          </p15:clr>
        </p15:guide>
        <p15:guide id="19" orient="horz" pos="61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12"/>
    <a:srgbClr val="5795BB"/>
    <a:srgbClr val="808080"/>
    <a:srgbClr val="003F66"/>
    <a:srgbClr val="DDDDDD"/>
    <a:srgbClr val="002A66"/>
    <a:srgbClr val="CF1818"/>
    <a:srgbClr val="EAECEE"/>
    <a:srgbClr val="CC0000"/>
    <a:srgbClr val="ADADA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BFD57B-2ED2-488F-A1A7-8CDF558CA5F6}" v="31" dt="2024-09-30T06:01:36.489"/>
  </p1510:revLst>
</p1510:revInfo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792" autoAdjust="0"/>
  </p:normalViewPr>
  <p:slideViewPr>
    <p:cSldViewPr snapToGrid="0" showGuides="1">
      <p:cViewPr varScale="1">
        <p:scale>
          <a:sx n="67" d="100"/>
          <a:sy n="67" d="100"/>
        </p:scale>
        <p:origin x="644" y="52"/>
      </p:cViewPr>
      <p:guideLst>
        <p:guide pos="166"/>
        <p:guide orient="horz" pos="119"/>
        <p:guide orient="horz" pos="2160"/>
        <p:guide pos="3840"/>
        <p:guide orient="horz" pos="4178"/>
        <p:guide pos="7514"/>
        <p:guide orient="horz" pos="6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0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668657" y="0"/>
            <a:ext cx="4336627" cy="720679"/>
          </a:xfrm>
          <a:prstGeom prst="rect">
            <a:avLst/>
          </a:prstGeom>
        </p:spPr>
        <p:txBody>
          <a:bodyPr vert="horz" lIns="139263" tIns="69632" rIns="139263" bIns="69632" rtlCol="0"/>
          <a:lstStyle>
            <a:lvl1pPr algn="r">
              <a:defRPr sz="1800"/>
            </a:lvl1pPr>
          </a:lstStyle>
          <a:p>
            <a:fld id="{2EAA5521-74A0-4497-BD3C-B34596D79315}" type="datetimeFigureOut">
              <a:rPr kumimoji="1" lang="ja-JP" altLang="en-US" smtClean="0"/>
              <a:t>2025/4/9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l">
              <a:defRPr sz="18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668657" y="13643023"/>
            <a:ext cx="4336627" cy="720678"/>
          </a:xfrm>
          <a:prstGeom prst="rect">
            <a:avLst/>
          </a:prstGeom>
        </p:spPr>
        <p:txBody>
          <a:bodyPr vert="horz" lIns="139263" tIns="69632" rIns="139263" bIns="69632" rtlCol="0" anchor="b"/>
          <a:lstStyle>
            <a:lvl1pPr algn="r">
              <a:defRPr sz="1800"/>
            </a:lvl1pPr>
          </a:lstStyle>
          <a:p>
            <a:fld id="{DA3E434F-EFAF-4CC8-962E-737203C16E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73599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68657" y="0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5900" y="1077913"/>
            <a:ext cx="9575800" cy="5386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00760" y="6822758"/>
            <a:ext cx="8006080" cy="646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68657" y="13643022"/>
            <a:ext cx="4336627" cy="718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39263" tIns="69632" rIns="139263" bIns="6963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7A636EC-557D-4F00-BFDF-6F57ED43287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81863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2"/>
          <p:cNvSpPr>
            <a:spLocks noGrp="1"/>
          </p:cNvSpPr>
          <p:nvPr>
            <p:ph type="body" sz="quarter" idx="12" hasCustomPrompt="1"/>
          </p:nvPr>
        </p:nvSpPr>
        <p:spPr>
          <a:xfrm>
            <a:off x="515939" y="3788390"/>
            <a:ext cx="11160124" cy="9702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aseline="0">
                <a:solidFill>
                  <a:schemeClr val="tx1"/>
                </a:solidFill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Presentation Title</a:t>
            </a:r>
          </a:p>
        </p:txBody>
      </p:sp>
      <p:sp>
        <p:nvSpPr>
          <p:cNvPr id="7" name="テキスト プレースホルダー 2"/>
          <p:cNvSpPr>
            <a:spLocks noGrp="1"/>
          </p:cNvSpPr>
          <p:nvPr>
            <p:ph type="body" sz="quarter" idx="13" hasCustomPrompt="1"/>
          </p:nvPr>
        </p:nvSpPr>
        <p:spPr>
          <a:xfrm>
            <a:off x="515939" y="4836920"/>
            <a:ext cx="11160124" cy="127049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chemeClr val="tx1"/>
                </a:solidFill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Presenter Name, Title</a:t>
            </a:r>
          </a:p>
          <a:p>
            <a:pPr lvl="0"/>
            <a:r>
              <a:rPr kumimoji="1" lang="en-US" altLang="ja-JP" dirty="0"/>
              <a:t>Department/Division</a:t>
            </a:r>
          </a:p>
          <a:p>
            <a:pPr lvl="0"/>
            <a:r>
              <a:rPr kumimoji="1" lang="en-US" altLang="ja-JP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39386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Template with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055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ec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9"/>
          <p:cNvSpPr>
            <a:spLocks noChangeShapeType="1"/>
          </p:cNvSpPr>
          <p:nvPr userDrawn="1"/>
        </p:nvSpPr>
        <p:spPr bwMode="auto">
          <a:xfrm>
            <a:off x="407989" y="1614578"/>
            <a:ext cx="1137602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8" name="タイトル 1"/>
          <p:cNvSpPr txBox="1">
            <a:spLocks/>
          </p:cNvSpPr>
          <p:nvPr userDrawn="1"/>
        </p:nvSpPr>
        <p:spPr>
          <a:xfrm>
            <a:off x="263525" y="188914"/>
            <a:ext cx="4142481" cy="58477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16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3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45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61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Nissan Pro Bold" panose="02000803050000020004" pitchFamily="50" charset="0"/>
              </a:rPr>
              <a:t>Today’s Expectation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33011" y="6563989"/>
            <a:ext cx="925983" cy="209354"/>
          </a:xfrm>
          <a:prstGeom prst="rect">
            <a:avLst/>
          </a:prstGeom>
        </p:spPr>
      </p:pic>
      <p:sp>
        <p:nvSpPr>
          <p:cNvPr id="10" name="Text Box 25"/>
          <p:cNvSpPr txBox="1">
            <a:spLocks noChangeArrowheads="1"/>
          </p:cNvSpPr>
          <p:nvPr userDrawn="1"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685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37602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918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>
                <a:latin typeface="Nissan Pro Bold" panose="02000803050000020004" pitchFamily="50" charset="0"/>
              </a:defRPr>
            </a:lvl1pPr>
          </a:lstStyle>
          <a:p>
            <a:pPr lvl="0"/>
            <a:r>
              <a:rPr kumimoji="1" lang="en-US" altLang="ja-JP" dirty="0"/>
              <a:t>Title, Nissan Pro Bold 32pt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Title, Nissan Pro Regular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latin typeface="Nissan Pro Regular" panose="02000503030000020003" pitchFamily="50" charset="0"/>
              </a:defRPr>
            </a:lvl1pPr>
          </a:lstStyle>
          <a:p>
            <a:pPr lvl="0"/>
            <a:r>
              <a:rPr kumimoji="1" lang="en-US" altLang="ja-JP" dirty="0"/>
              <a:t>Body Text, Nissan Pro Regular 18pt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9879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19" userDrawn="1">
          <p15:clr>
            <a:srgbClr val="FBAE40"/>
          </p15:clr>
        </p15:guide>
        <p15:guide id="5" orient="horz" pos="61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正方形/長方形 5"/>
          <p:cNvSpPr/>
          <p:nvPr userDrawn="1"/>
        </p:nvSpPr>
        <p:spPr>
          <a:xfrm flipH="1">
            <a:off x="-1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4" name="図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427111" y="1635979"/>
            <a:ext cx="3337777" cy="754632"/>
          </a:xfrm>
          <a:prstGeom prst="rect">
            <a:avLst/>
          </a:prstGeom>
        </p:spPr>
      </p:pic>
      <p:sp>
        <p:nvSpPr>
          <p:cNvPr id="7" name="Alliance_Labeling"/>
          <p:cNvSpPr txBox="1"/>
          <p:nvPr userDrawn="1"/>
        </p:nvSpPr>
        <p:spPr>
          <a:xfrm>
            <a:off x="10338964" y="6605004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70" r:id="rId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16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3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45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61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11" indent="-342911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75" indent="-285759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38" indent="-228608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53" indent="-228608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69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83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99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114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330" indent="-228608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6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5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1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7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1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7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2" algn="l" defTabSz="91443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userDrawn="1">
          <p15:clr>
            <a:srgbClr val="F26B43"/>
          </p15:clr>
        </p15:guide>
        <p15:guide id="6" pos="7680" userDrawn="1">
          <p15:clr>
            <a:srgbClr val="F26B43"/>
          </p15:clr>
        </p15:guide>
        <p15:guide id="7" pos="325" userDrawn="1">
          <p15:clr>
            <a:srgbClr val="F26B43"/>
          </p15:clr>
        </p15:guide>
        <p15:guide id="8" pos="735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b="55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ysClr val="window" lastClr="FFFFFF">
                  <a:lumMod val="95000"/>
                  <a:alpha val="0"/>
                </a:sysClr>
              </a:gs>
              <a:gs pos="100000">
                <a:srgbClr val="B3B5B5">
                  <a:lumMod val="23000"/>
                  <a:lumOff val="77000"/>
                </a:srgbClr>
              </a:gs>
            </a:gsLst>
            <a:lin ang="36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" name="Alliance_Labeling"/>
          <p:cNvSpPr txBox="1"/>
          <p:nvPr userDrawn="1"/>
        </p:nvSpPr>
        <p:spPr>
          <a:xfrm>
            <a:off x="10124688" y="6571294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4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011" y="6563989"/>
            <a:ext cx="925983" cy="209354"/>
          </a:xfrm>
          <a:prstGeom prst="rect">
            <a:avLst/>
          </a:prstGeom>
        </p:spPr>
      </p:pic>
      <p:sp>
        <p:nvSpPr>
          <p:cNvPr id="16" name="Text Box 25"/>
          <p:cNvSpPr txBox="1">
            <a:spLocks noChangeArrowheads="1"/>
          </p:cNvSpPr>
          <p:nvPr/>
        </p:nvSpPr>
        <p:spPr bwMode="gray">
          <a:xfrm>
            <a:off x="339642" y="6538771"/>
            <a:ext cx="64702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CC33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chemeClr val="tx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>
              <a:defRPr/>
            </a:pPr>
            <a:fld id="{BE0D9DC2-A27A-4EFB-883B-E13F148AC0E4}" type="slidenum">
              <a:rPr kumimoji="0" lang="en-US" altLang="ja-JP" sz="1200">
                <a:solidFill>
                  <a:srgbClr val="808080"/>
                </a:solidFill>
                <a:latin typeface="Nissan Pro Regular" panose="02000503030000020003" pitchFamily="50" charset="0"/>
                <a:ea typeface="Verdana" panose="020B0604030504040204" pitchFamily="34" charset="0"/>
                <a:cs typeface="Verdana" panose="020B0604030504040204" pitchFamily="34" charset="0"/>
              </a:rPr>
              <a:pPr>
                <a:defRPr/>
              </a:pPr>
              <a:t>‹#›</a:t>
            </a:fld>
            <a:endParaRPr kumimoji="0" lang="en-US" altLang="ja-JP" sz="1200" dirty="0">
              <a:solidFill>
                <a:srgbClr val="808080"/>
              </a:solidFill>
              <a:latin typeface="Nissan Pro Regular" panose="02000503030000020003" pitchFamily="50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Alliance_Labeling"/>
          <p:cNvSpPr txBox="1"/>
          <p:nvPr userDrawn="1"/>
        </p:nvSpPr>
        <p:spPr>
          <a:xfrm>
            <a:off x="10358015" y="6589179"/>
            <a:ext cx="1128048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000" b="0" dirty="0">
                <a:solidFill>
                  <a:srgbClr val="000000"/>
                </a:solidFill>
                <a:latin typeface="Verdana" panose="020B0604030504040204" pitchFamily="34" charset="0"/>
              </a:rPr>
              <a:t>Nissan Internal</a:t>
            </a:r>
            <a:endParaRPr kumimoji="1" lang="ja-JP" altLang="en-US" sz="1000" b="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図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4588" y="173410"/>
            <a:ext cx="1739432" cy="61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6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1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ja-JP" dirty="0"/>
              <a:t>Engineering Documents (ED) O</a:t>
            </a:r>
            <a:r>
              <a:rPr lang="en-US" altLang="ja-JP" dirty="0"/>
              <a:t>ther Functions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RNTBCI EDMS AMO Team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805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0BD8-344D-9F6A-B330-8D9A3140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9BC14B1-BD1C-F9D6-642A-61722ECDC023}"/>
              </a:ext>
            </a:extLst>
          </p:cNvPr>
          <p:cNvSpPr txBox="1"/>
          <p:nvPr/>
        </p:nvSpPr>
        <p:spPr>
          <a:xfrm>
            <a:off x="161952" y="773145"/>
            <a:ext cx="11083648" cy="373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25"/>
              </a:spcBef>
              <a:spcAft>
                <a:spcPts val="0"/>
              </a:spcAft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1.Revise Document Version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  <a:spcAft>
                <a:spcPts val="0"/>
              </a:spcAft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2.Edit Document attribute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  <a:spcAft>
                <a:spcPts val="0"/>
              </a:spcAft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3.Edit attribute of attachment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  <a:spcAft>
                <a:spcPts val="0"/>
              </a:spcAft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4.Replace/Remove attachment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  <a:spcAft>
                <a:spcPts val="0"/>
              </a:spcAft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5</a:t>
            </a: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.Download attachment of </a:t>
            </a: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Document</a:t>
            </a:r>
          </a:p>
          <a:p>
            <a:pPr>
              <a:spcBef>
                <a:spcPts val="325"/>
              </a:spcBef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6.Delete Document / Attachment file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7.URL Share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8.Recently Viewed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9.Favorite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</a:pPr>
            <a:r>
              <a:rPr lang="en-US" altLang="ja-JP" sz="1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  <a:hlinkClick r:id="rId2" action="ppaction://hlinksldjump"/>
              </a:rPr>
              <a:t>10. EDMS RL Analytics (For IS/IT, Biz Admin)</a:t>
            </a:r>
            <a:endParaRPr lang="en-US" altLang="ja-JP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spcBef>
                <a:spcPts val="325"/>
              </a:spcBef>
            </a:pPr>
            <a:endParaRPr lang="ja-JP" altLang="en-US" sz="1400" dirty="0">
              <a:solidFill>
                <a:srgbClr val="0000FF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R="6239510" lvl="0">
              <a:spcBef>
                <a:spcPts val="195"/>
              </a:spcBef>
              <a:spcAft>
                <a:spcPts val="0"/>
              </a:spcAft>
              <a:buClr>
                <a:srgbClr val="0562C1"/>
              </a:buClr>
              <a:tabLst>
                <a:tab pos="279400" algn="l"/>
              </a:tabLst>
            </a:pPr>
            <a:endParaRPr lang="en-US" sz="1400" b="1" u="sng" dirty="0">
              <a:solidFill>
                <a:srgbClr val="0070C0"/>
              </a:solidFill>
              <a:effectLst/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br>
              <a:rPr lang="en-US" sz="1400" u="none" strike="noStrike" dirty="0">
                <a:solidFill>
                  <a:srgbClr val="0070C0"/>
                </a:solidFill>
                <a:effectLst/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</a:br>
            <a:br>
              <a:rPr lang="en-IN" altLang="ja-JP" sz="1400" dirty="0">
                <a:solidFill>
                  <a:srgbClr val="0070C0"/>
                </a:solidFill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ea typeface="Meiryo" panose="020B0604030504040204" pitchFamily="34" charset="-128"/>
                <a:cs typeface="Arial" panose="020B0604020202020204" pitchFamily="34" charset="0"/>
              </a:rPr>
            </a:br>
            <a:endParaRPr lang="en-IN" altLang="ja-JP" sz="1400" dirty="0">
              <a:solidFill>
                <a:srgbClr val="0070C0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1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B08EC059-4F38-C0E7-1954-30E3AE028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991" y="1767088"/>
            <a:ext cx="5676129" cy="173449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1334805-DAFA-5758-DC22-2E8FD824A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69" y="1943100"/>
            <a:ext cx="6390812" cy="291288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4B7EA0D1-1E76-CCC9-1824-438ED9814A3B}"/>
              </a:ext>
            </a:extLst>
          </p:cNvPr>
          <p:cNvSpPr txBox="1">
            <a:spLocks/>
          </p:cNvSpPr>
          <p:nvPr/>
        </p:nvSpPr>
        <p:spPr>
          <a:xfrm>
            <a:off x="0" y="-18288"/>
            <a:ext cx="9753600" cy="5365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Verdana" pitchFamily="34" charset="0"/>
                <a:ea typeface="+mj-ea"/>
                <a:cs typeface="Verdana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100">
                <a:solidFill>
                  <a:srgbClr val="000000"/>
                </a:solidFill>
                <a:latin typeface="NissanAG-Medium" pitchFamily="50" charset="0"/>
                <a:ea typeface="ＭＳ Ｐゴシック" charset="-128"/>
              </a:defRPr>
            </a:lvl9pPr>
          </a:lstStyle>
          <a:p>
            <a:r>
              <a:rPr lang="en-US" altLang="ja-JP" sz="4400" dirty="0">
                <a:solidFill>
                  <a:schemeClr val="tx1"/>
                </a:solidFill>
                <a:latin typeface="+mj-lt"/>
                <a:cs typeface="+mj-cs"/>
              </a:rPr>
              <a:t>1.Revise Document Version</a:t>
            </a:r>
            <a:endParaRPr lang="ja-JP" altLang="en-US" sz="4400" dirty="0">
              <a:solidFill>
                <a:schemeClr val="tx1"/>
              </a:solidFill>
              <a:latin typeface="+mj-lt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33DB4-CC38-EFF3-96DF-2F449ACCF273}"/>
              </a:ext>
            </a:extLst>
          </p:cNvPr>
          <p:cNvSpPr txBox="1"/>
          <p:nvPr/>
        </p:nvSpPr>
        <p:spPr>
          <a:xfrm>
            <a:off x="0" y="804913"/>
            <a:ext cx="116296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You can update version of Document from 0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→１→２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… as below steps.</a:t>
            </a:r>
          </a:p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※Condition to update version: Status of latest version is [Issued]. </a:t>
            </a:r>
          </a:p>
          <a:p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※ Author of the document set can only revise the issued document set.</a:t>
            </a:r>
          </a:p>
          <a:p>
            <a:endParaRPr lang="en-IN" sz="14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9" name="吹き出し: 角を丸めた四角形 11">
            <a:extLst>
              <a:ext uri="{FF2B5EF4-FFF2-40B4-BE49-F238E27FC236}">
                <a16:creationId xmlns:a16="http://schemas.microsoft.com/office/drawing/2014/main" id="{CF657778-1EF4-BD1E-20EA-65D7A22EE52C}"/>
              </a:ext>
            </a:extLst>
          </p:cNvPr>
          <p:cNvSpPr/>
          <p:nvPr/>
        </p:nvSpPr>
        <p:spPr bwMode="auto">
          <a:xfrm>
            <a:off x="10272434" y="3863608"/>
            <a:ext cx="1809750" cy="2360583"/>
          </a:xfrm>
          <a:prstGeom prst="wedgeRoundRectCallout">
            <a:avLst>
              <a:gd name="adj1" fmla="val 36507"/>
              <a:gd name="adj2" fmla="val -81497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0" name="吹き出し: 角を丸めた四角形 12">
            <a:extLst>
              <a:ext uri="{FF2B5EF4-FFF2-40B4-BE49-F238E27FC236}">
                <a16:creationId xmlns:a16="http://schemas.microsoft.com/office/drawing/2014/main" id="{D33D6967-7E0D-B8C6-A335-8B749735DE37}"/>
              </a:ext>
            </a:extLst>
          </p:cNvPr>
          <p:cNvSpPr/>
          <p:nvPr/>
        </p:nvSpPr>
        <p:spPr bwMode="auto">
          <a:xfrm>
            <a:off x="11622024" y="2780021"/>
            <a:ext cx="360037" cy="296554"/>
          </a:xfrm>
          <a:prstGeom prst="wedgeRoundRectCallout">
            <a:avLst>
              <a:gd name="adj1" fmla="val 49424"/>
              <a:gd name="adj2" fmla="val 19340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3" name="正方形/長方形 13">
            <a:extLst>
              <a:ext uri="{FF2B5EF4-FFF2-40B4-BE49-F238E27FC236}">
                <a16:creationId xmlns:a16="http://schemas.microsoft.com/office/drawing/2014/main" id="{F58A5A52-B661-5267-0A03-58BC28B880E3}"/>
              </a:ext>
            </a:extLst>
          </p:cNvPr>
          <p:cNvSpPr/>
          <p:nvPr/>
        </p:nvSpPr>
        <p:spPr bwMode="auto">
          <a:xfrm>
            <a:off x="237287" y="2180953"/>
            <a:ext cx="414994" cy="37843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4" name="正方形/長方形 14">
            <a:extLst>
              <a:ext uri="{FF2B5EF4-FFF2-40B4-BE49-F238E27FC236}">
                <a16:creationId xmlns:a16="http://schemas.microsoft.com/office/drawing/2014/main" id="{4BEF259D-CB35-D572-5308-1B93D2BAE329}"/>
              </a:ext>
            </a:extLst>
          </p:cNvPr>
          <p:cNvSpPr/>
          <p:nvPr/>
        </p:nvSpPr>
        <p:spPr bwMode="auto">
          <a:xfrm>
            <a:off x="954044" y="4657355"/>
            <a:ext cx="2186644" cy="29775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25C70CA-5512-D6C5-E244-55AC4D7CB1DD}"/>
              </a:ext>
            </a:extLst>
          </p:cNvPr>
          <p:cNvSpPr/>
          <p:nvPr/>
        </p:nvSpPr>
        <p:spPr bwMode="auto">
          <a:xfrm>
            <a:off x="6777083" y="2058730"/>
            <a:ext cx="390298" cy="28158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20" name="正方形/長方形 16">
            <a:extLst>
              <a:ext uri="{FF2B5EF4-FFF2-40B4-BE49-F238E27FC236}">
                <a16:creationId xmlns:a16="http://schemas.microsoft.com/office/drawing/2014/main" id="{16FD2788-8355-247E-8A23-546A6AB8375A}"/>
              </a:ext>
            </a:extLst>
          </p:cNvPr>
          <p:cNvSpPr/>
          <p:nvPr/>
        </p:nvSpPr>
        <p:spPr bwMode="auto">
          <a:xfrm>
            <a:off x="6569568" y="2777840"/>
            <a:ext cx="4955682" cy="86617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22" name="テキスト ボックス 17">
            <a:extLst>
              <a:ext uri="{FF2B5EF4-FFF2-40B4-BE49-F238E27FC236}">
                <a16:creationId xmlns:a16="http://schemas.microsoft.com/office/drawing/2014/main" id="{AAF74E1D-CC0E-5BF1-330F-2EA08DB7BA15}"/>
              </a:ext>
            </a:extLst>
          </p:cNvPr>
          <p:cNvSpPr txBox="1"/>
          <p:nvPr/>
        </p:nvSpPr>
        <p:spPr>
          <a:xfrm>
            <a:off x="615490" y="2420889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正方形/長方形 18">
            <a:extLst>
              <a:ext uri="{FF2B5EF4-FFF2-40B4-BE49-F238E27FC236}">
                <a16:creationId xmlns:a16="http://schemas.microsoft.com/office/drawing/2014/main" id="{61BFAFC0-E3F2-6EE4-A5FF-75A540442EBB}"/>
              </a:ext>
            </a:extLst>
          </p:cNvPr>
          <p:cNvSpPr/>
          <p:nvPr/>
        </p:nvSpPr>
        <p:spPr>
          <a:xfrm>
            <a:off x="886878" y="2440502"/>
            <a:ext cx="1689453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Click [View] Tab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正方形/長方形 19">
            <a:extLst>
              <a:ext uri="{FF2B5EF4-FFF2-40B4-BE49-F238E27FC236}">
                <a16:creationId xmlns:a16="http://schemas.microsoft.com/office/drawing/2014/main" id="{BF37E6DA-8CC7-36A0-8437-E17B6AC5BEA3}"/>
              </a:ext>
            </a:extLst>
          </p:cNvPr>
          <p:cNvSpPr/>
          <p:nvPr/>
        </p:nvSpPr>
        <p:spPr>
          <a:xfrm>
            <a:off x="1069398" y="5230882"/>
            <a:ext cx="2186644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Confirm Status is [Issued]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テキスト ボックス 20">
            <a:extLst>
              <a:ext uri="{FF2B5EF4-FFF2-40B4-BE49-F238E27FC236}">
                <a16:creationId xmlns:a16="http://schemas.microsoft.com/office/drawing/2014/main" id="{CB5D2EED-4B85-94BA-9D57-EDB20984A299}"/>
              </a:ext>
            </a:extLst>
          </p:cNvPr>
          <p:cNvSpPr txBox="1"/>
          <p:nvPr/>
        </p:nvSpPr>
        <p:spPr>
          <a:xfrm>
            <a:off x="2047366" y="4302652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" name="テキスト ボックス 21">
            <a:extLst>
              <a:ext uri="{FF2B5EF4-FFF2-40B4-BE49-F238E27FC236}">
                <a16:creationId xmlns:a16="http://schemas.microsoft.com/office/drawing/2014/main" id="{0D3B0A40-2F04-E50D-0DBC-5F8E0C36F686}"/>
              </a:ext>
            </a:extLst>
          </p:cNvPr>
          <p:cNvSpPr txBox="1"/>
          <p:nvPr/>
        </p:nvSpPr>
        <p:spPr>
          <a:xfrm>
            <a:off x="7145294" y="2231671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1" name="正方形/長方形 22">
            <a:extLst>
              <a:ext uri="{FF2B5EF4-FFF2-40B4-BE49-F238E27FC236}">
                <a16:creationId xmlns:a16="http://schemas.microsoft.com/office/drawing/2014/main" id="{3EF36DF6-700A-4E72-C8D8-D3F056EADE9B}"/>
              </a:ext>
            </a:extLst>
          </p:cNvPr>
          <p:cNvSpPr/>
          <p:nvPr/>
        </p:nvSpPr>
        <p:spPr>
          <a:xfrm>
            <a:off x="7416593" y="2285793"/>
            <a:ext cx="1927432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[Revisions] tab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テキスト ボックス 23">
            <a:extLst>
              <a:ext uri="{FF2B5EF4-FFF2-40B4-BE49-F238E27FC236}">
                <a16:creationId xmlns:a16="http://schemas.microsoft.com/office/drawing/2014/main" id="{435A4E74-4DED-C347-56B3-E199EE9074C7}"/>
              </a:ext>
            </a:extLst>
          </p:cNvPr>
          <p:cNvSpPr txBox="1"/>
          <p:nvPr/>
        </p:nvSpPr>
        <p:spPr>
          <a:xfrm>
            <a:off x="6649994" y="3589894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3" name="正方形/長方形 24">
            <a:extLst>
              <a:ext uri="{FF2B5EF4-FFF2-40B4-BE49-F238E27FC236}">
                <a16:creationId xmlns:a16="http://schemas.microsoft.com/office/drawing/2014/main" id="{1A687C40-576C-25E3-E935-3B9FDFBFE02C}"/>
              </a:ext>
            </a:extLst>
          </p:cNvPr>
          <p:cNvSpPr/>
          <p:nvPr/>
        </p:nvSpPr>
        <p:spPr>
          <a:xfrm>
            <a:off x="6921293" y="3644016"/>
            <a:ext cx="2332063" cy="600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Confirm that target document is the latest version and status is [</a:t>
            </a:r>
            <a:r>
              <a: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Issued]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四角形吹き出し 40">
            <a:extLst>
              <a:ext uri="{FF2B5EF4-FFF2-40B4-BE49-F238E27FC236}">
                <a16:creationId xmlns:a16="http://schemas.microsoft.com/office/drawing/2014/main" id="{96C23221-9C24-2387-D586-CCCA0B35B427}"/>
              </a:ext>
            </a:extLst>
          </p:cNvPr>
          <p:cNvSpPr/>
          <p:nvPr/>
        </p:nvSpPr>
        <p:spPr>
          <a:xfrm>
            <a:off x="7846002" y="4548787"/>
            <a:ext cx="1809750" cy="1017859"/>
          </a:xfrm>
          <a:prstGeom prst="wedgeRectCallout">
            <a:avLst>
              <a:gd name="adj1" fmla="val 151439"/>
              <a:gd name="adj2" fmla="val -195938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If [Revisions] +[State] column are not displayed, you can click on this icon in right side and check ON target column to show</a:t>
            </a:r>
            <a:endParaRPr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5" name="図 30">
            <a:extLst>
              <a:ext uri="{FF2B5EF4-FFF2-40B4-BE49-F238E27FC236}">
                <a16:creationId xmlns:a16="http://schemas.microsoft.com/office/drawing/2014/main" id="{7F8039E5-E43D-2D3F-FEBC-E9DCDB978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9906" y="4031058"/>
            <a:ext cx="1554807" cy="184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30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336F2694-03B8-3974-5681-05466989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068" y="3004098"/>
            <a:ext cx="3036663" cy="2954591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BBDBF8AD-8E80-E38B-9EAE-C1D5D4E360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4" r="16535"/>
          <a:stretch/>
        </p:blipFill>
        <p:spPr>
          <a:xfrm>
            <a:off x="6689999" y="3198864"/>
            <a:ext cx="2301010" cy="304422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592DF07-DAD3-86B2-5823-5B218EA22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79" y="1527958"/>
            <a:ext cx="6310195" cy="3199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2E6D1B-6332-68EC-2642-5610D478F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1.Revise Document Version</a:t>
            </a:r>
            <a:endParaRPr lang="en-IN" dirty="0"/>
          </a:p>
        </p:txBody>
      </p:sp>
      <p:sp>
        <p:nvSpPr>
          <p:cNvPr id="3" name="テキスト ボックス 3">
            <a:extLst>
              <a:ext uri="{FF2B5EF4-FFF2-40B4-BE49-F238E27FC236}">
                <a16:creationId xmlns:a16="http://schemas.microsoft.com/office/drawing/2014/main" id="{0F88B4C1-08CC-686B-50AB-F1F2381A6A55}"/>
              </a:ext>
            </a:extLst>
          </p:cNvPr>
          <p:cNvSpPr txBox="1"/>
          <p:nvPr/>
        </p:nvSpPr>
        <p:spPr>
          <a:xfrm>
            <a:off x="-1" y="786497"/>
            <a:ext cx="1033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Step 2: </a:t>
            </a:r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Select [Create a new revision] icon on top right cornet to revise as below steps</a:t>
            </a:r>
          </a:p>
        </p:txBody>
      </p:sp>
      <p:pic>
        <p:nvPicPr>
          <p:cNvPr id="7" name="図 12">
            <a:extLst>
              <a:ext uri="{FF2B5EF4-FFF2-40B4-BE49-F238E27FC236}">
                <a16:creationId xmlns:a16="http://schemas.microsoft.com/office/drawing/2014/main" id="{31385856-0277-0D4D-C697-E81764481C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478" y="1547892"/>
            <a:ext cx="3625521" cy="1133929"/>
          </a:xfrm>
          <a:prstGeom prst="rect">
            <a:avLst/>
          </a:prstGeom>
        </p:spPr>
      </p:pic>
      <p:sp>
        <p:nvSpPr>
          <p:cNvPr id="9" name="矢印: 右 14">
            <a:extLst>
              <a:ext uri="{FF2B5EF4-FFF2-40B4-BE49-F238E27FC236}">
                <a16:creationId xmlns:a16="http://schemas.microsoft.com/office/drawing/2014/main" id="{B0A5F563-99BC-22FF-372A-2D978EE53193}"/>
              </a:ext>
            </a:extLst>
          </p:cNvPr>
          <p:cNvSpPr/>
          <p:nvPr/>
        </p:nvSpPr>
        <p:spPr bwMode="auto">
          <a:xfrm>
            <a:off x="5543320" y="2099422"/>
            <a:ext cx="619587" cy="6858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0" name="矢印: 右 15">
            <a:extLst>
              <a:ext uri="{FF2B5EF4-FFF2-40B4-BE49-F238E27FC236}">
                <a16:creationId xmlns:a16="http://schemas.microsoft.com/office/drawing/2014/main" id="{9D076EE6-975A-DEB8-30B2-904C538A3B16}"/>
              </a:ext>
            </a:extLst>
          </p:cNvPr>
          <p:cNvSpPr/>
          <p:nvPr/>
        </p:nvSpPr>
        <p:spPr bwMode="auto">
          <a:xfrm rot="5400000">
            <a:off x="7564782" y="2841603"/>
            <a:ext cx="619587" cy="6858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矢印: 右 16">
            <a:extLst>
              <a:ext uri="{FF2B5EF4-FFF2-40B4-BE49-F238E27FC236}">
                <a16:creationId xmlns:a16="http://schemas.microsoft.com/office/drawing/2014/main" id="{932C33EA-C27B-C84E-1C72-8894FCA48BB4}"/>
              </a:ext>
            </a:extLst>
          </p:cNvPr>
          <p:cNvSpPr/>
          <p:nvPr/>
        </p:nvSpPr>
        <p:spPr bwMode="auto">
          <a:xfrm>
            <a:off x="8362143" y="4335298"/>
            <a:ext cx="619587" cy="6858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2" name="正方形/長方形 17">
            <a:extLst>
              <a:ext uri="{FF2B5EF4-FFF2-40B4-BE49-F238E27FC236}">
                <a16:creationId xmlns:a16="http://schemas.microsoft.com/office/drawing/2014/main" id="{A9BEEFA7-FD92-863D-1258-D5E334E5884F}"/>
              </a:ext>
            </a:extLst>
          </p:cNvPr>
          <p:cNvSpPr/>
          <p:nvPr/>
        </p:nvSpPr>
        <p:spPr bwMode="auto">
          <a:xfrm>
            <a:off x="4745520" y="1517965"/>
            <a:ext cx="338554" cy="29799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3" name="正方形/長方形 18">
            <a:extLst>
              <a:ext uri="{FF2B5EF4-FFF2-40B4-BE49-F238E27FC236}">
                <a16:creationId xmlns:a16="http://schemas.microsoft.com/office/drawing/2014/main" id="{E9068B88-6069-930D-D238-B1896BAEE425}"/>
              </a:ext>
            </a:extLst>
          </p:cNvPr>
          <p:cNvSpPr/>
          <p:nvPr/>
        </p:nvSpPr>
        <p:spPr bwMode="auto">
          <a:xfrm>
            <a:off x="6381478" y="1399693"/>
            <a:ext cx="3625521" cy="138552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4" name="正方形/長方形 19">
            <a:extLst>
              <a:ext uri="{FF2B5EF4-FFF2-40B4-BE49-F238E27FC236}">
                <a16:creationId xmlns:a16="http://schemas.microsoft.com/office/drawing/2014/main" id="{ACCEF2D4-ACE8-5099-E68C-F50FA15C2649}"/>
              </a:ext>
            </a:extLst>
          </p:cNvPr>
          <p:cNvSpPr/>
          <p:nvPr/>
        </p:nvSpPr>
        <p:spPr bwMode="auto">
          <a:xfrm>
            <a:off x="6534924" y="5833574"/>
            <a:ext cx="2121950" cy="42936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5" name="正方形/長方形 20">
            <a:extLst>
              <a:ext uri="{FF2B5EF4-FFF2-40B4-BE49-F238E27FC236}">
                <a16:creationId xmlns:a16="http://schemas.microsoft.com/office/drawing/2014/main" id="{14F68204-9E57-8ADB-F71D-FFED1A4482D0}"/>
              </a:ext>
            </a:extLst>
          </p:cNvPr>
          <p:cNvSpPr/>
          <p:nvPr/>
        </p:nvSpPr>
        <p:spPr bwMode="auto">
          <a:xfrm>
            <a:off x="9106146" y="4132536"/>
            <a:ext cx="2117932" cy="76944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6" name="テキスト ボックス 21">
            <a:extLst>
              <a:ext uri="{FF2B5EF4-FFF2-40B4-BE49-F238E27FC236}">
                <a16:creationId xmlns:a16="http://schemas.microsoft.com/office/drawing/2014/main" id="{36672592-3282-F239-DC4A-98A64767CEA5}"/>
              </a:ext>
            </a:extLst>
          </p:cNvPr>
          <p:cNvSpPr txBox="1"/>
          <p:nvPr/>
        </p:nvSpPr>
        <p:spPr>
          <a:xfrm>
            <a:off x="4699711" y="1837857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7" name="正方形/長方形 22">
            <a:extLst>
              <a:ext uri="{FF2B5EF4-FFF2-40B4-BE49-F238E27FC236}">
                <a16:creationId xmlns:a16="http://schemas.microsoft.com/office/drawing/2014/main" id="{D0229079-67FC-36FE-B871-B726773C0084}"/>
              </a:ext>
            </a:extLst>
          </p:cNvPr>
          <p:cNvSpPr/>
          <p:nvPr/>
        </p:nvSpPr>
        <p:spPr>
          <a:xfrm>
            <a:off x="3520347" y="2092457"/>
            <a:ext cx="1851021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ja-JP" altLang="en-US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latin typeface="Meiryo UI" panose="020B0604030504040204" pitchFamily="50" charset="-128"/>
                <a:ea typeface="Meiryo UI" panose="020B0604030504040204" pitchFamily="50" charset="-128"/>
              </a:rPr>
              <a:t>Click [Create a new revision] icon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23">
            <a:extLst>
              <a:ext uri="{FF2B5EF4-FFF2-40B4-BE49-F238E27FC236}">
                <a16:creationId xmlns:a16="http://schemas.microsoft.com/office/drawing/2014/main" id="{B8739C02-41A5-23FB-6271-403B34A8292E}"/>
              </a:ext>
            </a:extLst>
          </p:cNvPr>
          <p:cNvSpPr/>
          <p:nvPr/>
        </p:nvSpPr>
        <p:spPr>
          <a:xfrm>
            <a:off x="9546024" y="1899714"/>
            <a:ext cx="1851021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　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Pop-up message appears. Click [OK]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24">
            <a:extLst>
              <a:ext uri="{FF2B5EF4-FFF2-40B4-BE49-F238E27FC236}">
                <a16:creationId xmlns:a16="http://schemas.microsoft.com/office/drawing/2014/main" id="{3FB13ABE-1686-3C4F-CD57-3C7F0ED206BB}"/>
              </a:ext>
            </a:extLst>
          </p:cNvPr>
          <p:cNvSpPr txBox="1"/>
          <p:nvPr/>
        </p:nvSpPr>
        <p:spPr>
          <a:xfrm>
            <a:off x="10132980" y="4907113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正方形/長方形 25">
            <a:extLst>
              <a:ext uri="{FF2B5EF4-FFF2-40B4-BE49-F238E27FC236}">
                <a16:creationId xmlns:a16="http://schemas.microsoft.com/office/drawing/2014/main" id="{8CC496CE-D3FB-1F10-8FC7-398BEE41B570}"/>
              </a:ext>
            </a:extLst>
          </p:cNvPr>
          <p:cNvSpPr/>
          <p:nvPr/>
        </p:nvSpPr>
        <p:spPr>
          <a:xfrm>
            <a:off x="4617809" y="5734050"/>
            <a:ext cx="1851021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　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Confirm message [New revision created] shown in bottom left corner.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6">
            <a:extLst>
              <a:ext uri="{FF2B5EF4-FFF2-40B4-BE49-F238E27FC236}">
                <a16:creationId xmlns:a16="http://schemas.microsoft.com/office/drawing/2014/main" id="{54C624C6-9CCB-6D0C-25EF-FE6B42992C08}"/>
              </a:ext>
            </a:extLst>
          </p:cNvPr>
          <p:cNvSpPr txBox="1"/>
          <p:nvPr/>
        </p:nvSpPr>
        <p:spPr>
          <a:xfrm>
            <a:off x="6277237" y="5452834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endParaRPr lang="en-US" altLang="ja-JP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正方形/長方形 27">
            <a:extLst>
              <a:ext uri="{FF2B5EF4-FFF2-40B4-BE49-F238E27FC236}">
                <a16:creationId xmlns:a16="http://schemas.microsoft.com/office/drawing/2014/main" id="{028038F3-597D-D91F-5A15-290572BF7CA5}"/>
              </a:ext>
            </a:extLst>
          </p:cNvPr>
          <p:cNvSpPr/>
          <p:nvPr/>
        </p:nvSpPr>
        <p:spPr>
          <a:xfrm>
            <a:off x="10374904" y="5826561"/>
            <a:ext cx="1851021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④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Confirm status of revised report is [Draft] and [Revision] is changed.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8">
            <a:extLst>
              <a:ext uri="{FF2B5EF4-FFF2-40B4-BE49-F238E27FC236}">
                <a16:creationId xmlns:a16="http://schemas.microsoft.com/office/drawing/2014/main" id="{2138D9E1-C2D0-925E-AFC9-F36B79263DBF}"/>
              </a:ext>
            </a:extLst>
          </p:cNvPr>
          <p:cNvSpPr txBox="1"/>
          <p:nvPr/>
        </p:nvSpPr>
        <p:spPr>
          <a:xfrm>
            <a:off x="9259752" y="2063243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886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7FB6590-68F7-FC15-9FC1-AF8B6E5E2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9" y="2523348"/>
            <a:ext cx="6688327" cy="2002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BAABB0-800F-52AA-DEA8-36E84FD30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2.Edit Document attribute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01D47-BDA2-8294-BAE5-4A273DAF1A24}"/>
              </a:ext>
            </a:extLst>
          </p:cNvPr>
          <p:cNvSpPr txBox="1"/>
          <p:nvPr/>
        </p:nvSpPr>
        <p:spPr>
          <a:xfrm>
            <a:off x="0" y="676544"/>
            <a:ext cx="11506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You can edit attributes of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document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 you registered as below steps.</a:t>
            </a: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※Condition to edit: Status of target document is [Draft]</a:t>
            </a: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※Author can only edit the document attribute.</a:t>
            </a:r>
          </a:p>
          <a:p>
            <a:endParaRPr lang="en-US" altLang="ja-JP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11">
            <a:extLst>
              <a:ext uri="{FF2B5EF4-FFF2-40B4-BE49-F238E27FC236}">
                <a16:creationId xmlns:a16="http://schemas.microsoft.com/office/drawing/2014/main" id="{A666AA71-B57A-3314-23F3-D81813A62675}"/>
              </a:ext>
            </a:extLst>
          </p:cNvPr>
          <p:cNvSpPr/>
          <p:nvPr/>
        </p:nvSpPr>
        <p:spPr bwMode="auto">
          <a:xfrm>
            <a:off x="5403741" y="2548131"/>
            <a:ext cx="262594" cy="36651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8" name="テキスト ボックス 12">
            <a:extLst>
              <a:ext uri="{FF2B5EF4-FFF2-40B4-BE49-F238E27FC236}">
                <a16:creationId xmlns:a16="http://schemas.microsoft.com/office/drawing/2014/main" id="{D4BF35D0-5CA6-BC67-7880-EEBEF39C1C74}"/>
              </a:ext>
            </a:extLst>
          </p:cNvPr>
          <p:cNvSpPr txBox="1"/>
          <p:nvPr/>
        </p:nvSpPr>
        <p:spPr>
          <a:xfrm>
            <a:off x="5065186" y="2723867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13">
            <a:extLst>
              <a:ext uri="{FF2B5EF4-FFF2-40B4-BE49-F238E27FC236}">
                <a16:creationId xmlns:a16="http://schemas.microsoft.com/office/drawing/2014/main" id="{79ECBE1A-174D-D2BF-3918-04237720E34D}"/>
              </a:ext>
            </a:extLst>
          </p:cNvPr>
          <p:cNvSpPr/>
          <p:nvPr/>
        </p:nvSpPr>
        <p:spPr>
          <a:xfrm>
            <a:off x="3680371" y="3307317"/>
            <a:ext cx="237172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From icon list on top right corner of Document detail screen, click [Edit document] icon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14">
            <a:extLst>
              <a:ext uri="{FF2B5EF4-FFF2-40B4-BE49-F238E27FC236}">
                <a16:creationId xmlns:a16="http://schemas.microsoft.com/office/drawing/2014/main" id="{4A9EF247-4D98-DA1E-4929-EFAE1C4DB861}"/>
              </a:ext>
            </a:extLst>
          </p:cNvPr>
          <p:cNvSpPr/>
          <p:nvPr/>
        </p:nvSpPr>
        <p:spPr bwMode="auto">
          <a:xfrm>
            <a:off x="7692379" y="1603477"/>
            <a:ext cx="4309121" cy="307927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テキスト ボックス 15">
            <a:extLst>
              <a:ext uri="{FF2B5EF4-FFF2-40B4-BE49-F238E27FC236}">
                <a16:creationId xmlns:a16="http://schemas.microsoft.com/office/drawing/2014/main" id="{7900E078-5A77-BCCD-92DD-575DAF48647F}"/>
              </a:ext>
            </a:extLst>
          </p:cNvPr>
          <p:cNvSpPr txBox="1"/>
          <p:nvPr/>
        </p:nvSpPr>
        <p:spPr>
          <a:xfrm>
            <a:off x="7728881" y="4875392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</a:p>
        </p:txBody>
      </p:sp>
      <p:sp>
        <p:nvSpPr>
          <p:cNvPr id="12" name="正方形/長方形 16">
            <a:extLst>
              <a:ext uri="{FF2B5EF4-FFF2-40B4-BE49-F238E27FC236}">
                <a16:creationId xmlns:a16="http://schemas.microsoft.com/office/drawing/2014/main" id="{0CEC0B6A-A160-3295-4902-76A15F5200C8}"/>
              </a:ext>
            </a:extLst>
          </p:cNvPr>
          <p:cNvSpPr/>
          <p:nvPr/>
        </p:nvSpPr>
        <p:spPr>
          <a:xfrm>
            <a:off x="8067435" y="4875300"/>
            <a:ext cx="2593421" cy="600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Registration screen shows. You can edit target attributes you want and click [Save] button.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矢印: 右 17">
            <a:extLst>
              <a:ext uri="{FF2B5EF4-FFF2-40B4-BE49-F238E27FC236}">
                <a16:creationId xmlns:a16="http://schemas.microsoft.com/office/drawing/2014/main" id="{7FB93D08-43B0-A3EA-9B36-9375540D144D}"/>
              </a:ext>
            </a:extLst>
          </p:cNvPr>
          <p:cNvSpPr/>
          <p:nvPr/>
        </p:nvSpPr>
        <p:spPr bwMode="auto">
          <a:xfrm>
            <a:off x="6918139" y="3099035"/>
            <a:ext cx="619587" cy="685800"/>
          </a:xfrm>
          <a:prstGeom prst="rightArrow">
            <a:avLst/>
          </a:prstGeom>
          <a:solidFill>
            <a:schemeClr val="accent4">
              <a:lumMod val="50000"/>
            </a:schemeClr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pic>
        <p:nvPicPr>
          <p:cNvPr id="14" name="図 19">
            <a:extLst>
              <a:ext uri="{FF2B5EF4-FFF2-40B4-BE49-F238E27FC236}">
                <a16:creationId xmlns:a16="http://schemas.microsoft.com/office/drawing/2014/main" id="{60884951-17F9-E19B-B396-92FAFE4D9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260" y="1666098"/>
            <a:ext cx="4247153" cy="254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96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E607871-E2A7-4FA6-0312-D305E8BA52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11" t="13997" r="3399" b="12500"/>
          <a:stretch/>
        </p:blipFill>
        <p:spPr>
          <a:xfrm>
            <a:off x="6127965" y="1279665"/>
            <a:ext cx="5488838" cy="314360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10AB6D8-8F98-93A9-7419-A2719B026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3" y="1904356"/>
            <a:ext cx="5317354" cy="23701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40207-E92D-07ED-A4C2-6B6696FB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3.Edit attribute of attachment</a:t>
            </a:r>
            <a:endParaRPr lang="en-IN" dirty="0"/>
          </a:p>
        </p:txBody>
      </p:sp>
      <p:sp>
        <p:nvSpPr>
          <p:cNvPr id="3" name="テキスト ボックス 4">
            <a:extLst>
              <a:ext uri="{FF2B5EF4-FFF2-40B4-BE49-F238E27FC236}">
                <a16:creationId xmlns:a16="http://schemas.microsoft.com/office/drawing/2014/main" id="{C6339E37-70C1-C934-0BBC-A1B28D623710}"/>
              </a:ext>
            </a:extLst>
          </p:cNvPr>
          <p:cNvSpPr txBox="1"/>
          <p:nvPr/>
        </p:nvSpPr>
        <p:spPr>
          <a:xfrm>
            <a:off x="66675" y="595229"/>
            <a:ext cx="11820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You can edit attributes of attachment you uploaded in the document you registered as below steps.</a:t>
            </a:r>
          </a:p>
          <a:p>
            <a:r>
              <a:rPr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※Condition to edit: Status of target document is [Draft] ※Author can only edit the attributes of the attachment.</a:t>
            </a:r>
          </a:p>
        </p:txBody>
      </p:sp>
      <p:sp>
        <p:nvSpPr>
          <p:cNvPr id="7" name="正方形/長方形 11">
            <a:extLst>
              <a:ext uri="{FF2B5EF4-FFF2-40B4-BE49-F238E27FC236}">
                <a16:creationId xmlns:a16="http://schemas.microsoft.com/office/drawing/2014/main" id="{4B5D75F7-274E-413F-8AED-0D5F7FA481AD}"/>
              </a:ext>
            </a:extLst>
          </p:cNvPr>
          <p:cNvSpPr/>
          <p:nvPr/>
        </p:nvSpPr>
        <p:spPr bwMode="auto">
          <a:xfrm>
            <a:off x="66675" y="3033821"/>
            <a:ext cx="5317353" cy="131731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8" name="テキスト ボックス 12">
            <a:extLst>
              <a:ext uri="{FF2B5EF4-FFF2-40B4-BE49-F238E27FC236}">
                <a16:creationId xmlns:a16="http://schemas.microsoft.com/office/drawing/2014/main" id="{AD59129F-395C-29DD-5F78-5DBBBCB9DE2D}"/>
              </a:ext>
            </a:extLst>
          </p:cNvPr>
          <p:cNvSpPr txBox="1"/>
          <p:nvPr/>
        </p:nvSpPr>
        <p:spPr>
          <a:xfrm>
            <a:off x="94604" y="4573390"/>
            <a:ext cx="340423" cy="274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正方形/長方形 13">
            <a:extLst>
              <a:ext uri="{FF2B5EF4-FFF2-40B4-BE49-F238E27FC236}">
                <a16:creationId xmlns:a16="http://schemas.microsoft.com/office/drawing/2014/main" id="{EC734EB0-D952-6698-8784-DA9DC52F3F8A}"/>
              </a:ext>
            </a:extLst>
          </p:cNvPr>
          <p:cNvSpPr/>
          <p:nvPr/>
        </p:nvSpPr>
        <p:spPr>
          <a:xfrm>
            <a:off x="351014" y="4573390"/>
            <a:ext cx="2715242" cy="595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Select target attachment file you want to edit from attachment list of report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正方形/長方形 14">
            <a:extLst>
              <a:ext uri="{FF2B5EF4-FFF2-40B4-BE49-F238E27FC236}">
                <a16:creationId xmlns:a16="http://schemas.microsoft.com/office/drawing/2014/main" id="{794C47EB-EE95-F0DF-937F-3000AF190735}"/>
              </a:ext>
            </a:extLst>
          </p:cNvPr>
          <p:cNvSpPr/>
          <p:nvPr/>
        </p:nvSpPr>
        <p:spPr bwMode="auto">
          <a:xfrm>
            <a:off x="10156738" y="1277643"/>
            <a:ext cx="340423" cy="27474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テキスト ボックス 15">
            <a:extLst>
              <a:ext uri="{FF2B5EF4-FFF2-40B4-BE49-F238E27FC236}">
                <a16:creationId xmlns:a16="http://schemas.microsoft.com/office/drawing/2014/main" id="{405FD27F-676F-ACBC-0596-0BB25B393480}"/>
              </a:ext>
            </a:extLst>
          </p:cNvPr>
          <p:cNvSpPr txBox="1"/>
          <p:nvPr/>
        </p:nvSpPr>
        <p:spPr>
          <a:xfrm>
            <a:off x="9868228" y="1279665"/>
            <a:ext cx="340423" cy="274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</a:p>
        </p:txBody>
      </p:sp>
      <p:sp>
        <p:nvSpPr>
          <p:cNvPr id="12" name="正方形/長方形 16">
            <a:extLst>
              <a:ext uri="{FF2B5EF4-FFF2-40B4-BE49-F238E27FC236}">
                <a16:creationId xmlns:a16="http://schemas.microsoft.com/office/drawing/2014/main" id="{617F2031-F3FE-E384-E91E-36CBB3304A94}"/>
              </a:ext>
            </a:extLst>
          </p:cNvPr>
          <p:cNvSpPr/>
          <p:nvPr/>
        </p:nvSpPr>
        <p:spPr>
          <a:xfrm>
            <a:off x="8927731" y="2115612"/>
            <a:ext cx="2959470" cy="5952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 preview screen appears. From icon list in top right corner, click icon [Edit document]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正方形/長方形 17">
            <a:extLst>
              <a:ext uri="{FF2B5EF4-FFF2-40B4-BE49-F238E27FC236}">
                <a16:creationId xmlns:a16="http://schemas.microsoft.com/office/drawing/2014/main" id="{DEE0CC55-B710-5C17-8245-193587FCCA1C}"/>
              </a:ext>
            </a:extLst>
          </p:cNvPr>
          <p:cNvSpPr/>
          <p:nvPr/>
        </p:nvSpPr>
        <p:spPr bwMode="auto">
          <a:xfrm>
            <a:off x="4625629" y="4844827"/>
            <a:ext cx="4235059" cy="186655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4" name="テキスト ボックス 18">
            <a:extLst>
              <a:ext uri="{FF2B5EF4-FFF2-40B4-BE49-F238E27FC236}">
                <a16:creationId xmlns:a16="http://schemas.microsoft.com/office/drawing/2014/main" id="{80486AE2-02AD-FD42-EF11-EA46510F5F99}"/>
              </a:ext>
            </a:extLst>
          </p:cNvPr>
          <p:cNvSpPr txBox="1"/>
          <p:nvPr/>
        </p:nvSpPr>
        <p:spPr>
          <a:xfrm>
            <a:off x="8887230" y="5609468"/>
            <a:ext cx="340423" cy="274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</a:p>
        </p:txBody>
      </p:sp>
      <p:sp>
        <p:nvSpPr>
          <p:cNvPr id="15" name="正方形/長方形 19">
            <a:extLst>
              <a:ext uri="{FF2B5EF4-FFF2-40B4-BE49-F238E27FC236}">
                <a16:creationId xmlns:a16="http://schemas.microsoft.com/office/drawing/2014/main" id="{2714DBA3-0D73-6A02-234E-24748D281282}"/>
              </a:ext>
            </a:extLst>
          </p:cNvPr>
          <p:cNvSpPr/>
          <p:nvPr/>
        </p:nvSpPr>
        <p:spPr>
          <a:xfrm>
            <a:off x="9227653" y="5640733"/>
            <a:ext cx="2384816" cy="7631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File attribute registration screen shows. Edit target attribute you want and click [Save] button.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矢印: 右 20">
            <a:extLst>
              <a:ext uri="{FF2B5EF4-FFF2-40B4-BE49-F238E27FC236}">
                <a16:creationId xmlns:a16="http://schemas.microsoft.com/office/drawing/2014/main" id="{849D5B2D-E405-804C-3CC0-5C79CB8F7D88}"/>
              </a:ext>
            </a:extLst>
          </p:cNvPr>
          <p:cNvSpPr/>
          <p:nvPr/>
        </p:nvSpPr>
        <p:spPr bwMode="auto">
          <a:xfrm>
            <a:off x="5441030" y="2945543"/>
            <a:ext cx="623007" cy="68022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7" name="矢印: 右 21">
            <a:extLst>
              <a:ext uri="{FF2B5EF4-FFF2-40B4-BE49-F238E27FC236}">
                <a16:creationId xmlns:a16="http://schemas.microsoft.com/office/drawing/2014/main" id="{438E17F9-194D-E6D1-F306-C28970017A9C}"/>
              </a:ext>
            </a:extLst>
          </p:cNvPr>
          <p:cNvSpPr/>
          <p:nvPr/>
        </p:nvSpPr>
        <p:spPr bwMode="auto">
          <a:xfrm rot="5400000">
            <a:off x="7171059" y="4244054"/>
            <a:ext cx="475421" cy="689585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CA9D2C-5B9D-D2AD-DDE0-29D3521E9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334" y="4969514"/>
            <a:ext cx="3998307" cy="16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06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297CD83-A652-31C6-BA36-85D2CC675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019" y="1600200"/>
            <a:ext cx="9605606" cy="5152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C59847-D84D-7513-44A4-EAC17A1A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4.Replace/Remove attachment</a:t>
            </a:r>
            <a:endParaRPr lang="en-IN" dirty="0"/>
          </a:p>
        </p:txBody>
      </p:sp>
      <p:sp>
        <p:nvSpPr>
          <p:cNvPr id="3" name="テキスト ボックス 4">
            <a:extLst>
              <a:ext uri="{FF2B5EF4-FFF2-40B4-BE49-F238E27FC236}">
                <a16:creationId xmlns:a16="http://schemas.microsoft.com/office/drawing/2014/main" id="{C306134A-AE25-F755-8F7E-6779172B9B0E}"/>
              </a:ext>
            </a:extLst>
          </p:cNvPr>
          <p:cNvSpPr txBox="1"/>
          <p:nvPr/>
        </p:nvSpPr>
        <p:spPr>
          <a:xfrm>
            <a:off x="0" y="522941"/>
            <a:ext cx="114629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You can replace or remove the attachment of document you registered from here.</a:t>
            </a:r>
          </a:p>
          <a:p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※Condition to replace: Status of target document is [Draft]</a:t>
            </a:r>
          </a:p>
          <a:p>
            <a:r>
              <a:rPr lang="en-US" altLang="ja-JP" sz="1800" dirty="0">
                <a:latin typeface="Meiryo UI" panose="020B0604030504040204" pitchFamily="50" charset="-128"/>
                <a:ea typeface="Meiryo UI" panose="020B0604030504040204" pitchFamily="50" charset="-128"/>
              </a:rPr>
              <a:t>※Author only will be able to replace attachment.</a:t>
            </a:r>
          </a:p>
        </p:txBody>
      </p:sp>
      <p:sp>
        <p:nvSpPr>
          <p:cNvPr id="6" name="四角形吹き出し 40">
            <a:extLst>
              <a:ext uri="{FF2B5EF4-FFF2-40B4-BE49-F238E27FC236}">
                <a16:creationId xmlns:a16="http://schemas.microsoft.com/office/drawing/2014/main" id="{CDF4BD59-3D6A-E8ED-B411-797790147DAB}"/>
              </a:ext>
            </a:extLst>
          </p:cNvPr>
          <p:cNvSpPr/>
          <p:nvPr/>
        </p:nvSpPr>
        <p:spPr>
          <a:xfrm>
            <a:off x="7983367" y="4454340"/>
            <a:ext cx="3553997" cy="1309516"/>
          </a:xfrm>
          <a:prstGeom prst="wedgeRectCallout">
            <a:avLst>
              <a:gd name="adj1" fmla="val -78832"/>
              <a:gd name="adj2" fmla="val 66679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You can select one of below two icons to replace file.</a:t>
            </a:r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 [Replace] button: click this button and replace </a:t>
            </a:r>
          </a:p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 new file </a:t>
            </a:r>
          </a:p>
          <a:p>
            <a:r>
              <a: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[Remove] button: click this button to delete current file first, then upload a new file.</a:t>
            </a:r>
            <a:endParaRPr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テキスト ボックス 9">
            <a:extLst>
              <a:ext uri="{FF2B5EF4-FFF2-40B4-BE49-F238E27FC236}">
                <a16:creationId xmlns:a16="http://schemas.microsoft.com/office/drawing/2014/main" id="{9513FB79-05E7-8878-1D7C-F24F450A44F9}"/>
              </a:ext>
            </a:extLst>
          </p:cNvPr>
          <p:cNvSpPr txBox="1"/>
          <p:nvPr/>
        </p:nvSpPr>
        <p:spPr>
          <a:xfrm>
            <a:off x="6707740" y="5732528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05FD19-C49B-20A3-657A-675610E872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83" r="7760"/>
          <a:stretch/>
        </p:blipFill>
        <p:spPr>
          <a:xfrm>
            <a:off x="6332831" y="6119471"/>
            <a:ext cx="338554" cy="4504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23571C-1DFB-D735-C57B-E2EC56122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739" y="6061300"/>
            <a:ext cx="404923" cy="508622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26E80958-FC88-E9D4-D0DF-4AEF637A4970}"/>
              </a:ext>
            </a:extLst>
          </p:cNvPr>
          <p:cNvSpPr/>
          <p:nvPr/>
        </p:nvSpPr>
        <p:spPr bwMode="auto">
          <a:xfrm>
            <a:off x="6332831" y="6040855"/>
            <a:ext cx="377509" cy="30417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0" name="テキスト ボックス 8">
            <a:extLst>
              <a:ext uri="{FF2B5EF4-FFF2-40B4-BE49-F238E27FC236}">
                <a16:creationId xmlns:a16="http://schemas.microsoft.com/office/drawing/2014/main" id="{0E25FE7E-23EE-4F32-505C-CBFA764E6DFB}"/>
              </a:ext>
            </a:extLst>
          </p:cNvPr>
          <p:cNvSpPr txBox="1"/>
          <p:nvPr/>
        </p:nvSpPr>
        <p:spPr>
          <a:xfrm>
            <a:off x="6352308" y="5763856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D5D2EDA4-CF83-23B2-36E4-FB0BD1CC1C97}"/>
              </a:ext>
            </a:extLst>
          </p:cNvPr>
          <p:cNvSpPr/>
          <p:nvPr/>
        </p:nvSpPr>
        <p:spPr bwMode="auto">
          <a:xfrm>
            <a:off x="6727219" y="6040855"/>
            <a:ext cx="338554" cy="30417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0418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6B79-2012-06C4-23B1-C09C4FAD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>
                <a:solidFill>
                  <a:srgbClr val="FF0000"/>
                </a:solidFill>
              </a:rPr>
            </a:br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136DDD-5757-2C19-BCD2-9C43148A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795427"/>
            <a:ext cx="7076716" cy="3795624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8D4D77DC-5692-8E9C-A32F-E7769C897133}"/>
              </a:ext>
            </a:extLst>
          </p:cNvPr>
          <p:cNvSpPr/>
          <p:nvPr/>
        </p:nvSpPr>
        <p:spPr bwMode="auto">
          <a:xfrm>
            <a:off x="4574136" y="4085186"/>
            <a:ext cx="257492" cy="2769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ED42A1D1-B572-2AA6-C349-9D2137300805}"/>
              </a:ext>
            </a:extLst>
          </p:cNvPr>
          <p:cNvSpPr txBox="1"/>
          <p:nvPr/>
        </p:nvSpPr>
        <p:spPr>
          <a:xfrm>
            <a:off x="4571847" y="3808187"/>
            <a:ext cx="257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6644D6-B6EC-1266-5095-AB473C3FB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6980" y="1933845"/>
            <a:ext cx="4029075" cy="205686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FC77A3-69C9-6BD1-F3A8-333165FA32DA}"/>
              </a:ext>
            </a:extLst>
          </p:cNvPr>
          <p:cNvCxnSpPr/>
          <p:nvPr/>
        </p:nvCxnSpPr>
        <p:spPr>
          <a:xfrm flipV="1">
            <a:off x="4829339" y="2962275"/>
            <a:ext cx="3019261" cy="12614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吹き出し 40">
            <a:extLst>
              <a:ext uri="{FF2B5EF4-FFF2-40B4-BE49-F238E27FC236}">
                <a16:creationId xmlns:a16="http://schemas.microsoft.com/office/drawing/2014/main" id="{A43BC230-FEA5-1B94-14B4-8E224DD1F5BF}"/>
              </a:ext>
            </a:extLst>
          </p:cNvPr>
          <p:cNvSpPr/>
          <p:nvPr/>
        </p:nvSpPr>
        <p:spPr>
          <a:xfrm>
            <a:off x="3259131" y="2832526"/>
            <a:ext cx="1570208" cy="859836"/>
          </a:xfrm>
          <a:prstGeom prst="wedgeRectCallout">
            <a:avLst>
              <a:gd name="adj1" fmla="val 38850"/>
              <a:gd name="adj2" fmla="val 68895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① click this button to replace </a:t>
            </a:r>
          </a:p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 new file </a:t>
            </a:r>
          </a:p>
        </p:txBody>
      </p:sp>
      <p:sp>
        <p:nvSpPr>
          <p:cNvPr id="11" name="四角形吹き出し 40">
            <a:extLst>
              <a:ext uri="{FF2B5EF4-FFF2-40B4-BE49-F238E27FC236}">
                <a16:creationId xmlns:a16="http://schemas.microsoft.com/office/drawing/2014/main" id="{9C898B0B-44C9-2E94-1DC1-F52CC9ADFE05}"/>
              </a:ext>
            </a:extLst>
          </p:cNvPr>
          <p:cNvSpPr/>
          <p:nvPr/>
        </p:nvSpPr>
        <p:spPr>
          <a:xfrm>
            <a:off x="9431331" y="1232326"/>
            <a:ext cx="1570208" cy="859836"/>
          </a:xfrm>
          <a:prstGeom prst="wedgeRectCallout">
            <a:avLst>
              <a:gd name="adj1" fmla="val -24844"/>
              <a:gd name="adj2" fmla="val 136469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② Click here to upload  required  file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CCDA08-1839-4112-C1A0-D12A6EB6CB4A}"/>
              </a:ext>
            </a:extLst>
          </p:cNvPr>
          <p:cNvCxnSpPr>
            <a:cxnSpLocks/>
          </p:cNvCxnSpPr>
          <p:nvPr/>
        </p:nvCxnSpPr>
        <p:spPr>
          <a:xfrm>
            <a:off x="10216435" y="2962275"/>
            <a:ext cx="0" cy="13999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186FCC87-4395-932E-A777-091DBBA59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271" y="4403358"/>
            <a:ext cx="3039091" cy="2257425"/>
          </a:xfrm>
          <a:prstGeom prst="rect">
            <a:avLst/>
          </a:prstGeom>
        </p:spPr>
      </p:pic>
      <p:sp>
        <p:nvSpPr>
          <p:cNvPr id="18" name="四角形吹き出し 40">
            <a:extLst>
              <a:ext uri="{FF2B5EF4-FFF2-40B4-BE49-F238E27FC236}">
                <a16:creationId xmlns:a16="http://schemas.microsoft.com/office/drawing/2014/main" id="{A505BEED-5D4E-9EC8-3E90-6F8791A2A752}"/>
              </a:ext>
            </a:extLst>
          </p:cNvPr>
          <p:cNvSpPr/>
          <p:nvPr/>
        </p:nvSpPr>
        <p:spPr>
          <a:xfrm>
            <a:off x="10621792" y="4476858"/>
            <a:ext cx="1122533" cy="828567"/>
          </a:xfrm>
          <a:prstGeom prst="wedgeRectCallout">
            <a:avLst>
              <a:gd name="adj1" fmla="val -62454"/>
              <a:gd name="adj2" fmla="val 125391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③ Select the required file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C91C8DE-7778-E52B-4A1D-A2E4BFD6FD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052" y="4591051"/>
            <a:ext cx="4270904" cy="2125473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4D551D-A963-1DE3-62F4-B36B2DBC9C19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7524391" y="5532070"/>
            <a:ext cx="1099880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四角形吹き出し 40">
            <a:extLst>
              <a:ext uri="{FF2B5EF4-FFF2-40B4-BE49-F238E27FC236}">
                <a16:creationId xmlns:a16="http://schemas.microsoft.com/office/drawing/2014/main" id="{43CB910A-7075-D5AC-1BF7-957BC74F0666}"/>
              </a:ext>
            </a:extLst>
          </p:cNvPr>
          <p:cNvSpPr/>
          <p:nvPr/>
        </p:nvSpPr>
        <p:spPr>
          <a:xfrm>
            <a:off x="6726067" y="5904219"/>
            <a:ext cx="1122533" cy="828567"/>
          </a:xfrm>
          <a:prstGeom prst="wedgeRectCallout">
            <a:avLst>
              <a:gd name="adj1" fmla="val 6277"/>
              <a:gd name="adj2" fmla="val -79233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④ Click  on Replace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224AC4B-6794-0FFA-AB55-976DED13D81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396" t="14257" r="13628"/>
          <a:stretch/>
        </p:blipFill>
        <p:spPr>
          <a:xfrm>
            <a:off x="-73119" y="4106810"/>
            <a:ext cx="3316617" cy="2850519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9FAC5E5-3332-64DC-EC1D-64BF4F2DBDB2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2781300" y="5648975"/>
            <a:ext cx="936752" cy="481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吹き出し 40">
            <a:extLst>
              <a:ext uri="{FF2B5EF4-FFF2-40B4-BE49-F238E27FC236}">
                <a16:creationId xmlns:a16="http://schemas.microsoft.com/office/drawing/2014/main" id="{45ACBC8E-FD7B-6D60-5A7F-D7FAEAE2AB5F}"/>
              </a:ext>
            </a:extLst>
          </p:cNvPr>
          <p:cNvSpPr/>
          <p:nvPr/>
        </p:nvSpPr>
        <p:spPr>
          <a:xfrm>
            <a:off x="1421197" y="4201724"/>
            <a:ext cx="1570208" cy="859836"/>
          </a:xfrm>
          <a:prstGeom prst="wedgeRectCallout">
            <a:avLst>
              <a:gd name="adj1" fmla="val -41222"/>
              <a:gd name="adj2" fmla="val 113206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⑤ The File got replaced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D3004C-BEF6-615A-71D6-DF0561498A4D}"/>
              </a:ext>
            </a:extLst>
          </p:cNvPr>
          <p:cNvSpPr txBox="1"/>
          <p:nvPr/>
        </p:nvSpPr>
        <p:spPr>
          <a:xfrm>
            <a:off x="95250" y="93652"/>
            <a:ext cx="23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①Replace: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15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51A8-CBB3-36BB-8D0F-5F104CAE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 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B16774-A9AD-93BE-7D4C-6035849969BB}"/>
              </a:ext>
            </a:extLst>
          </p:cNvPr>
          <p:cNvSpPr txBox="1"/>
          <p:nvPr/>
        </p:nvSpPr>
        <p:spPr>
          <a:xfrm>
            <a:off x="95250" y="95250"/>
            <a:ext cx="2028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② </a:t>
            </a:r>
            <a:r>
              <a:rPr lang="en-US" sz="2000" dirty="0">
                <a:solidFill>
                  <a:srgbClr val="FF0000"/>
                </a:solidFill>
              </a:rPr>
              <a:t>Remove: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389744-129F-33A2-AE1B-27B627F9C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625919"/>
            <a:ext cx="7278047" cy="3612706"/>
          </a:xfrm>
          <a:prstGeom prst="rect">
            <a:avLst/>
          </a:prstGeom>
        </p:spPr>
      </p:pic>
      <p:sp>
        <p:nvSpPr>
          <p:cNvPr id="8" name="四角形吹き出し 40">
            <a:extLst>
              <a:ext uri="{FF2B5EF4-FFF2-40B4-BE49-F238E27FC236}">
                <a16:creationId xmlns:a16="http://schemas.microsoft.com/office/drawing/2014/main" id="{77EAFD07-C3CA-5FDA-51FB-C6084289AFCE}"/>
              </a:ext>
            </a:extLst>
          </p:cNvPr>
          <p:cNvSpPr/>
          <p:nvPr/>
        </p:nvSpPr>
        <p:spPr>
          <a:xfrm>
            <a:off x="4543424" y="1619250"/>
            <a:ext cx="1552575" cy="606058"/>
          </a:xfrm>
          <a:prstGeom prst="wedgeRectCallout">
            <a:avLst>
              <a:gd name="adj1" fmla="val -64880"/>
              <a:gd name="adj2" fmla="val 135361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① Open the file</a:t>
            </a:r>
          </a:p>
        </p:txBody>
      </p:sp>
      <p:sp>
        <p:nvSpPr>
          <p:cNvPr id="9" name="四角形吹き出し 40">
            <a:extLst>
              <a:ext uri="{FF2B5EF4-FFF2-40B4-BE49-F238E27FC236}">
                <a16:creationId xmlns:a16="http://schemas.microsoft.com/office/drawing/2014/main" id="{C01746C2-37F2-8A3A-CF5D-EBE4C1161CDC}"/>
              </a:ext>
            </a:extLst>
          </p:cNvPr>
          <p:cNvSpPr/>
          <p:nvPr/>
        </p:nvSpPr>
        <p:spPr>
          <a:xfrm>
            <a:off x="5429249" y="2928937"/>
            <a:ext cx="1552575" cy="606058"/>
          </a:xfrm>
          <a:prstGeom prst="wedgeRectCallout">
            <a:avLst>
              <a:gd name="adj1" fmla="val -64880"/>
              <a:gd name="adj2" fmla="val 135361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② Click on Remove  button.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1E6D1F-27DE-92E5-8157-039A390E9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858301"/>
            <a:ext cx="3609975" cy="114794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EE5A2F-1051-C222-13B5-0146E1CBEA2B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7554272" y="2432272"/>
            <a:ext cx="75152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四角形吹き出し 40">
            <a:extLst>
              <a:ext uri="{FF2B5EF4-FFF2-40B4-BE49-F238E27FC236}">
                <a16:creationId xmlns:a16="http://schemas.microsoft.com/office/drawing/2014/main" id="{4A0F3891-AE9F-8704-FEEF-0DA84467B163}"/>
              </a:ext>
            </a:extLst>
          </p:cNvPr>
          <p:cNvSpPr/>
          <p:nvPr/>
        </p:nvSpPr>
        <p:spPr>
          <a:xfrm>
            <a:off x="10363198" y="1226049"/>
            <a:ext cx="1552575" cy="606058"/>
          </a:xfrm>
          <a:prstGeom prst="wedgeRectCallout">
            <a:avLst>
              <a:gd name="adj1" fmla="val 13648"/>
              <a:gd name="adj2" fmla="val 187225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③  Select Yes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C69CB26-BCB6-A22F-D938-CADB04146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501636"/>
            <a:ext cx="5281629" cy="3356364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86DB15B-5D64-3674-01A3-B09343874930}"/>
              </a:ext>
            </a:extLst>
          </p:cNvPr>
          <p:cNvCxnSpPr>
            <a:cxnSpLocks/>
          </p:cNvCxnSpPr>
          <p:nvPr/>
        </p:nvCxnSpPr>
        <p:spPr>
          <a:xfrm flipH="1">
            <a:off x="11029950" y="3006243"/>
            <a:ext cx="410522" cy="52875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吹き出し 40">
            <a:extLst>
              <a:ext uri="{FF2B5EF4-FFF2-40B4-BE49-F238E27FC236}">
                <a16:creationId xmlns:a16="http://schemas.microsoft.com/office/drawing/2014/main" id="{D2B6B760-BE46-952F-BABC-6C43B24AEF57}"/>
              </a:ext>
            </a:extLst>
          </p:cNvPr>
          <p:cNvSpPr/>
          <p:nvPr/>
        </p:nvSpPr>
        <p:spPr>
          <a:xfrm>
            <a:off x="7082311" y="5441485"/>
            <a:ext cx="1552575" cy="603493"/>
          </a:xfrm>
          <a:prstGeom prst="wedgeRectCallout">
            <a:avLst>
              <a:gd name="adj1" fmla="val -64880"/>
              <a:gd name="adj2" fmla="val 135361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④ The. File is  removed</a:t>
            </a:r>
          </a:p>
          <a:p>
            <a:endParaRPr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603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F1073D7-B89B-CE25-823E-A4879893F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75" y="2052775"/>
            <a:ext cx="7686675" cy="40920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48E276-BCCD-2895-D5B0-8953853B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5.Download attachment</a:t>
            </a:r>
            <a:r>
              <a:rPr kumimoji="1" lang="ja-JP" altLang="en-US" dirty="0"/>
              <a:t> </a:t>
            </a:r>
            <a:r>
              <a:rPr kumimoji="1" lang="en-US" altLang="ja-JP" dirty="0"/>
              <a:t>of document</a:t>
            </a:r>
            <a:r>
              <a:rPr kumimoji="1" lang="ja-JP" alt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2FD7D-C7BB-C7E7-1BA7-58C5B2CB32A2}"/>
              </a:ext>
            </a:extLst>
          </p:cNvPr>
          <p:cNvSpPr txBox="1"/>
          <p:nvPr/>
        </p:nvSpPr>
        <p:spPr>
          <a:xfrm>
            <a:off x="-69056" y="713154"/>
            <a:ext cx="12337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You can download attachment of document by one of 3 following methods.</a:t>
            </a: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※ED Users will be able to download attachment.</a:t>
            </a:r>
          </a:p>
          <a:p>
            <a:r>
              <a:rPr lang="en-US" altLang="ja-JP" b="1" dirty="0"/>
              <a:t>Method 1:</a:t>
            </a:r>
            <a:r>
              <a:rPr lang="ja-JP" altLang="en-US" b="1" dirty="0"/>
              <a:t> </a:t>
            </a:r>
            <a:r>
              <a:rPr lang="en-US" altLang="ja-JP" dirty="0"/>
              <a:t>If you want to download current opening file, you can click on [Download] button from icon list in bottom right corner of file preview screen.</a:t>
            </a:r>
          </a:p>
        </p:txBody>
      </p:sp>
      <p:sp>
        <p:nvSpPr>
          <p:cNvPr id="7" name="四角形吹き出し 40">
            <a:extLst>
              <a:ext uri="{FF2B5EF4-FFF2-40B4-BE49-F238E27FC236}">
                <a16:creationId xmlns:a16="http://schemas.microsoft.com/office/drawing/2014/main" id="{4A27B1AE-0936-ACD2-6869-4F67E8D06310}"/>
              </a:ext>
            </a:extLst>
          </p:cNvPr>
          <p:cNvSpPr/>
          <p:nvPr/>
        </p:nvSpPr>
        <p:spPr>
          <a:xfrm>
            <a:off x="2421674" y="4730532"/>
            <a:ext cx="3674326" cy="681596"/>
          </a:xfrm>
          <a:prstGeom prst="wedgeRectCallout">
            <a:avLst>
              <a:gd name="adj1" fmla="val 39237"/>
              <a:gd name="adj2" fmla="val 117485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Method 1: Click [Download] button on file preview screen to download current opening file.</a:t>
            </a:r>
            <a:endParaRPr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13">
            <a:extLst>
              <a:ext uri="{FF2B5EF4-FFF2-40B4-BE49-F238E27FC236}">
                <a16:creationId xmlns:a16="http://schemas.microsoft.com/office/drawing/2014/main" id="{1E4A394A-2DEB-3E30-2B3B-CD960FE6072F}"/>
              </a:ext>
            </a:extLst>
          </p:cNvPr>
          <p:cNvSpPr/>
          <p:nvPr/>
        </p:nvSpPr>
        <p:spPr bwMode="auto">
          <a:xfrm>
            <a:off x="5652993" y="5924550"/>
            <a:ext cx="544756" cy="75499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46EAAD-27C0-F27F-4993-C7450CA28D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656" t="-2769" r="8586" b="-1"/>
          <a:stretch/>
        </p:blipFill>
        <p:spPr>
          <a:xfrm>
            <a:off x="5681568" y="5924550"/>
            <a:ext cx="516181" cy="62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12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69A4-132F-7F9E-E77B-2227ED8A7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5.Download attachment</a:t>
            </a:r>
            <a:r>
              <a:rPr kumimoji="1" lang="ja-JP" altLang="en-US" dirty="0"/>
              <a:t> </a:t>
            </a:r>
            <a:r>
              <a:rPr kumimoji="1" lang="en-US" altLang="ja-JP" dirty="0"/>
              <a:t>of document</a:t>
            </a:r>
            <a:r>
              <a:rPr kumimoji="1" lang="ja-JP" altLang="en-US" dirty="0"/>
              <a:t> 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53F08-A713-D6FF-2BBA-D661CF74FFA9}"/>
              </a:ext>
            </a:extLst>
          </p:cNvPr>
          <p:cNvSpPr txBox="1"/>
          <p:nvPr/>
        </p:nvSpPr>
        <p:spPr>
          <a:xfrm>
            <a:off x="0" y="628918"/>
            <a:ext cx="123063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Method 2: </a:t>
            </a:r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If you want to download multiple files of a report, you can select target file from attachment list and click [Download All as Zip] icon on top right corner.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A2EA62-8D49-5B23-8B7B-163E4BB5E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641" t="13750" b="22917"/>
          <a:stretch/>
        </p:blipFill>
        <p:spPr>
          <a:xfrm>
            <a:off x="952499" y="1468541"/>
            <a:ext cx="9553575" cy="4343401"/>
          </a:xfrm>
          <a:prstGeom prst="rect">
            <a:avLst/>
          </a:prstGeom>
        </p:spPr>
      </p:pic>
      <p:sp>
        <p:nvSpPr>
          <p:cNvPr id="15" name="正方形/長方形 8">
            <a:extLst>
              <a:ext uri="{FF2B5EF4-FFF2-40B4-BE49-F238E27FC236}">
                <a16:creationId xmlns:a16="http://schemas.microsoft.com/office/drawing/2014/main" id="{73A8A573-CBCA-54FB-4339-803BE32B97E0}"/>
              </a:ext>
            </a:extLst>
          </p:cNvPr>
          <p:cNvSpPr/>
          <p:nvPr/>
        </p:nvSpPr>
        <p:spPr bwMode="auto">
          <a:xfrm>
            <a:off x="1057274" y="4880015"/>
            <a:ext cx="1088751" cy="50944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6" name="正方形/長方形 9">
            <a:extLst>
              <a:ext uri="{FF2B5EF4-FFF2-40B4-BE49-F238E27FC236}">
                <a16:creationId xmlns:a16="http://schemas.microsoft.com/office/drawing/2014/main" id="{1CC73BF0-CA39-6537-9AF7-46430FFFFEAE}"/>
              </a:ext>
            </a:extLst>
          </p:cNvPr>
          <p:cNvSpPr/>
          <p:nvPr/>
        </p:nvSpPr>
        <p:spPr bwMode="auto">
          <a:xfrm>
            <a:off x="8937349" y="1566444"/>
            <a:ext cx="762001" cy="3847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cxnSp>
        <p:nvCxnSpPr>
          <p:cNvPr id="17" name="直線矢印コネクタ 11">
            <a:extLst>
              <a:ext uri="{FF2B5EF4-FFF2-40B4-BE49-F238E27FC236}">
                <a16:creationId xmlns:a16="http://schemas.microsoft.com/office/drawing/2014/main" id="{79739D14-D7B0-9D9F-54B5-D6A06DF83190}"/>
              </a:ext>
            </a:extLst>
          </p:cNvPr>
          <p:cNvCxnSpPr>
            <a:stCxn id="15" idx="3"/>
            <a:endCxn id="16" idx="1"/>
          </p:cNvCxnSpPr>
          <p:nvPr/>
        </p:nvCxnSpPr>
        <p:spPr bwMode="auto">
          <a:xfrm flipV="1">
            <a:off x="2146025" y="1758825"/>
            <a:ext cx="6791324" cy="337591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四角形吹き出し 40">
            <a:extLst>
              <a:ext uri="{FF2B5EF4-FFF2-40B4-BE49-F238E27FC236}">
                <a16:creationId xmlns:a16="http://schemas.microsoft.com/office/drawing/2014/main" id="{1433313A-6760-D55D-EE01-ADBA29F22B03}"/>
              </a:ext>
            </a:extLst>
          </p:cNvPr>
          <p:cNvSpPr/>
          <p:nvPr/>
        </p:nvSpPr>
        <p:spPr>
          <a:xfrm>
            <a:off x="7359080" y="2505580"/>
            <a:ext cx="3156538" cy="808423"/>
          </a:xfrm>
          <a:prstGeom prst="wedgeRectCallout">
            <a:avLst>
              <a:gd name="adj1" fmla="val 7696"/>
              <a:gd name="adj2" fmla="val -73909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Method 2: Select target file and click [Download All as Zip]</a:t>
            </a:r>
            <a:endParaRPr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323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2BCCE-A1C7-4454-AFCA-EF2E615F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5.Download attachment</a:t>
            </a:r>
            <a:r>
              <a:rPr kumimoji="1" lang="ja-JP" altLang="en-US" dirty="0"/>
              <a:t> </a:t>
            </a:r>
            <a:r>
              <a:rPr kumimoji="1" lang="en-US" altLang="ja-JP" dirty="0"/>
              <a:t>of document</a:t>
            </a:r>
            <a:r>
              <a:rPr kumimoji="1" lang="ja-JP" altLang="en-US" dirty="0"/>
              <a:t> </a:t>
            </a:r>
            <a:endParaRPr lang="en-IN" dirty="0"/>
          </a:p>
        </p:txBody>
      </p:sp>
      <p:sp>
        <p:nvSpPr>
          <p:cNvPr id="3" name="テキスト ボックス 7">
            <a:extLst>
              <a:ext uri="{FF2B5EF4-FFF2-40B4-BE49-F238E27FC236}">
                <a16:creationId xmlns:a16="http://schemas.microsoft.com/office/drawing/2014/main" id="{215E4E11-323C-543D-8F25-F8AB06BD3443}"/>
              </a:ext>
            </a:extLst>
          </p:cNvPr>
          <p:cNvSpPr txBox="1"/>
          <p:nvPr/>
        </p:nvSpPr>
        <p:spPr>
          <a:xfrm>
            <a:off x="119062" y="732285"/>
            <a:ext cx="120729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ja-JP"/>
            </a:defPPr>
            <a:lvl1pPr>
              <a:defRPr sz="16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altLang="ja-JP" dirty="0"/>
              <a:t>Method 3: </a:t>
            </a:r>
            <a:r>
              <a:rPr lang="en-US" altLang="ja-JP" b="0" dirty="0"/>
              <a:t>If you want to download all attachment of a document in one shot, you can select […] icon on top right corner of document detail screen and select [Download All as Zip]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67F09B-366B-9314-DBB6-140B8A4E3F9F}"/>
              </a:ext>
            </a:extLst>
          </p:cNvPr>
          <p:cNvGrpSpPr/>
          <p:nvPr/>
        </p:nvGrpSpPr>
        <p:grpSpPr>
          <a:xfrm>
            <a:off x="1114424" y="1336804"/>
            <a:ext cx="8993482" cy="4094239"/>
            <a:chOff x="1114424" y="1336804"/>
            <a:chExt cx="8993482" cy="40942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6320DD-E819-73BF-CA55-BA41829825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2187" t="13056" b="23889"/>
            <a:stretch/>
          </p:blipFill>
          <p:spPr>
            <a:xfrm>
              <a:off x="1114424" y="1336804"/>
              <a:ext cx="8982075" cy="4094239"/>
            </a:xfrm>
            <a:prstGeom prst="rect">
              <a:avLst/>
            </a:prstGeom>
          </p:spPr>
        </p:pic>
        <p:sp>
          <p:nvSpPr>
            <p:cNvPr id="6" name="正方形/長方形 9">
              <a:extLst>
                <a:ext uri="{FF2B5EF4-FFF2-40B4-BE49-F238E27FC236}">
                  <a16:creationId xmlns:a16="http://schemas.microsoft.com/office/drawing/2014/main" id="{5B33F794-2499-06DD-BAB8-B96BB612201C}"/>
                </a:ext>
              </a:extLst>
            </p:cNvPr>
            <p:cNvSpPr/>
            <p:nvPr/>
          </p:nvSpPr>
          <p:spPr bwMode="auto">
            <a:xfrm>
              <a:off x="7943849" y="2572479"/>
              <a:ext cx="1171576" cy="441738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7" name="四角形吹き出し 40">
              <a:extLst>
                <a:ext uri="{FF2B5EF4-FFF2-40B4-BE49-F238E27FC236}">
                  <a16:creationId xmlns:a16="http://schemas.microsoft.com/office/drawing/2014/main" id="{46CD2AF9-71D9-9668-3C09-6A93ED973EE8}"/>
                </a:ext>
              </a:extLst>
            </p:cNvPr>
            <p:cNvSpPr/>
            <p:nvPr/>
          </p:nvSpPr>
          <p:spPr>
            <a:xfrm>
              <a:off x="6951368" y="3525942"/>
              <a:ext cx="3156538" cy="808423"/>
            </a:xfrm>
            <a:prstGeom prst="wedgeRectCallout">
              <a:avLst>
                <a:gd name="adj1" fmla="val 7696"/>
                <a:gd name="adj2" fmla="val -73909"/>
              </a:avLst>
            </a:prstGeom>
            <a:solidFill>
              <a:srgbClr val="4F81BD"/>
            </a:solidFill>
            <a:ln w="38100">
              <a:solidFill>
                <a:srgbClr val="243F6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ja-JP" sz="1050" dirty="0">
                  <a:latin typeface="Meiryo UI" panose="020B0604030504040204" pitchFamily="50" charset="-128"/>
                  <a:ea typeface="Meiryo UI" panose="020B0604030504040204" pitchFamily="50" charset="-128"/>
                </a:rPr>
                <a:t>Method 2: Select target file and click [Download All as Zip]</a:t>
              </a:r>
              <a:endParaRPr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8511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1DA91D8-DF52-5D08-80EE-5FE962C3E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1" y="1877286"/>
            <a:ext cx="7172325" cy="2712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BD263F-F531-FD21-E654-461F5F38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6.Delete document/Attachment file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3B0640-9D5F-02B2-4457-D77769249529}"/>
              </a:ext>
            </a:extLst>
          </p:cNvPr>
          <p:cNvSpPr txBox="1"/>
          <p:nvPr/>
        </p:nvSpPr>
        <p:spPr>
          <a:xfrm>
            <a:off x="-1" y="714643"/>
            <a:ext cx="120310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You can delete report you registered or attachment file of document as below.</a:t>
            </a:r>
          </a:p>
          <a:p>
            <a:r>
              <a:rPr lang="en-US" altLang="ja-JP" sz="2000" dirty="0">
                <a:latin typeface="Meiryo UI" panose="020B0604030504040204" pitchFamily="50" charset="-128"/>
                <a:ea typeface="Meiryo UI" panose="020B0604030504040204" pitchFamily="50" charset="-128"/>
              </a:rPr>
              <a:t>※IS/IT Administrator/ED Biz Administrator can delete the document set and attachment.</a:t>
            </a:r>
          </a:p>
        </p:txBody>
      </p:sp>
      <p:sp>
        <p:nvSpPr>
          <p:cNvPr id="8" name="正方形/長方形 8">
            <a:extLst>
              <a:ext uri="{FF2B5EF4-FFF2-40B4-BE49-F238E27FC236}">
                <a16:creationId xmlns:a16="http://schemas.microsoft.com/office/drawing/2014/main" id="{5C2D0D6B-7C5E-2828-EF79-15CBEB2AFE27}"/>
              </a:ext>
            </a:extLst>
          </p:cNvPr>
          <p:cNvSpPr/>
          <p:nvPr/>
        </p:nvSpPr>
        <p:spPr bwMode="auto">
          <a:xfrm>
            <a:off x="6401780" y="1863702"/>
            <a:ext cx="266701" cy="43088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9" name="正方形/長方形 10">
            <a:extLst>
              <a:ext uri="{FF2B5EF4-FFF2-40B4-BE49-F238E27FC236}">
                <a16:creationId xmlns:a16="http://schemas.microsoft.com/office/drawing/2014/main" id="{183F26ED-AD4D-F906-F475-E03C7F1B7ED4}"/>
              </a:ext>
            </a:extLst>
          </p:cNvPr>
          <p:cNvSpPr/>
          <p:nvPr/>
        </p:nvSpPr>
        <p:spPr>
          <a:xfrm>
            <a:off x="4817100" y="2567386"/>
            <a:ext cx="4004031" cy="6001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From icon list in top right corner of document detail screen, select [Delete document] icon to delete as needed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テキスト ボックス 12">
            <a:extLst>
              <a:ext uri="{FF2B5EF4-FFF2-40B4-BE49-F238E27FC236}">
                <a16:creationId xmlns:a16="http://schemas.microsoft.com/office/drawing/2014/main" id="{58DAA028-C03B-D4A0-D260-01A0BD370953}"/>
              </a:ext>
            </a:extLst>
          </p:cNvPr>
          <p:cNvSpPr txBox="1"/>
          <p:nvPr/>
        </p:nvSpPr>
        <p:spPr>
          <a:xfrm>
            <a:off x="0" y="1488690"/>
            <a:ext cx="3132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＜</a:t>
            </a:r>
            <a:r>
              <a:rPr lang="en-US" altLang="ja-JP" b="1" dirty="0">
                <a:latin typeface="Meiryo UI" panose="020B0604030504040204" pitchFamily="50" charset="-128"/>
                <a:ea typeface="Meiryo UI" panose="020B0604030504040204" pitchFamily="50" charset="-128"/>
              </a:rPr>
              <a:t>Delete  document&gt;</a:t>
            </a:r>
            <a:endParaRPr lang="ja-JP" altLang="en-US" b="1" dirty="0"/>
          </a:p>
        </p:txBody>
      </p:sp>
      <p:sp>
        <p:nvSpPr>
          <p:cNvPr id="11" name="テキスト ボックス 13">
            <a:extLst>
              <a:ext uri="{FF2B5EF4-FFF2-40B4-BE49-F238E27FC236}">
                <a16:creationId xmlns:a16="http://schemas.microsoft.com/office/drawing/2014/main" id="{C96F9B35-2125-A787-A61B-7FC5A85136D8}"/>
              </a:ext>
            </a:extLst>
          </p:cNvPr>
          <p:cNvSpPr txBox="1"/>
          <p:nvPr/>
        </p:nvSpPr>
        <p:spPr>
          <a:xfrm>
            <a:off x="8453077" y="3135413"/>
            <a:ext cx="3192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＜</a:t>
            </a:r>
            <a:r>
              <a:rPr lang="en-US" altLang="ja-JP" sz="18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Delete attachment&gt;</a:t>
            </a:r>
            <a:endParaRPr lang="ja-JP" altLang="en-US" b="1" dirty="0"/>
          </a:p>
        </p:txBody>
      </p:sp>
      <p:cxnSp>
        <p:nvCxnSpPr>
          <p:cNvPr id="14" name="直線矢印コネクタ 16">
            <a:extLst>
              <a:ext uri="{FF2B5EF4-FFF2-40B4-BE49-F238E27FC236}">
                <a16:creationId xmlns:a16="http://schemas.microsoft.com/office/drawing/2014/main" id="{BEA44FE9-F155-9BE2-7478-CDD5C7C963BB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 bwMode="auto">
          <a:xfrm flipV="1">
            <a:off x="8064770" y="3783493"/>
            <a:ext cx="4355845" cy="223973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正方形/長方形 21">
            <a:extLst>
              <a:ext uri="{FF2B5EF4-FFF2-40B4-BE49-F238E27FC236}">
                <a16:creationId xmlns:a16="http://schemas.microsoft.com/office/drawing/2014/main" id="{DA5167EF-9947-C5E4-9FEF-86536871F3C8}"/>
              </a:ext>
            </a:extLst>
          </p:cNvPr>
          <p:cNvSpPr/>
          <p:nvPr/>
        </p:nvSpPr>
        <p:spPr>
          <a:xfrm>
            <a:off x="4424975" y="5522439"/>
            <a:ext cx="2458600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Select target file you want to delete from attachment list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22">
            <a:extLst>
              <a:ext uri="{FF2B5EF4-FFF2-40B4-BE49-F238E27FC236}">
                <a16:creationId xmlns:a16="http://schemas.microsoft.com/office/drawing/2014/main" id="{1EE0372C-7068-A4F8-6AFE-C53B4B07CE86}"/>
              </a:ext>
            </a:extLst>
          </p:cNvPr>
          <p:cNvSpPr/>
          <p:nvPr/>
        </p:nvSpPr>
        <p:spPr>
          <a:xfrm>
            <a:off x="10250903" y="4322066"/>
            <a:ext cx="1780154" cy="4308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Select [Delete</a:t>
            </a:r>
          </a:p>
          <a:p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Selected Items]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249AE61-7DE8-A27C-0ACD-30DAC9E2DB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" t="14584" b="22309"/>
          <a:stretch/>
        </p:blipFill>
        <p:spPr>
          <a:xfrm>
            <a:off x="4326153" y="3500312"/>
            <a:ext cx="8484763" cy="3023711"/>
          </a:xfrm>
          <a:prstGeom prst="rect">
            <a:avLst/>
          </a:prstGeom>
        </p:spPr>
      </p:pic>
      <p:sp>
        <p:nvSpPr>
          <p:cNvPr id="19" name="吹き出し: 角を丸めた四角形 24">
            <a:extLst>
              <a:ext uri="{FF2B5EF4-FFF2-40B4-BE49-F238E27FC236}">
                <a16:creationId xmlns:a16="http://schemas.microsoft.com/office/drawing/2014/main" id="{7EA0019D-64AE-1C95-8700-B09436AB67C1}"/>
              </a:ext>
            </a:extLst>
          </p:cNvPr>
          <p:cNvSpPr/>
          <p:nvPr/>
        </p:nvSpPr>
        <p:spPr bwMode="auto">
          <a:xfrm>
            <a:off x="5753100" y="3518485"/>
            <a:ext cx="353406" cy="339165"/>
          </a:xfrm>
          <a:prstGeom prst="wedgeRoundRectCallout">
            <a:avLst>
              <a:gd name="adj1" fmla="val 49424"/>
              <a:gd name="adj2" fmla="val 19340"/>
              <a:gd name="adj3" fmla="val 16667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20" name="四角形吹き出し 40">
            <a:extLst>
              <a:ext uri="{FF2B5EF4-FFF2-40B4-BE49-F238E27FC236}">
                <a16:creationId xmlns:a16="http://schemas.microsoft.com/office/drawing/2014/main" id="{42BFA261-CC66-8021-362A-BEF07E415C59}"/>
              </a:ext>
            </a:extLst>
          </p:cNvPr>
          <p:cNvSpPr/>
          <p:nvPr/>
        </p:nvSpPr>
        <p:spPr>
          <a:xfrm>
            <a:off x="1897487" y="5328009"/>
            <a:ext cx="1809750" cy="1017859"/>
          </a:xfrm>
          <a:prstGeom prst="wedgeRectCallout">
            <a:avLst>
              <a:gd name="adj1" fmla="val 160387"/>
              <a:gd name="adj2" fmla="val -197809"/>
            </a:avLst>
          </a:prstGeom>
          <a:solidFill>
            <a:srgbClr val="4F81BD"/>
          </a:solidFill>
          <a:ln w="38100">
            <a:solidFill>
              <a:srgbClr val="243F6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If you want to cancel deletion, you can click [Clear] button</a:t>
            </a:r>
            <a:endParaRPr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正方形/長方形 14">
            <a:extLst>
              <a:ext uri="{FF2B5EF4-FFF2-40B4-BE49-F238E27FC236}">
                <a16:creationId xmlns:a16="http://schemas.microsoft.com/office/drawing/2014/main" id="{59555E0D-8866-88D5-CCAE-D45EA5A6A2CE}"/>
              </a:ext>
            </a:extLst>
          </p:cNvPr>
          <p:cNvSpPr/>
          <p:nvPr/>
        </p:nvSpPr>
        <p:spPr bwMode="auto">
          <a:xfrm>
            <a:off x="6106506" y="5807787"/>
            <a:ext cx="1958264" cy="43088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5" name="テキスト ボックス 19">
            <a:extLst>
              <a:ext uri="{FF2B5EF4-FFF2-40B4-BE49-F238E27FC236}">
                <a16:creationId xmlns:a16="http://schemas.microsoft.com/office/drawing/2014/main" id="{31EB4681-2B54-9EC7-588B-A40C2DB07E82}"/>
              </a:ext>
            </a:extLst>
          </p:cNvPr>
          <p:cNvSpPr txBox="1"/>
          <p:nvPr/>
        </p:nvSpPr>
        <p:spPr>
          <a:xfrm>
            <a:off x="6106506" y="5502639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テキスト ボックス 20">
            <a:extLst>
              <a:ext uri="{FF2B5EF4-FFF2-40B4-BE49-F238E27FC236}">
                <a16:creationId xmlns:a16="http://schemas.microsoft.com/office/drawing/2014/main" id="{4908D3BE-8751-9FE0-0FCF-5662E686FAFD}"/>
              </a:ext>
            </a:extLst>
          </p:cNvPr>
          <p:cNvSpPr txBox="1"/>
          <p:nvPr/>
        </p:nvSpPr>
        <p:spPr>
          <a:xfrm>
            <a:off x="11470385" y="3691648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正方形/長方形 15">
            <a:extLst>
              <a:ext uri="{FF2B5EF4-FFF2-40B4-BE49-F238E27FC236}">
                <a16:creationId xmlns:a16="http://schemas.microsoft.com/office/drawing/2014/main" id="{EADB10FE-BD81-E086-A875-9A58E29095CB}"/>
              </a:ext>
            </a:extLst>
          </p:cNvPr>
          <p:cNvSpPr/>
          <p:nvPr/>
        </p:nvSpPr>
        <p:spPr bwMode="auto">
          <a:xfrm>
            <a:off x="12420615" y="3517331"/>
            <a:ext cx="338554" cy="532323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673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1CF2-E9DA-3AC6-E45E-A38D3E93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7. URL Share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DA097-1BD9-BA5E-4A70-9E30E1610005}"/>
              </a:ext>
            </a:extLst>
          </p:cNvPr>
          <p:cNvSpPr txBox="1"/>
          <p:nvPr/>
        </p:nvSpPr>
        <p:spPr>
          <a:xfrm>
            <a:off x="0" y="630406"/>
            <a:ext cx="119443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If you want to share a URL of report or attached file you are currently viewing, click Share button       as below.</a:t>
            </a:r>
            <a:endParaRPr lang="ja-JP" altLang="en-US" sz="2000" dirty="0"/>
          </a:p>
          <a:p>
            <a:endParaRPr lang="en-US" altLang="ja-JP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図 5">
            <a:extLst>
              <a:ext uri="{FF2B5EF4-FFF2-40B4-BE49-F238E27FC236}">
                <a16:creationId xmlns:a16="http://schemas.microsoft.com/office/drawing/2014/main" id="{2065C19B-C60C-AE89-9B38-012CDA880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914623"/>
            <a:ext cx="304801" cy="574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7B12C-3F29-E1A5-9FEF-3EED85300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8780"/>
            <a:ext cx="9118856" cy="28177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F2946-0AAF-7D28-D6E1-82F565828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898" y="1553476"/>
            <a:ext cx="534789" cy="666750"/>
          </a:xfrm>
          <a:prstGeom prst="rect">
            <a:avLst/>
          </a:prstGeom>
        </p:spPr>
      </p:pic>
      <p:sp>
        <p:nvSpPr>
          <p:cNvPr id="11" name="矢印: 右 16">
            <a:extLst>
              <a:ext uri="{FF2B5EF4-FFF2-40B4-BE49-F238E27FC236}">
                <a16:creationId xmlns:a16="http://schemas.microsoft.com/office/drawing/2014/main" id="{444848F0-4A0C-4594-2EE1-825CFD7FBBEB}"/>
              </a:ext>
            </a:extLst>
          </p:cNvPr>
          <p:cNvSpPr/>
          <p:nvPr/>
        </p:nvSpPr>
        <p:spPr bwMode="auto">
          <a:xfrm>
            <a:off x="6857565" y="3053009"/>
            <a:ext cx="619587" cy="6858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2" name="正方形/長方形 15">
            <a:extLst>
              <a:ext uri="{FF2B5EF4-FFF2-40B4-BE49-F238E27FC236}">
                <a16:creationId xmlns:a16="http://schemas.microsoft.com/office/drawing/2014/main" id="{69047978-A69C-E4A5-B750-8D33DA7F6C94}"/>
              </a:ext>
            </a:extLst>
          </p:cNvPr>
          <p:cNvSpPr/>
          <p:nvPr/>
        </p:nvSpPr>
        <p:spPr bwMode="auto">
          <a:xfrm>
            <a:off x="8117502" y="1518241"/>
            <a:ext cx="338555" cy="68383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3" name="正方形/長方形 17">
            <a:extLst>
              <a:ext uri="{FF2B5EF4-FFF2-40B4-BE49-F238E27FC236}">
                <a16:creationId xmlns:a16="http://schemas.microsoft.com/office/drawing/2014/main" id="{E72CC11F-C40D-EB90-781F-592F3C69D9FE}"/>
              </a:ext>
            </a:extLst>
          </p:cNvPr>
          <p:cNvSpPr/>
          <p:nvPr/>
        </p:nvSpPr>
        <p:spPr>
          <a:xfrm>
            <a:off x="6332085" y="2275925"/>
            <a:ext cx="1670548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[Share] Icon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テキスト ボックス 20">
            <a:extLst>
              <a:ext uri="{FF2B5EF4-FFF2-40B4-BE49-F238E27FC236}">
                <a16:creationId xmlns:a16="http://schemas.microsoft.com/office/drawing/2014/main" id="{721D6D5E-A6F7-67C1-CED3-6ED270A7FF0E}"/>
              </a:ext>
            </a:extLst>
          </p:cNvPr>
          <p:cNvSpPr txBox="1"/>
          <p:nvPr/>
        </p:nvSpPr>
        <p:spPr>
          <a:xfrm>
            <a:off x="7671924" y="1977313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CC423B-666B-A603-2BD6-39E82DFE6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2634" y="2843785"/>
            <a:ext cx="3551192" cy="2517542"/>
          </a:xfrm>
          <a:prstGeom prst="rect">
            <a:avLst/>
          </a:prstGeom>
        </p:spPr>
      </p:pic>
      <p:sp>
        <p:nvSpPr>
          <p:cNvPr id="17" name="正方形/長方形 18">
            <a:extLst>
              <a:ext uri="{FF2B5EF4-FFF2-40B4-BE49-F238E27FC236}">
                <a16:creationId xmlns:a16="http://schemas.microsoft.com/office/drawing/2014/main" id="{D3C141C5-A229-3EF4-0CE9-62FB70271E75}"/>
              </a:ext>
            </a:extLst>
          </p:cNvPr>
          <p:cNvSpPr/>
          <p:nvPr/>
        </p:nvSpPr>
        <p:spPr bwMode="auto">
          <a:xfrm>
            <a:off x="8102123" y="2880858"/>
            <a:ext cx="3839206" cy="248836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8" name="正方形/長方形 19">
            <a:extLst>
              <a:ext uri="{FF2B5EF4-FFF2-40B4-BE49-F238E27FC236}">
                <a16:creationId xmlns:a16="http://schemas.microsoft.com/office/drawing/2014/main" id="{A415F1E2-ED3F-169A-D920-54CA39FE52C8}"/>
              </a:ext>
            </a:extLst>
          </p:cNvPr>
          <p:cNvSpPr/>
          <p:nvPr/>
        </p:nvSpPr>
        <p:spPr>
          <a:xfrm>
            <a:off x="9848850" y="1549566"/>
            <a:ext cx="2199104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44000" rIns="144000">
            <a:spAutoFit/>
          </a:bodyPr>
          <a:lstStyle/>
          <a:p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[Copy Link] icon in right side to copy link.</a:t>
            </a:r>
            <a:r>
              <a:rPr lang="ja-JP" altLang="en-US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</a:t>
            </a:r>
            <a:r>
              <a:rPr lang="en-US" altLang="ja-JP" sz="1100" kern="1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Then you can paste it to other window like notepad to use</a:t>
            </a:r>
            <a:endParaRPr kumimoji="1" lang="ja-JP" altLang="en-US" sz="1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21">
            <a:extLst>
              <a:ext uri="{FF2B5EF4-FFF2-40B4-BE49-F238E27FC236}">
                <a16:creationId xmlns:a16="http://schemas.microsoft.com/office/drawing/2014/main" id="{BFE26074-068D-B8A3-57CA-28E056D43529}"/>
              </a:ext>
            </a:extLst>
          </p:cNvPr>
          <p:cNvSpPr txBox="1"/>
          <p:nvPr/>
        </p:nvSpPr>
        <p:spPr>
          <a:xfrm>
            <a:off x="10822297" y="3024339"/>
            <a:ext cx="3385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正方形/長方形 22">
            <a:extLst>
              <a:ext uri="{FF2B5EF4-FFF2-40B4-BE49-F238E27FC236}">
                <a16:creationId xmlns:a16="http://schemas.microsoft.com/office/drawing/2014/main" id="{583E8B6D-D3EC-5466-FA8B-57DFE70C84DE}"/>
              </a:ext>
            </a:extLst>
          </p:cNvPr>
          <p:cNvSpPr/>
          <p:nvPr/>
        </p:nvSpPr>
        <p:spPr bwMode="auto">
          <a:xfrm>
            <a:off x="11131732" y="3274751"/>
            <a:ext cx="338555" cy="56597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cxnSp>
        <p:nvCxnSpPr>
          <p:cNvPr id="21" name="直線矢印コネクタ 23">
            <a:extLst>
              <a:ext uri="{FF2B5EF4-FFF2-40B4-BE49-F238E27FC236}">
                <a16:creationId xmlns:a16="http://schemas.microsoft.com/office/drawing/2014/main" id="{CFC77C0B-646A-CA78-F4DA-BE06971C8090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 bwMode="auto">
          <a:xfrm>
            <a:off x="10948402" y="2319007"/>
            <a:ext cx="352608" cy="95574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テキスト ボックス 27">
            <a:extLst>
              <a:ext uri="{FF2B5EF4-FFF2-40B4-BE49-F238E27FC236}">
                <a16:creationId xmlns:a16="http://schemas.microsoft.com/office/drawing/2014/main" id="{B56883C6-959E-58A1-9802-75AF9B6BDA11}"/>
              </a:ext>
            </a:extLst>
          </p:cNvPr>
          <p:cNvSpPr txBox="1"/>
          <p:nvPr/>
        </p:nvSpPr>
        <p:spPr>
          <a:xfrm>
            <a:off x="9968604" y="3179811"/>
            <a:ext cx="840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Link</a:t>
            </a:r>
            <a:r>
              <a:rPr lang="ja-JP" altLang="en-US" sz="1200" b="1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</a:t>
            </a:r>
            <a:endParaRPr kumimoji="1" lang="ja-JP" altLang="en-US" sz="1200" b="1" dirty="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3" name="テキスト ボックス 28">
            <a:extLst>
              <a:ext uri="{FF2B5EF4-FFF2-40B4-BE49-F238E27FC236}">
                <a16:creationId xmlns:a16="http://schemas.microsoft.com/office/drawing/2014/main" id="{3B4F1446-89A4-8DD1-01E3-6EEFE8479758}"/>
              </a:ext>
            </a:extLst>
          </p:cNvPr>
          <p:cNvSpPr txBox="1"/>
          <p:nvPr/>
        </p:nvSpPr>
        <p:spPr>
          <a:xfrm>
            <a:off x="10010834" y="3702226"/>
            <a:ext cx="840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Link</a:t>
            </a:r>
            <a:r>
              <a:rPr lang="ja-JP" altLang="en-US" sz="1200" b="1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</a:t>
            </a:r>
            <a:endParaRPr kumimoji="1" lang="ja-JP" altLang="en-US" sz="1200" b="1" dirty="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テキスト ボックス 29">
            <a:extLst>
              <a:ext uri="{FF2B5EF4-FFF2-40B4-BE49-F238E27FC236}">
                <a16:creationId xmlns:a16="http://schemas.microsoft.com/office/drawing/2014/main" id="{E6CF0427-94E0-ABB9-6260-E4FA8E6F2725}"/>
              </a:ext>
            </a:extLst>
          </p:cNvPr>
          <p:cNvSpPr txBox="1"/>
          <p:nvPr/>
        </p:nvSpPr>
        <p:spPr>
          <a:xfrm>
            <a:off x="10094177" y="4261763"/>
            <a:ext cx="840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Link</a:t>
            </a:r>
            <a:r>
              <a:rPr lang="ja-JP" altLang="en-US" sz="1200" b="1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</a:t>
            </a:r>
            <a:endParaRPr kumimoji="1" lang="ja-JP" altLang="en-US" sz="1200" b="1" dirty="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0" name="テキスト ボックス 30">
            <a:extLst>
              <a:ext uri="{FF2B5EF4-FFF2-40B4-BE49-F238E27FC236}">
                <a16:creationId xmlns:a16="http://schemas.microsoft.com/office/drawing/2014/main" id="{F4585728-49C6-6099-1E8C-FEB999E2F693}"/>
              </a:ext>
            </a:extLst>
          </p:cNvPr>
          <p:cNvSpPr txBox="1"/>
          <p:nvPr/>
        </p:nvSpPr>
        <p:spPr>
          <a:xfrm>
            <a:off x="2733675" y="4821987"/>
            <a:ext cx="46035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Link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①：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 view specific revision of current document.</a:t>
            </a:r>
          </a:p>
          <a:p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Link</a:t>
            </a:r>
            <a:r>
              <a:rPr kumimoji="1"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②：</a:t>
            </a:r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 view all revisions of target document.</a:t>
            </a: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Link</a:t>
            </a:r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③：</a:t>
            </a:r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To view latest issued revision of target document</a:t>
            </a:r>
          </a:p>
          <a:p>
            <a:endParaRPr kumimoji="1" lang="en-US" altLang="ja-JP" sz="12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※</a:t>
            </a:r>
            <a:r>
              <a:rPr lang="en-US" altLang="ja-JP" sz="12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Please note that user </a:t>
            </a:r>
            <a:r>
              <a:rPr kumimoji="1" lang="en-US" altLang="ja-JP" sz="12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Viewer right only unable to access link </a:t>
            </a:r>
            <a:r>
              <a:rPr kumimoji="1" lang="ja-JP" altLang="en-US" sz="12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①＋②</a:t>
            </a:r>
            <a:r>
              <a:rPr kumimoji="1" lang="en-US" altLang="ja-JP" sz="1200" dirty="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. Please choose correct URL to share.</a:t>
            </a:r>
            <a:endParaRPr kumimoji="1" lang="ja-JP" altLang="en-US" sz="1200" b="1" dirty="0">
              <a:solidFill>
                <a:srgbClr val="0000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0780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479F-20B5-D219-53EA-ADD83CE58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8. Recently Viewed</a:t>
            </a:r>
            <a:endParaRPr lang="en-IN" dirty="0"/>
          </a:p>
        </p:txBody>
      </p:sp>
      <p:sp>
        <p:nvSpPr>
          <p:cNvPr id="3" name="テキスト ボックス 3">
            <a:extLst>
              <a:ext uri="{FF2B5EF4-FFF2-40B4-BE49-F238E27FC236}">
                <a16:creationId xmlns:a16="http://schemas.microsoft.com/office/drawing/2014/main" id="{1B8674FF-FCDF-BF67-27C9-31EFD0D51B49}"/>
              </a:ext>
            </a:extLst>
          </p:cNvPr>
          <p:cNvSpPr txBox="1"/>
          <p:nvPr/>
        </p:nvSpPr>
        <p:spPr>
          <a:xfrm>
            <a:off x="133349" y="686871"/>
            <a:ext cx="10895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On the navigation bar, the “</a:t>
            </a:r>
            <a:r>
              <a:rPr lang="en-US" altLang="ja-JP" b="1" dirty="0">
                <a:latin typeface="Meiryo UI" panose="020B0604030504040204" pitchFamily="34" charset="-128"/>
                <a:ea typeface="Meiryo UI" panose="020B0604030504040204" pitchFamily="34" charset="-128"/>
              </a:rPr>
              <a:t>Recently Viewed</a:t>
            </a:r>
            <a:r>
              <a:rPr lang="ja-JP" altLang="en-US" b="1" dirty="0">
                <a:latin typeface="Meiryo UI" panose="020B0604030504040204" pitchFamily="34" charset="-128"/>
                <a:ea typeface="Meiryo UI" panose="020B0604030504040204" pitchFamily="34" charset="-128"/>
              </a:rPr>
              <a:t>”</a:t>
            </a:r>
            <a:r>
              <a:rPr lang="en-US" altLang="ja-JP" b="1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button      displays information you have recently </a:t>
            </a:r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v</a:t>
            </a:r>
            <a:r>
              <a:rPr lang="en-US" altLang="ja-JP" sz="1800" dirty="0">
                <a:latin typeface="Meiryo UI" panose="020B0604030504040204" pitchFamily="34" charset="-128"/>
                <a:ea typeface="Meiryo UI" panose="020B0604030504040204" pitchFamily="34" charset="-128"/>
              </a:rPr>
              <a:t>iewed.</a:t>
            </a:r>
          </a:p>
        </p:txBody>
      </p:sp>
      <p:pic>
        <p:nvPicPr>
          <p:cNvPr id="4" name="図 24">
            <a:extLst>
              <a:ext uri="{FF2B5EF4-FFF2-40B4-BE49-F238E27FC236}">
                <a16:creationId xmlns:a16="http://schemas.microsoft.com/office/drawing/2014/main" id="{7A521E2D-7B76-441C-EA56-F970DA6C4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57" y="686871"/>
            <a:ext cx="374355" cy="340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62611-4CA8-F1D7-F5BC-82608FFF8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43"/>
          <a:stretch/>
        </p:blipFill>
        <p:spPr>
          <a:xfrm>
            <a:off x="0" y="1524000"/>
            <a:ext cx="1952625" cy="4838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CE282A-52F3-4C9C-18F1-AF4D2383B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196" y="3033712"/>
            <a:ext cx="3067050" cy="1133475"/>
          </a:xfrm>
          <a:prstGeom prst="rect">
            <a:avLst/>
          </a:prstGeom>
        </p:spPr>
      </p:pic>
      <p:sp>
        <p:nvSpPr>
          <p:cNvPr id="9" name="テキスト ボックス 21">
            <a:extLst>
              <a:ext uri="{FF2B5EF4-FFF2-40B4-BE49-F238E27FC236}">
                <a16:creationId xmlns:a16="http://schemas.microsoft.com/office/drawing/2014/main" id="{6F37BD12-573E-C89E-A9CF-A4325CFF0886}"/>
              </a:ext>
            </a:extLst>
          </p:cNvPr>
          <p:cNvSpPr txBox="1"/>
          <p:nvPr/>
        </p:nvSpPr>
        <p:spPr>
          <a:xfrm>
            <a:off x="5469820" y="1248072"/>
            <a:ext cx="67983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Meiryo UI" panose="020B0604030504040204" pitchFamily="34" charset="-128"/>
                <a:ea typeface="Meiryo UI" panose="020B0604030504040204" pitchFamily="34" charset="-128"/>
              </a:rPr>
              <a:t>If you want to view it again, click on the target document or File, the information will be displayed in the field on the right side as below image.</a:t>
            </a:r>
          </a:p>
        </p:txBody>
      </p:sp>
      <p:sp>
        <p:nvSpPr>
          <p:cNvPr id="10" name="矢印: 右 16">
            <a:extLst>
              <a:ext uri="{FF2B5EF4-FFF2-40B4-BE49-F238E27FC236}">
                <a16:creationId xmlns:a16="http://schemas.microsoft.com/office/drawing/2014/main" id="{0DEBBA6B-9C82-6813-6E69-DC0A5FB2A002}"/>
              </a:ext>
            </a:extLst>
          </p:cNvPr>
          <p:cNvSpPr/>
          <p:nvPr/>
        </p:nvSpPr>
        <p:spPr bwMode="auto">
          <a:xfrm>
            <a:off x="1952625" y="3545609"/>
            <a:ext cx="561571" cy="542925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テキスト ボックス 18">
            <a:extLst>
              <a:ext uri="{FF2B5EF4-FFF2-40B4-BE49-F238E27FC236}">
                <a16:creationId xmlns:a16="http://schemas.microsoft.com/office/drawing/2014/main" id="{3BBAF23C-5975-25EA-845E-32E7C17A4928}"/>
              </a:ext>
            </a:extLst>
          </p:cNvPr>
          <p:cNvSpPr txBox="1"/>
          <p:nvPr/>
        </p:nvSpPr>
        <p:spPr>
          <a:xfrm>
            <a:off x="2879410" y="2664380"/>
            <a:ext cx="1168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kern="100" dirty="0">
                <a:solidFill>
                  <a:srgbClr val="0000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Click !</a:t>
            </a:r>
            <a:endParaRPr lang="ja-JP" altLang="en-US" dirty="0">
              <a:solidFill>
                <a:srgbClr val="0000FF"/>
              </a:solidFill>
            </a:endParaRPr>
          </a:p>
        </p:txBody>
      </p:sp>
      <p:sp>
        <p:nvSpPr>
          <p:cNvPr id="12" name="矢印: 右 19">
            <a:extLst>
              <a:ext uri="{FF2B5EF4-FFF2-40B4-BE49-F238E27FC236}">
                <a16:creationId xmlns:a16="http://schemas.microsoft.com/office/drawing/2014/main" id="{9F1DD3B1-0683-8DB2-A4AE-67E59210DCE4}"/>
              </a:ext>
            </a:extLst>
          </p:cNvPr>
          <p:cNvSpPr/>
          <p:nvPr/>
        </p:nvSpPr>
        <p:spPr bwMode="auto">
          <a:xfrm>
            <a:off x="4465924" y="3481387"/>
            <a:ext cx="619587" cy="685800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0CE4C2-56FF-7595-7D14-0FB2DD5B0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621" y="2824936"/>
            <a:ext cx="6798379" cy="355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969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A5B9673-B67B-945D-0FA6-930DCE379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98" y="3614078"/>
            <a:ext cx="6842140" cy="2229848"/>
          </a:xfrm>
          <a:prstGeom prst="rect">
            <a:avLst/>
          </a:prstGeom>
        </p:spPr>
      </p:pic>
      <p:pic>
        <p:nvPicPr>
          <p:cNvPr id="6" name="図 18">
            <a:extLst>
              <a:ext uri="{FF2B5EF4-FFF2-40B4-BE49-F238E27FC236}">
                <a16:creationId xmlns:a16="http://schemas.microsoft.com/office/drawing/2014/main" id="{55DB9F50-0A08-73E3-7DCD-A39DF5B9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72" y="1621929"/>
            <a:ext cx="1152540" cy="42219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987674-5399-3201-9304-5ADE8B0E6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878" y="1662656"/>
            <a:ext cx="2708202" cy="11727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A1526E-4615-B0FD-DFAB-2C31F6A1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9. Favorite</a:t>
            </a:r>
            <a:endParaRPr lang="en-IN" dirty="0"/>
          </a:p>
        </p:txBody>
      </p:sp>
      <p:sp>
        <p:nvSpPr>
          <p:cNvPr id="3" name="テキスト ボックス 3">
            <a:extLst>
              <a:ext uri="{FF2B5EF4-FFF2-40B4-BE49-F238E27FC236}">
                <a16:creationId xmlns:a16="http://schemas.microsoft.com/office/drawing/2014/main" id="{A931B6CE-B565-CECF-6D7F-CD0A56671E88}"/>
              </a:ext>
            </a:extLst>
          </p:cNvPr>
          <p:cNvSpPr txBox="1"/>
          <p:nvPr/>
        </p:nvSpPr>
        <p:spPr>
          <a:xfrm>
            <a:off x="123825" y="714672"/>
            <a:ext cx="1127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When you click “</a:t>
            </a:r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Favorite</a:t>
            </a:r>
            <a:r>
              <a:rPr lang="ja-JP" altLang="en-US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”</a:t>
            </a:r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button      on the navigation bar, the information registered as a favorite is immediately displayed.</a:t>
            </a:r>
          </a:p>
        </p:txBody>
      </p:sp>
      <p:pic>
        <p:nvPicPr>
          <p:cNvPr id="4" name="図 27">
            <a:extLst>
              <a:ext uri="{FF2B5EF4-FFF2-40B4-BE49-F238E27FC236}">
                <a16:creationId xmlns:a16="http://schemas.microsoft.com/office/drawing/2014/main" id="{F666E92B-B729-6E11-9C0F-223C4E523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585" y="728433"/>
            <a:ext cx="347217" cy="340131"/>
          </a:xfrm>
          <a:prstGeom prst="rect">
            <a:avLst/>
          </a:prstGeom>
        </p:spPr>
      </p:pic>
      <p:sp>
        <p:nvSpPr>
          <p:cNvPr id="9" name="正方形/長方形 10">
            <a:extLst>
              <a:ext uri="{FF2B5EF4-FFF2-40B4-BE49-F238E27FC236}">
                <a16:creationId xmlns:a16="http://schemas.microsoft.com/office/drawing/2014/main" id="{1CC2E9A2-44AE-0793-5D13-6890BD72F686}"/>
              </a:ext>
            </a:extLst>
          </p:cNvPr>
          <p:cNvSpPr/>
          <p:nvPr/>
        </p:nvSpPr>
        <p:spPr bwMode="auto">
          <a:xfrm>
            <a:off x="404639" y="4139509"/>
            <a:ext cx="1328205" cy="47059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0" name="矢印: 右 11">
            <a:extLst>
              <a:ext uri="{FF2B5EF4-FFF2-40B4-BE49-F238E27FC236}">
                <a16:creationId xmlns:a16="http://schemas.microsoft.com/office/drawing/2014/main" id="{C01AE76A-AB85-0365-2CF3-1D400FA5A606}"/>
              </a:ext>
            </a:extLst>
          </p:cNvPr>
          <p:cNvSpPr/>
          <p:nvPr/>
        </p:nvSpPr>
        <p:spPr bwMode="auto">
          <a:xfrm rot="17819416">
            <a:off x="718951" y="3326506"/>
            <a:ext cx="1383838" cy="176775"/>
          </a:xfrm>
          <a:prstGeom prst="rightArrow">
            <a:avLst/>
          </a:prstGeom>
          <a:solidFill>
            <a:schemeClr val="accent4">
              <a:lumMod val="50000"/>
            </a:schemeClr>
          </a:solidFill>
          <a:ln w="12700" cap="flat" cmpd="sng" algn="ctr">
            <a:solidFill>
              <a:schemeClr val="tx2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11" name="正方形/長方形 12">
            <a:extLst>
              <a:ext uri="{FF2B5EF4-FFF2-40B4-BE49-F238E27FC236}">
                <a16:creationId xmlns:a16="http://schemas.microsoft.com/office/drawing/2014/main" id="{D58848F4-4809-FBDE-B793-123B179B600C}"/>
              </a:ext>
            </a:extLst>
          </p:cNvPr>
          <p:cNvSpPr/>
          <p:nvPr/>
        </p:nvSpPr>
        <p:spPr bwMode="auto">
          <a:xfrm>
            <a:off x="3294207" y="2288514"/>
            <a:ext cx="591873" cy="3714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cxnSp>
        <p:nvCxnSpPr>
          <p:cNvPr id="12" name="直線矢印コネクタ 13">
            <a:extLst>
              <a:ext uri="{FF2B5EF4-FFF2-40B4-BE49-F238E27FC236}">
                <a16:creationId xmlns:a16="http://schemas.microsoft.com/office/drawing/2014/main" id="{7C35B336-9547-2E58-BEF8-F77967FAA166}"/>
              </a:ext>
            </a:extLst>
          </p:cNvPr>
          <p:cNvCxnSpPr>
            <a:endCxn id="11" idx="2"/>
          </p:cNvCxnSpPr>
          <p:nvPr/>
        </p:nvCxnSpPr>
        <p:spPr bwMode="auto">
          <a:xfrm flipV="1">
            <a:off x="2776945" y="2659989"/>
            <a:ext cx="813199" cy="1119188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テキスト ボックス 17">
            <a:extLst>
              <a:ext uri="{FF2B5EF4-FFF2-40B4-BE49-F238E27FC236}">
                <a16:creationId xmlns:a16="http://schemas.microsoft.com/office/drawing/2014/main" id="{419C355B-F4F0-42E5-7A79-10DE71C11549}"/>
              </a:ext>
            </a:extLst>
          </p:cNvPr>
          <p:cNvSpPr txBox="1"/>
          <p:nvPr/>
        </p:nvSpPr>
        <p:spPr>
          <a:xfrm>
            <a:off x="1928007" y="3779177"/>
            <a:ext cx="24373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Click here to remove this item from Favorite list</a:t>
            </a:r>
            <a:endParaRPr lang="ja-JP" altLang="en-US" sz="1600" dirty="0"/>
          </a:p>
        </p:txBody>
      </p:sp>
      <p:sp>
        <p:nvSpPr>
          <p:cNvPr id="14" name="吹き出し: 角を丸めた四角形 23">
            <a:extLst>
              <a:ext uri="{FF2B5EF4-FFF2-40B4-BE49-F238E27FC236}">
                <a16:creationId xmlns:a16="http://schemas.microsoft.com/office/drawing/2014/main" id="{B31C340E-60F1-2883-C29A-808531FEE833}"/>
              </a:ext>
            </a:extLst>
          </p:cNvPr>
          <p:cNvSpPr/>
          <p:nvPr/>
        </p:nvSpPr>
        <p:spPr bwMode="auto">
          <a:xfrm>
            <a:off x="4560510" y="2490786"/>
            <a:ext cx="7291917" cy="3945872"/>
          </a:xfrm>
          <a:prstGeom prst="wedgeRoundRectCallout">
            <a:avLst>
              <a:gd name="adj1" fmla="val 49424"/>
              <a:gd name="adj2" fmla="val 19340"/>
              <a:gd name="adj3" fmla="val 16667"/>
            </a:avLst>
          </a:prstGeom>
          <a:noFill/>
          <a:ln w="3810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ja-JP" altLang="en-US" sz="1100" dirty="0" err="1">
              <a:solidFill>
                <a:schemeClr val="lt1"/>
              </a:solidFill>
            </a:endParaRPr>
          </a:p>
        </p:txBody>
      </p:sp>
      <p:sp>
        <p:nvSpPr>
          <p:cNvPr id="15" name="テキスト ボックス 25">
            <a:extLst>
              <a:ext uri="{FF2B5EF4-FFF2-40B4-BE49-F238E27FC236}">
                <a16:creationId xmlns:a16="http://schemas.microsoft.com/office/drawing/2014/main" id="{53B02A25-1ACB-B7D1-9381-4E409D47FA19}"/>
              </a:ext>
            </a:extLst>
          </p:cNvPr>
          <p:cNvSpPr txBox="1"/>
          <p:nvPr/>
        </p:nvSpPr>
        <p:spPr>
          <a:xfrm>
            <a:off x="4766458" y="2573556"/>
            <a:ext cx="68389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If you want to register any report or file to Favorite list, you can click       button on the top upper corner of current document you are viewing to add to Favorite</a:t>
            </a:r>
            <a:endParaRPr lang="ja-JP" altLang="en-US" sz="1600" dirty="0"/>
          </a:p>
        </p:txBody>
      </p:sp>
      <p:pic>
        <p:nvPicPr>
          <p:cNvPr id="16" name="図 28">
            <a:extLst>
              <a:ext uri="{FF2B5EF4-FFF2-40B4-BE49-F238E27FC236}">
                <a16:creationId xmlns:a16="http://schemas.microsoft.com/office/drawing/2014/main" id="{C91EE66B-CD50-E6C6-22E0-3A9702845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860" y="2835439"/>
            <a:ext cx="347217" cy="340131"/>
          </a:xfrm>
          <a:prstGeom prst="rect">
            <a:avLst/>
          </a:prstGeom>
        </p:spPr>
      </p:pic>
      <p:sp>
        <p:nvSpPr>
          <p:cNvPr id="17" name="正方形/長方形 29">
            <a:extLst>
              <a:ext uri="{FF2B5EF4-FFF2-40B4-BE49-F238E27FC236}">
                <a16:creationId xmlns:a16="http://schemas.microsoft.com/office/drawing/2014/main" id="{CB113C38-E9F3-825F-A074-F6611ED9AF55}"/>
              </a:ext>
            </a:extLst>
          </p:cNvPr>
          <p:cNvSpPr/>
          <p:nvPr/>
        </p:nvSpPr>
        <p:spPr bwMode="auto">
          <a:xfrm>
            <a:off x="10753724" y="3579657"/>
            <a:ext cx="270659" cy="28749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cxnSp>
        <p:nvCxnSpPr>
          <p:cNvPr id="18" name="直線矢印コネクタ 30">
            <a:extLst>
              <a:ext uri="{FF2B5EF4-FFF2-40B4-BE49-F238E27FC236}">
                <a16:creationId xmlns:a16="http://schemas.microsoft.com/office/drawing/2014/main" id="{38FE61A4-6CEC-44D3-9DE1-52F8BD06EE39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 bwMode="auto">
          <a:xfrm>
            <a:off x="5697077" y="3005505"/>
            <a:ext cx="5056647" cy="71789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66858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893A-82E0-8D28-DA83-F41480B9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</a:t>
            </a:r>
            <a:r>
              <a:rPr lang="en-US" altLang="ja-JP" sz="4400" dirty="0">
                <a:solidFill>
                  <a:srgbClr val="0000FF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dirty="0"/>
              <a:t>EDMS RL Analytics (For IS/IT, Biz Admin)</a:t>
            </a:r>
            <a:br>
              <a:rPr lang="en-US" altLang="ja-JP" dirty="0"/>
            </a:br>
            <a:r>
              <a:rPr lang="en-US" dirty="0"/>
              <a:t> </a:t>
            </a:r>
            <a:endParaRPr lang="en-IN" dirty="0"/>
          </a:p>
        </p:txBody>
      </p:sp>
      <p:sp>
        <p:nvSpPr>
          <p:cNvPr id="3" name="テキスト ボックス 3">
            <a:extLst>
              <a:ext uri="{FF2B5EF4-FFF2-40B4-BE49-F238E27FC236}">
                <a16:creationId xmlns:a16="http://schemas.microsoft.com/office/drawing/2014/main" id="{077A07D0-EE8D-42F7-1137-B51C620A6F92}"/>
              </a:ext>
            </a:extLst>
          </p:cNvPr>
          <p:cNvSpPr txBox="1"/>
          <p:nvPr/>
        </p:nvSpPr>
        <p:spPr>
          <a:xfrm>
            <a:off x="0" y="737384"/>
            <a:ext cx="121348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There are 2 ways for accessing EDMS/RL analytics:</a:t>
            </a:r>
          </a:p>
          <a:p>
            <a:endParaRPr lang="en-US" altLang="ja-JP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Way 1: Go to Administration Tab and select Analytics: </a:t>
            </a:r>
            <a:r>
              <a:rPr lang="en-US" altLang="ja-JP" sz="1600" b="1" dirty="0">
                <a:solidFill>
                  <a:srgbClr val="E6001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(This Option is available only for IS/IT Administrators).</a:t>
            </a:r>
          </a:p>
          <a:p>
            <a:endParaRPr lang="en-US" altLang="ja-JP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endParaRPr lang="en-US" altLang="ja-JP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7FA961-450D-CB2F-ECE3-8059AE789E56}"/>
              </a:ext>
            </a:extLst>
          </p:cNvPr>
          <p:cNvGrpSpPr/>
          <p:nvPr/>
        </p:nvGrpSpPr>
        <p:grpSpPr>
          <a:xfrm>
            <a:off x="123825" y="2038111"/>
            <a:ext cx="11995864" cy="4405284"/>
            <a:chOff x="123825" y="1471642"/>
            <a:chExt cx="11995864" cy="440528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CDB9CC-C845-6D95-B596-EF5C3ABA5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825" y="1695450"/>
              <a:ext cx="619125" cy="17335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E65BB7-F3CA-A23C-3A42-CBE174771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8750" y="1695450"/>
              <a:ext cx="2433637" cy="3164531"/>
            </a:xfrm>
            <a:prstGeom prst="rect">
              <a:avLst/>
            </a:prstGeom>
          </p:spPr>
        </p:pic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E535940-E2EF-6286-4FEA-834F4890C97C}"/>
                </a:ext>
              </a:extLst>
            </p:cNvPr>
            <p:cNvSpPr/>
            <p:nvPr/>
          </p:nvSpPr>
          <p:spPr>
            <a:xfrm>
              <a:off x="614363" y="2585918"/>
              <a:ext cx="814387" cy="2239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14E7E19-799B-1234-DD9B-8AB541B459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0951" y="1471642"/>
              <a:ext cx="8158738" cy="4405284"/>
            </a:xfrm>
            <a:prstGeom prst="rect">
              <a:avLst/>
            </a:prstGeom>
          </p:spPr>
        </p:pic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B28D91C-4803-4EA9-8EC1-1A8F9A53A029}"/>
                </a:ext>
              </a:extLst>
            </p:cNvPr>
            <p:cNvSpPr/>
            <p:nvPr/>
          </p:nvSpPr>
          <p:spPr>
            <a:xfrm>
              <a:off x="3146563" y="2562225"/>
              <a:ext cx="814387" cy="223957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正方形/長方形 12">
              <a:extLst>
                <a:ext uri="{FF2B5EF4-FFF2-40B4-BE49-F238E27FC236}">
                  <a16:creationId xmlns:a16="http://schemas.microsoft.com/office/drawing/2014/main" id="{4FEF5D20-3BD2-8FAC-36AC-3CEF37F16320}"/>
                </a:ext>
              </a:extLst>
            </p:cNvPr>
            <p:cNvSpPr/>
            <p:nvPr/>
          </p:nvSpPr>
          <p:spPr bwMode="auto">
            <a:xfrm>
              <a:off x="4905374" y="1695449"/>
              <a:ext cx="828675" cy="290781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ea typeface="ＭＳ Ｐゴシック" charset="-128"/>
              </a:endParaRPr>
            </a:p>
          </p:txBody>
        </p:sp>
        <p:sp>
          <p:nvSpPr>
            <p:cNvPr id="13" name="Speech Bubble: Rectangle 12">
              <a:extLst>
                <a:ext uri="{FF2B5EF4-FFF2-40B4-BE49-F238E27FC236}">
                  <a16:creationId xmlns:a16="http://schemas.microsoft.com/office/drawing/2014/main" id="{532E1E29-1DF4-6A2C-75E0-321A9F4B36F9}"/>
                </a:ext>
              </a:extLst>
            </p:cNvPr>
            <p:cNvSpPr/>
            <p:nvPr/>
          </p:nvSpPr>
          <p:spPr>
            <a:xfrm>
              <a:off x="5467349" y="2228447"/>
              <a:ext cx="1781175" cy="344984"/>
            </a:xfrm>
            <a:prstGeom prst="wedgeRectCallout">
              <a:avLst>
                <a:gd name="adj1" fmla="val -49386"/>
                <a:gd name="adj2" fmla="val -10267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Select this tab</a:t>
              </a:r>
              <a:endParaRPr lang="en-IN" dirty="0"/>
            </a:p>
          </p:txBody>
        </p:sp>
      </p:grpSp>
      <p:sp>
        <p:nvSpPr>
          <p:cNvPr id="4" name="正方形/長方形 12">
            <a:extLst>
              <a:ext uri="{FF2B5EF4-FFF2-40B4-BE49-F238E27FC236}">
                <a16:creationId xmlns:a16="http://schemas.microsoft.com/office/drawing/2014/main" id="{E411CC69-1207-2CCE-40FC-C8549F23462E}"/>
              </a:ext>
            </a:extLst>
          </p:cNvPr>
          <p:cNvSpPr/>
          <p:nvPr/>
        </p:nvSpPr>
        <p:spPr bwMode="auto">
          <a:xfrm>
            <a:off x="136457" y="3128694"/>
            <a:ext cx="606494" cy="300306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6213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2DA0-CA4B-5E25-D391-0B464159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609D4-1012-C178-73BD-165C8465A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17172"/>
            <a:ext cx="3590488" cy="3921454"/>
          </a:xfrm>
          <a:prstGeom prst="rect">
            <a:avLst/>
          </a:prstGeom>
        </p:spPr>
      </p:pic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DFA89F27-1AE0-55C5-D7ED-04F9275EAD19}"/>
              </a:ext>
            </a:extLst>
          </p:cNvPr>
          <p:cNvSpPr/>
          <p:nvPr/>
        </p:nvSpPr>
        <p:spPr bwMode="auto">
          <a:xfrm>
            <a:off x="1261844" y="547418"/>
            <a:ext cx="828675" cy="290781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D9856CC2-5030-08C3-8D2D-7F1503935D6A}"/>
              </a:ext>
            </a:extLst>
          </p:cNvPr>
          <p:cNvSpPr/>
          <p:nvPr/>
        </p:nvSpPr>
        <p:spPr>
          <a:xfrm>
            <a:off x="1133474" y="4468872"/>
            <a:ext cx="2638426" cy="914399"/>
          </a:xfrm>
          <a:prstGeom prst="wedgeRectCallout">
            <a:avLst>
              <a:gd name="adj1" fmla="val -7148"/>
              <a:gd name="adj2" fmla="val -8496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Refers to the most downloaded RL/EDMS documents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EF62C-DCF6-16C3-2498-DFB55AB8C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603" y="547419"/>
            <a:ext cx="3275157" cy="2405332"/>
          </a:xfrm>
          <a:prstGeom prst="rect">
            <a:avLst/>
          </a:prstGeom>
        </p:spPr>
      </p:pic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83641EAF-868F-EC83-B0EB-B7FB1D041F5D}"/>
              </a:ext>
            </a:extLst>
          </p:cNvPr>
          <p:cNvSpPr/>
          <p:nvPr/>
        </p:nvSpPr>
        <p:spPr>
          <a:xfrm>
            <a:off x="8106212" y="1273835"/>
            <a:ext cx="3790513" cy="1447799"/>
          </a:xfrm>
          <a:prstGeom prst="wedgeRectCallout">
            <a:avLst>
              <a:gd name="adj1" fmla="val -81206"/>
              <a:gd name="adj2" fmla="val -90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Refers to number of Document Sets + files for EDMS + RL Application categories which was created (Including Draft + InProgress + Issued Documents) during the above-mentioned time-duration.</a:t>
            </a:r>
            <a:endParaRPr lang="en-IN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8391AB-E04F-2DB0-93DE-3F07083FC7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986" r="22700" b="9912"/>
          <a:stretch/>
        </p:blipFill>
        <p:spPr>
          <a:xfrm>
            <a:off x="3881657" y="3197884"/>
            <a:ext cx="4153520" cy="3557679"/>
          </a:xfrm>
          <a:prstGeom prst="rect">
            <a:avLst/>
          </a:prstGeom>
        </p:spPr>
      </p:pic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3DA56BB-9184-520F-8019-A01607CD76EE}"/>
              </a:ext>
            </a:extLst>
          </p:cNvPr>
          <p:cNvSpPr/>
          <p:nvPr/>
        </p:nvSpPr>
        <p:spPr>
          <a:xfrm>
            <a:off x="8258612" y="4659371"/>
            <a:ext cx="3790513" cy="1447799"/>
          </a:xfrm>
          <a:prstGeom prst="wedgeRectCallout">
            <a:avLst>
              <a:gd name="adj1" fmla="val -81206"/>
              <a:gd name="adj2" fmla="val -909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Refers to number of Document Sets + files for EDMS + RL Application categories which was created (Including Draft + InProgress + Issued Documents) during the above-mentioned time-duration based on the type of files/Document set.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1487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03DAB-2FF4-06DE-0CFE-CAF0F884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77CE1F-E3AB-2331-670A-BFE666B06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3925"/>
            <a:ext cx="12192000" cy="2935550"/>
          </a:xfrm>
          <a:prstGeom prst="rect">
            <a:avLst/>
          </a:prstGeo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DB2A15C-D319-0DB8-A632-E58F22FC8A64}"/>
              </a:ext>
            </a:extLst>
          </p:cNvPr>
          <p:cNvSpPr/>
          <p:nvPr/>
        </p:nvSpPr>
        <p:spPr>
          <a:xfrm>
            <a:off x="1066799" y="3935472"/>
            <a:ext cx="2638426" cy="914399"/>
          </a:xfrm>
          <a:prstGeom prst="wedgeRectCallout">
            <a:avLst>
              <a:gd name="adj1" fmla="val -20144"/>
              <a:gd name="adj2" fmla="val -933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Top 10 Users who have created most of the document sets/files</a:t>
            </a:r>
            <a:endParaRPr lang="en-IN" sz="1600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6F8AA08-F066-1C08-8BE0-0F48E0C7345F}"/>
              </a:ext>
            </a:extLst>
          </p:cNvPr>
          <p:cNvSpPr/>
          <p:nvPr/>
        </p:nvSpPr>
        <p:spPr>
          <a:xfrm>
            <a:off x="7238999" y="3965693"/>
            <a:ext cx="2638426" cy="914399"/>
          </a:xfrm>
          <a:prstGeom prst="wedgeRectCallout">
            <a:avLst>
              <a:gd name="adj1" fmla="val -20144"/>
              <a:gd name="adj2" fmla="val -9330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Document sets/files created / Modified on Weekly basis.</a:t>
            </a:r>
            <a:endParaRPr lang="en-IN" sz="1600" dirty="0"/>
          </a:p>
        </p:txBody>
      </p:sp>
      <p:sp>
        <p:nvSpPr>
          <p:cNvPr id="9" name="正方形/長方形 12">
            <a:extLst>
              <a:ext uri="{FF2B5EF4-FFF2-40B4-BE49-F238E27FC236}">
                <a16:creationId xmlns:a16="http://schemas.microsoft.com/office/drawing/2014/main" id="{995121A8-3355-4B43-215E-B528063144C6}"/>
              </a:ext>
            </a:extLst>
          </p:cNvPr>
          <p:cNvSpPr/>
          <p:nvPr/>
        </p:nvSpPr>
        <p:spPr bwMode="auto">
          <a:xfrm>
            <a:off x="1409699" y="703925"/>
            <a:ext cx="1123951" cy="3628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67001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A802-5CEA-74A1-5992-9A107B75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87E18-1918-7BD1-5E90-CE88A253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0"/>
            <a:ext cx="7987753" cy="4286250"/>
          </a:xfrm>
          <a:prstGeom prst="rect">
            <a:avLst/>
          </a:prstGeom>
        </p:spPr>
      </p:pic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AA84C9A1-D7B7-51A6-33FC-E65635CA14BE}"/>
              </a:ext>
            </a:extLst>
          </p:cNvPr>
          <p:cNvSpPr/>
          <p:nvPr/>
        </p:nvSpPr>
        <p:spPr bwMode="auto">
          <a:xfrm>
            <a:off x="847724" y="0"/>
            <a:ext cx="1123951" cy="36287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1468FBEE-0B5B-23FB-3AA8-EA78FA4BFEA1}"/>
              </a:ext>
            </a:extLst>
          </p:cNvPr>
          <p:cNvSpPr/>
          <p:nvPr/>
        </p:nvSpPr>
        <p:spPr>
          <a:xfrm>
            <a:off x="9201149" y="2706747"/>
            <a:ext cx="2638426" cy="914399"/>
          </a:xfrm>
          <a:prstGeom prst="wedgeRectCallout">
            <a:avLst>
              <a:gd name="adj1" fmla="val -103537"/>
              <a:gd name="adj2" fmla="val 139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Type of the files uploaded in RL / EDMS categories.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8B00F-A22F-6421-975C-44545BC427E9}"/>
              </a:ext>
            </a:extLst>
          </p:cNvPr>
          <p:cNvSpPr txBox="1"/>
          <p:nvPr/>
        </p:nvSpPr>
        <p:spPr>
          <a:xfrm>
            <a:off x="38100" y="4476750"/>
            <a:ext cx="118014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ea"/>
                <a:ea typeface="+mn-ea"/>
              </a:rPr>
              <a:t>Apart from the above charts, we can check the analytics of Workflow data:</a:t>
            </a:r>
            <a:endParaRPr lang="en-IN" sz="1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5022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885272F-0086-20C9-217D-3F236DEDB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19" y="801284"/>
            <a:ext cx="11667507" cy="49330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C477CB-89F9-CA89-9411-9125CFCE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17EAA01E-D680-421F-F2B2-BAE3A6EF3823}"/>
              </a:ext>
            </a:extLst>
          </p:cNvPr>
          <p:cNvSpPr/>
          <p:nvPr/>
        </p:nvSpPr>
        <p:spPr>
          <a:xfrm>
            <a:off x="1810731" y="1838787"/>
            <a:ext cx="2638426" cy="674628"/>
          </a:xfrm>
          <a:prstGeom prst="wedgeRectCallout">
            <a:avLst>
              <a:gd name="adj1" fmla="val -30975"/>
              <a:gd name="adj2" fmla="val 7046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Average duration taken to complete a Workflow</a:t>
            </a:r>
            <a:endParaRPr lang="en-IN" sz="1600" dirty="0"/>
          </a:p>
        </p:txBody>
      </p:sp>
      <p:sp>
        <p:nvSpPr>
          <p:cNvPr id="6" name="正方形/長方形 12">
            <a:extLst>
              <a:ext uri="{FF2B5EF4-FFF2-40B4-BE49-F238E27FC236}">
                <a16:creationId xmlns:a16="http://schemas.microsoft.com/office/drawing/2014/main" id="{6FD39364-859D-D993-0CB5-64B2792E095D}"/>
              </a:ext>
            </a:extLst>
          </p:cNvPr>
          <p:cNvSpPr/>
          <p:nvPr/>
        </p:nvSpPr>
        <p:spPr bwMode="auto">
          <a:xfrm>
            <a:off x="2857500" y="1123692"/>
            <a:ext cx="982058" cy="29594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B5F07A35-78E0-063B-3AAF-B2854806FCD9}"/>
              </a:ext>
            </a:extLst>
          </p:cNvPr>
          <p:cNvSpPr/>
          <p:nvPr/>
        </p:nvSpPr>
        <p:spPr>
          <a:xfrm>
            <a:off x="5993713" y="1281188"/>
            <a:ext cx="2076450" cy="674628"/>
          </a:xfrm>
          <a:prstGeom prst="wedgeRectCallout">
            <a:avLst>
              <a:gd name="adj1" fmla="val -23343"/>
              <a:gd name="adj2" fmla="val 888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Count of Workflow created by the Workflow initiator</a:t>
            </a:r>
            <a:endParaRPr lang="en-IN" sz="1600" dirty="0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4E52E0-9306-7471-9338-D42F37FAF986}"/>
              </a:ext>
            </a:extLst>
          </p:cNvPr>
          <p:cNvSpPr/>
          <p:nvPr/>
        </p:nvSpPr>
        <p:spPr>
          <a:xfrm>
            <a:off x="9080273" y="4118352"/>
            <a:ext cx="2076450" cy="941328"/>
          </a:xfrm>
          <a:prstGeom prst="wedgeRectCallout">
            <a:avLst>
              <a:gd name="adj1" fmla="val -21967"/>
              <a:gd name="adj2" fmla="val -1074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Count of Workflow Approved </a:t>
            </a:r>
            <a:endParaRPr lang="en-IN" sz="1600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063701A7-C5F1-A04A-8C53-B84A1766C403}"/>
              </a:ext>
            </a:extLst>
          </p:cNvPr>
          <p:cNvSpPr/>
          <p:nvPr/>
        </p:nvSpPr>
        <p:spPr>
          <a:xfrm>
            <a:off x="6096000" y="5876898"/>
            <a:ext cx="2638426" cy="674628"/>
          </a:xfrm>
          <a:prstGeom prst="wedgeRectCallout">
            <a:avLst>
              <a:gd name="adj1" fmla="val -31335"/>
              <a:gd name="adj2" fmla="val -7213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Average duration taken to complete a Workflow by each user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12009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F7FB0-2474-6ECF-B544-2FF55A9CC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0" name="テキスト ボックス 3">
            <a:extLst>
              <a:ext uri="{FF2B5EF4-FFF2-40B4-BE49-F238E27FC236}">
                <a16:creationId xmlns:a16="http://schemas.microsoft.com/office/drawing/2014/main" id="{AFE540A6-E911-ED35-3281-3BA8B7D78D25}"/>
              </a:ext>
            </a:extLst>
          </p:cNvPr>
          <p:cNvSpPr txBox="1"/>
          <p:nvPr/>
        </p:nvSpPr>
        <p:spPr>
          <a:xfrm>
            <a:off x="57150" y="861209"/>
            <a:ext cx="121348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Way 2: Go to Profile, Select </a:t>
            </a:r>
            <a:r>
              <a:rPr lang="en-US" altLang="ja-JP" sz="160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Analytics_ERL</a:t>
            </a:r>
            <a:r>
              <a:rPr lang="en-US" altLang="ja-JP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: </a:t>
            </a:r>
            <a:r>
              <a:rPr lang="en-US" altLang="ja-JP" sz="1600" b="1" dirty="0">
                <a:solidFill>
                  <a:srgbClr val="E60012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(This Option is available only for IS/IT Administrators and Biz Administrators).</a:t>
            </a:r>
          </a:p>
          <a:p>
            <a:endParaRPr lang="en-US" altLang="ja-JP" sz="16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endParaRPr lang="en-US" altLang="ja-JP" sz="16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F59EAA-302A-480F-1B6B-1003B7B9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1735888"/>
            <a:ext cx="2943225" cy="3162300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A097D31-C208-877F-74D8-7FB3314E8200}"/>
              </a:ext>
            </a:extLst>
          </p:cNvPr>
          <p:cNvSpPr/>
          <p:nvPr/>
        </p:nvSpPr>
        <p:spPr>
          <a:xfrm>
            <a:off x="3733800" y="4038683"/>
            <a:ext cx="511968" cy="2761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9B4746-2B93-8D08-BC01-3BAB6D7B9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575" y="1938427"/>
            <a:ext cx="7834313" cy="4865735"/>
          </a:xfrm>
          <a:prstGeom prst="rect">
            <a:avLst/>
          </a:prstGeom>
        </p:spPr>
      </p:pic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DE3C1F9A-BF42-D0DF-CE3F-FF88B338AE6A}"/>
              </a:ext>
            </a:extLst>
          </p:cNvPr>
          <p:cNvSpPr/>
          <p:nvPr/>
        </p:nvSpPr>
        <p:spPr>
          <a:xfrm>
            <a:off x="5848349" y="1978865"/>
            <a:ext cx="3762376" cy="1145335"/>
          </a:xfrm>
          <a:prstGeom prst="wedgeRectCallout">
            <a:avLst>
              <a:gd name="adj1" fmla="val -65815"/>
              <a:gd name="adj2" fmla="val 281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Select the time period for which the data to be checked.</a:t>
            </a:r>
          </a:p>
          <a:p>
            <a:pPr algn="ctr"/>
            <a:r>
              <a:rPr lang="en-US" sz="1600" dirty="0"/>
              <a:t>Select required category. (one/Multiple/all categories can be selected)</a:t>
            </a:r>
            <a:endParaRPr lang="en-IN" sz="1600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1B09184E-27E4-7C4D-8468-2CF9C7BA4306}"/>
              </a:ext>
            </a:extLst>
          </p:cNvPr>
          <p:cNvSpPr/>
          <p:nvPr/>
        </p:nvSpPr>
        <p:spPr>
          <a:xfrm>
            <a:off x="1933574" y="5102294"/>
            <a:ext cx="2638426" cy="914399"/>
          </a:xfrm>
          <a:prstGeom prst="wedgeRectCallout">
            <a:avLst>
              <a:gd name="adj1" fmla="val 57113"/>
              <a:gd name="adj2" fmla="val -964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Most viewed document set details</a:t>
            </a:r>
            <a:endParaRPr lang="en-IN" sz="1600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99B99BE3-3939-EA85-CBB8-8EBF885FD18F}"/>
              </a:ext>
            </a:extLst>
          </p:cNvPr>
          <p:cNvSpPr/>
          <p:nvPr/>
        </p:nvSpPr>
        <p:spPr>
          <a:xfrm>
            <a:off x="9484518" y="2971800"/>
            <a:ext cx="2638426" cy="914399"/>
          </a:xfrm>
          <a:prstGeom prst="wedgeRectCallout">
            <a:avLst>
              <a:gd name="adj1" fmla="val -30251"/>
              <a:gd name="adj2" fmla="val 1389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Most viewed Files details</a:t>
            </a:r>
            <a:endParaRPr lang="en-IN" sz="1600" dirty="0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1F5D7B09-E274-FB7E-6C86-42E72E1BC0F1}"/>
              </a:ext>
            </a:extLst>
          </p:cNvPr>
          <p:cNvSpPr/>
          <p:nvPr/>
        </p:nvSpPr>
        <p:spPr>
          <a:xfrm>
            <a:off x="6410324" y="3321208"/>
            <a:ext cx="2638426" cy="914399"/>
          </a:xfrm>
          <a:prstGeom prst="wedgeRectCallout">
            <a:avLst>
              <a:gd name="adj1" fmla="val -26280"/>
              <a:gd name="adj2" fmla="val 744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Click on this Icon to export the details in Excel format.</a:t>
            </a:r>
            <a:endParaRPr lang="en-IN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40376-D26A-E19C-6D8E-904FDAD77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2999424"/>
            <a:ext cx="619125" cy="173355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94A8F78E-242C-94E3-8A5E-E2BAA57F76AE}"/>
              </a:ext>
            </a:extLst>
          </p:cNvPr>
          <p:cNvSpPr/>
          <p:nvPr/>
        </p:nvSpPr>
        <p:spPr>
          <a:xfrm>
            <a:off x="598884" y="4371974"/>
            <a:ext cx="382191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正方形/長方形 12">
            <a:extLst>
              <a:ext uri="{FF2B5EF4-FFF2-40B4-BE49-F238E27FC236}">
                <a16:creationId xmlns:a16="http://schemas.microsoft.com/office/drawing/2014/main" id="{835913A5-B0B5-117A-CE28-CEACBD843FB0}"/>
              </a:ext>
            </a:extLst>
          </p:cNvPr>
          <p:cNvSpPr/>
          <p:nvPr/>
        </p:nvSpPr>
        <p:spPr bwMode="auto">
          <a:xfrm>
            <a:off x="138112" y="4314825"/>
            <a:ext cx="460772" cy="33337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4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773970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1217-6E5D-386F-2A21-93F83666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1F34B-9559-F7FA-345D-95EAD5F3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006"/>
            <a:ext cx="12192000" cy="2104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44AC2-60B0-6256-4E68-02F09B234BFF}"/>
              </a:ext>
            </a:extLst>
          </p:cNvPr>
          <p:cNvSpPr txBox="1"/>
          <p:nvPr/>
        </p:nvSpPr>
        <p:spPr>
          <a:xfrm>
            <a:off x="85725" y="4545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The Exported data appears as below:</a:t>
            </a:r>
          </a:p>
          <a:p>
            <a:r>
              <a:rPr 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For Document Sets: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947263-340D-1F21-7679-B6E9E56F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3509575"/>
            <a:ext cx="12192000" cy="3100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33BABD-A2CA-6EF4-4CA4-2B7BCD6B06FD}"/>
              </a:ext>
            </a:extLst>
          </p:cNvPr>
          <p:cNvSpPr txBox="1"/>
          <p:nvPr/>
        </p:nvSpPr>
        <p:spPr>
          <a:xfrm>
            <a:off x="0" y="317102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Meiryo UI" panose="020B0604030504040204" pitchFamily="34" charset="-128"/>
                <a:ea typeface="Meiryo UI" panose="020B0604030504040204" pitchFamily="34" charset="-128"/>
              </a:rPr>
              <a:t>For Files: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364360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123714" y="3136612"/>
            <a:ext cx="1944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3200" dirty="0">
                <a:latin typeface="Nissan Pro Regular" panose="02000503030000020003" pitchFamily="50" charset="0"/>
              </a:rPr>
              <a:t>Thank you</a:t>
            </a:r>
            <a:endParaRPr kumimoji="1" lang="ja-JP" altLang="en-US" sz="3200" dirty="0">
              <a:latin typeface="Nissan Pro Regular" panose="0200050303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461841"/>
      </p:ext>
    </p:extLst>
  </p:cSld>
  <p:clrMapOvr>
    <a:masterClrMapping/>
  </p:clrMapOvr>
</p:sld>
</file>

<file path=ppt/theme/theme1.xml><?xml version="1.0" encoding="utf-8"?>
<a:theme xmlns:a="http://schemas.openxmlformats.org/drawingml/2006/main" name="1. Cover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EDMS ED Registration GlobalISIT_PPT_16_9_S" id="{FFBE7B8E-42FB-4DED-A924-E1E4D6ECF83E}" vid="{E5B555C0-3238-4183-A432-B11EC8355A0E}"/>
    </a:ext>
  </a:extLst>
</a:theme>
</file>

<file path=ppt/theme/theme2.xml><?xml version="1.0" encoding="utf-8"?>
<a:theme xmlns:a="http://schemas.openxmlformats.org/drawingml/2006/main" name="2. Expec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MS ED Registration GlobalISIT_PPT_16_9_S" id="{FFBE7B8E-42FB-4DED-A924-E1E4D6ECF83E}" vid="{BE7DFC81-44D8-459F-B16E-AF521637912F}"/>
    </a:ext>
  </a:extLst>
</a:theme>
</file>

<file path=ppt/theme/theme3.xml><?xml version="1.0" encoding="utf-8"?>
<a:theme xmlns:a="http://schemas.openxmlformats.org/drawingml/2006/main" name="3. Blank Slide">
  <a:themeElements>
    <a:clrScheme name="Corporate Color">
      <a:dk1>
        <a:srgbClr val="000000"/>
      </a:dk1>
      <a:lt1>
        <a:srgbClr val="FFFFFF"/>
      </a:lt1>
      <a:dk2>
        <a:srgbClr val="003F66"/>
      </a:dk2>
      <a:lt2>
        <a:srgbClr val="5795BB"/>
      </a:lt2>
      <a:accent1>
        <a:srgbClr val="000000"/>
      </a:accent1>
      <a:accent2>
        <a:srgbClr val="003F66"/>
      </a:accent2>
      <a:accent3>
        <a:srgbClr val="5795BB"/>
      </a:accent3>
      <a:accent4>
        <a:srgbClr val="999999"/>
      </a:accent4>
      <a:accent5>
        <a:srgbClr val="666666"/>
      </a:accent5>
      <a:accent6>
        <a:srgbClr val="4C4C4C"/>
      </a:accent6>
      <a:hlink>
        <a:srgbClr val="0070C0"/>
      </a:hlink>
      <a:folHlink>
        <a:srgbClr val="7F7F7F"/>
      </a:folHlink>
    </a:clrScheme>
    <a:fontScheme name="Corporate Font">
      <a:majorFont>
        <a:latin typeface="Nissan Pro Regular"/>
        <a:ea typeface="メイリオ"/>
        <a:cs typeface=""/>
      </a:majorFont>
      <a:minorFont>
        <a:latin typeface="Nissan Pro Regular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MS ED Registration GlobalISIT_PPT_16_9_S" id="{FFBE7B8E-42FB-4DED-A924-E1E4D6ECF83E}" vid="{9B4B5B8E-2B73-4FE7-BB64-90749C295B0B}"/>
    </a:ext>
  </a:extLst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94448B71AFC4A8B1EBDDDC854B0DE" ma:contentTypeVersion="16" ma:contentTypeDescription="Create a new document." ma:contentTypeScope="" ma:versionID="65d848a54f80999784f831cd9b6f1553">
  <xsd:schema xmlns:xsd="http://www.w3.org/2001/XMLSchema" xmlns:xs="http://www.w3.org/2001/XMLSchema" xmlns:p="http://schemas.microsoft.com/office/2006/metadata/properties" xmlns:ns1="http://schemas.microsoft.com/sharepoint/v3" xmlns:ns2="452b68de-9366-4a6d-8b6e-45428c3cd271" xmlns:ns3="ec38023c-351b-4ee8-a88e-8f6363b5466e" targetNamespace="http://schemas.microsoft.com/office/2006/metadata/properties" ma:root="true" ma:fieldsID="7d97fea56f54aed5d6d6b2fda3be5958" ns1:_="" ns2:_="" ns3:_="">
    <xsd:import namespace="http://schemas.microsoft.com/sharepoint/v3"/>
    <xsd:import namespace="452b68de-9366-4a6d-8b6e-45428c3cd271"/>
    <xsd:import namespace="ec38023c-351b-4ee8-a88e-8f6363b546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b68de-9366-4a6d-8b6e-45428c3c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e993f94-6c0e-4a87-8957-b0e4ba0de1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023c-351b-4ee8-a88e-8f6363b5466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50f2b330-1e26-4f81-b56a-fa51a7a3ebf6}" ma:internalName="TaxCatchAll" ma:showField="CatchAllData" ma:web="ec38023c-351b-4ee8-a88e-8f6363b546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38023c-351b-4ee8-a88e-8f6363b5466e" xsi:nil="true"/>
    <_ip_UnifiedCompliancePolicyUIAction xmlns="http://schemas.microsoft.com/sharepoint/v3" xsi:nil="true"/>
    <lcf76f155ced4ddcb4097134ff3c332f xmlns="452b68de-9366-4a6d-8b6e-45428c3cd271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LongProperties xmlns="http://schemas.microsoft.com/office/2006/metadata/longPropertie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D6D775-8ECF-4526-8219-BAAEBF67AF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2b68de-9366-4a6d-8b6e-45428c3cd271"/>
    <ds:schemaRef ds:uri="ec38023c-351b-4ee8-a88e-8f6363b546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DDF703-E9F5-456C-BB9E-9A3971734E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152c0564-0d49-45bb-8ba5-6417696b9a04"/>
    <ds:schemaRef ds:uri="ec38023c-351b-4ee8-a88e-8f6363b5466e"/>
    <ds:schemaRef ds:uri="452b68de-9366-4a6d-8b6e-45428c3cd271"/>
  </ds:schemaRefs>
</ds:datastoreItem>
</file>

<file path=customXml/itemProps3.xml><?xml version="1.0" encoding="utf-8"?>
<ds:datastoreItem xmlns:ds="http://schemas.openxmlformats.org/officeDocument/2006/customXml" ds:itemID="{1FF7788A-C23C-465D-8064-A50C91A5D78E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C978CB5E-DCDF-4123-8B1F-4541C3EC9CD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f30fc12-c89a-4829-a476-5bf9e2086332}" enabled="1" method="Privileged" siteId="{d6b0bbee-7cd9-4d60-bce6-4a67b543e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EDMS ED Registration GlobalISIT_PPT_16_9_S</Template>
  <TotalTime>1352</TotalTime>
  <Words>1453</Words>
  <Application>Microsoft Office PowerPoint</Application>
  <PresentationFormat>Widescreen</PresentationFormat>
  <Paragraphs>160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Meiryo UI</vt:lpstr>
      <vt:lpstr>ＭＳ Ｐゴシック</vt:lpstr>
      <vt:lpstr>Nissan Pro Bold</vt:lpstr>
      <vt:lpstr>Nissan Pro Regular</vt:lpstr>
      <vt:lpstr>Arial</vt:lpstr>
      <vt:lpstr>Calibri</vt:lpstr>
      <vt:lpstr>Verdana</vt:lpstr>
      <vt:lpstr>Wingdings</vt:lpstr>
      <vt:lpstr>1. Cover Slide</vt:lpstr>
      <vt:lpstr>2. Expectation</vt:lpstr>
      <vt:lpstr>3. Blank Slide</vt:lpstr>
      <vt:lpstr>PowerPoint Presentation</vt:lpstr>
      <vt:lpstr>Table Of Contents</vt:lpstr>
      <vt:lpstr>PowerPoint Presentation</vt:lpstr>
      <vt:lpstr>1.Revise Document Version</vt:lpstr>
      <vt:lpstr>2.Edit Document attribute</vt:lpstr>
      <vt:lpstr>3.Edit attribute of attachment</vt:lpstr>
      <vt:lpstr>4.Replace/Remove attachment</vt:lpstr>
      <vt:lpstr>   </vt:lpstr>
      <vt:lpstr> </vt:lpstr>
      <vt:lpstr>5.Download attachment of document </vt:lpstr>
      <vt:lpstr>5.Download attachment of document </vt:lpstr>
      <vt:lpstr>5.Download attachment of document </vt:lpstr>
      <vt:lpstr>6.Delete document/Attachment file</vt:lpstr>
      <vt:lpstr>7. URL Share</vt:lpstr>
      <vt:lpstr>8. Recently Viewed</vt:lpstr>
      <vt:lpstr>9. Favorite</vt:lpstr>
      <vt:lpstr>10. EDMS RL Analytics (For IS/IT, Biz Admin)  </vt:lpstr>
      <vt:lpstr> </vt:lpstr>
      <vt:lpstr> </vt:lpstr>
      <vt:lpstr>A</vt:lpstr>
      <vt:lpstr> </vt:lpstr>
      <vt:lpstr> 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MANIVANNAN Subha</dc:creator>
  <cp:keywords>Alliance;N-C;Nissan Confidential C</cp:keywords>
  <cp:lastModifiedBy>THOPPE Santosh-Premnath</cp:lastModifiedBy>
  <cp:revision>19</cp:revision>
  <cp:lastPrinted>2020-05-13T04:25:47Z</cp:lastPrinted>
  <dcterms:created xsi:type="dcterms:W3CDTF">2024-07-08T03:46:14Z</dcterms:created>
  <dcterms:modified xsi:type="dcterms:W3CDTF">2025-04-09T01:25:00Z</dcterms:modified>
  <cp:category>N-C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ExpireDate">
    <vt:lpwstr>2017-03-13T00:00:00Z</vt:lpwstr>
  </property>
  <property fmtid="{D5CDD505-2E9C-101B-9397-08002B2CF9AE}" pid="3" name="ItemRetentionFormula">
    <vt:lpwstr/>
  </property>
  <property fmtid="{D5CDD505-2E9C-101B-9397-08002B2CF9AE}" pid="4" name="_dlc_policyId">
    <vt:lpwstr>0x01010066E3D1BD537B466A9FB4715B858074E90086CBB1B2C534404481B05826C05EBC4F|473777199</vt:lpwstr>
  </property>
  <property fmtid="{D5CDD505-2E9C-101B-9397-08002B2CF9AE}" pid="5" name="ACP_Nissan_SecurityClassification">
    <vt:lpwstr>4;#CU/NC|e41da57d-3dff-4267-98d4-5ef0a8afe73e</vt:lpwstr>
  </property>
  <property fmtid="{D5CDD505-2E9C-101B-9397-08002B2CF9AE}" pid="6" name="ACP_Nissan_DocumentType">
    <vt:lpwstr/>
  </property>
  <property fmtid="{D5CDD505-2E9C-101B-9397-08002B2CF9AE}" pid="7" name="ACP_OwnerOrganization">
    <vt:lpwstr/>
  </property>
  <property fmtid="{D5CDD505-2E9C-101B-9397-08002B2CF9AE}" pid="8" name="ACP_Nissan_RelevantRegion">
    <vt:lpwstr/>
  </property>
  <property fmtid="{D5CDD505-2E9C-101B-9397-08002B2CF9AE}" pid="9" name="ContentTypeId">
    <vt:lpwstr>0x0101006FD94448B71AFC4A8B1EBDDDC854B0DE</vt:lpwstr>
  </property>
  <property fmtid="{D5CDD505-2E9C-101B-9397-08002B2CF9AE}" pid="10" name="_dlc_ItemStageId">
    <vt:lpwstr>1</vt:lpwstr>
  </property>
  <property fmtid="{D5CDD505-2E9C-101B-9397-08002B2CF9AE}" pid="11" name="_dlc_LastRun">
    <vt:lpwstr>03/19/2017 01:29:10</vt:lpwstr>
  </property>
  <property fmtid="{D5CDD505-2E9C-101B-9397-08002B2CF9AE}" pid="12" name="ClassificationContentMarkingFooterText">
    <vt:lpwstr>Internal I</vt:lpwstr>
  </property>
  <property fmtid="{D5CDD505-2E9C-101B-9397-08002B2CF9AE}" pid="13" name="MediaServiceImageTags">
    <vt:lpwstr/>
  </property>
</Properties>
</file>