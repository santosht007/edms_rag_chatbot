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5"/>
    <p:sldMasterId id="2147483666" r:id="rId6"/>
    <p:sldMasterId id="2147483659" r:id="rId7"/>
  </p:sldMasterIdLst>
  <p:notesMasterIdLst>
    <p:notesMasterId r:id="rId21"/>
  </p:notesMasterIdLst>
  <p:handoutMasterIdLst>
    <p:handoutMasterId r:id="rId22"/>
  </p:handoutMasterIdLst>
  <p:sldIdLst>
    <p:sldId id="457" r:id="rId8"/>
    <p:sldId id="323" r:id="rId9"/>
    <p:sldId id="465" r:id="rId10"/>
    <p:sldId id="466" r:id="rId11"/>
    <p:sldId id="467" r:id="rId12"/>
    <p:sldId id="468" r:id="rId13"/>
    <p:sldId id="469" r:id="rId14"/>
    <p:sldId id="470" r:id="rId15"/>
    <p:sldId id="471" r:id="rId16"/>
    <p:sldId id="472" r:id="rId17"/>
    <p:sldId id="473" r:id="rId18"/>
    <p:sldId id="474" r:id="rId19"/>
    <p:sldId id="458" r:id="rId20"/>
  </p:sldIdLst>
  <p:sldSz cx="12192000" cy="6858000"/>
  <p:notesSz cx="10007600" cy="143637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166" userDrawn="1">
          <p15:clr>
            <a:srgbClr val="A4A3A4"/>
          </p15:clr>
        </p15:guide>
        <p15:guide id="7" orient="horz" pos="119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6" orient="horz" pos="4178" userDrawn="1">
          <p15:clr>
            <a:srgbClr val="A4A3A4"/>
          </p15:clr>
        </p15:guide>
        <p15:guide id="17" pos="7514" userDrawn="1">
          <p15:clr>
            <a:srgbClr val="A4A3A4"/>
          </p15:clr>
        </p15:guide>
        <p15:guide id="19" orient="horz" pos="6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95BB"/>
    <a:srgbClr val="808080"/>
    <a:srgbClr val="003F66"/>
    <a:srgbClr val="E60012"/>
    <a:srgbClr val="DDDDDD"/>
    <a:srgbClr val="002A66"/>
    <a:srgbClr val="CF1818"/>
    <a:srgbClr val="EAECEE"/>
    <a:srgbClr val="CC0000"/>
    <a:srgbClr val="ADADA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0" autoAdjust="0"/>
    <p:restoredTop sz="93792" autoAdjust="0"/>
  </p:normalViewPr>
  <p:slideViewPr>
    <p:cSldViewPr snapToGrid="0" showGuides="1">
      <p:cViewPr varScale="1">
        <p:scale>
          <a:sx n="82" d="100"/>
          <a:sy n="82" d="100"/>
        </p:scale>
        <p:origin x="936" y="58"/>
      </p:cViewPr>
      <p:guideLst>
        <p:guide pos="166"/>
        <p:guide orient="horz" pos="119"/>
        <p:guide orient="horz" pos="2160"/>
        <p:guide pos="3840"/>
        <p:guide orient="horz" pos="4178"/>
        <p:guide pos="7514"/>
        <p:guide orient="horz" pos="6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0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VANNAN Subha" userId="db890451-68e4-44be-aed7-0d7ba3f6cc16" providerId="ADAL" clId="{EC31FF11-AA22-4B39-A98D-797579C5D84C}"/>
    <pc:docChg chg="modSld">
      <pc:chgData name="MANIVANNAN Subha" userId="db890451-68e4-44be-aed7-0d7ba3f6cc16" providerId="ADAL" clId="{EC31FF11-AA22-4B39-A98D-797579C5D84C}" dt="2024-07-08T11:42:27.108" v="10" actId="14100"/>
      <pc:docMkLst>
        <pc:docMk/>
      </pc:docMkLst>
      <pc:sldChg chg="modSp mod">
        <pc:chgData name="MANIVANNAN Subha" userId="db890451-68e4-44be-aed7-0d7ba3f6cc16" providerId="ADAL" clId="{EC31FF11-AA22-4B39-A98D-797579C5D84C}" dt="2024-07-08T11:42:27.108" v="10" actId="14100"/>
        <pc:sldMkLst>
          <pc:docMk/>
          <pc:sldMk cId="567234835" sldId="466"/>
        </pc:sldMkLst>
        <pc:spChg chg="mod">
          <ac:chgData name="MANIVANNAN Subha" userId="db890451-68e4-44be-aed7-0d7ba3f6cc16" providerId="ADAL" clId="{EC31FF11-AA22-4B39-A98D-797579C5D84C}" dt="2024-07-08T11:42:14.519" v="8" actId="20577"/>
          <ac:spMkLst>
            <pc:docMk/>
            <pc:sldMk cId="567234835" sldId="466"/>
            <ac:spMk id="6" creationId="{55577F32-C30D-7A75-B2CD-F1AFD388E669}"/>
          </ac:spMkLst>
        </pc:spChg>
        <pc:spChg chg="mod">
          <ac:chgData name="MANIVANNAN Subha" userId="db890451-68e4-44be-aed7-0d7ba3f6cc16" providerId="ADAL" clId="{EC31FF11-AA22-4B39-A98D-797579C5D84C}" dt="2024-07-08T11:42:18.696" v="9" actId="14100"/>
          <ac:spMkLst>
            <pc:docMk/>
            <pc:sldMk cId="567234835" sldId="466"/>
            <ac:spMk id="10" creationId="{32803A55-409A-21AA-8D42-1C16619F52FF}"/>
          </ac:spMkLst>
        </pc:spChg>
        <pc:spChg chg="mod">
          <ac:chgData name="MANIVANNAN Subha" userId="db890451-68e4-44be-aed7-0d7ba3f6cc16" providerId="ADAL" clId="{EC31FF11-AA22-4B39-A98D-797579C5D84C}" dt="2024-07-08T11:42:27.108" v="10" actId="14100"/>
          <ac:spMkLst>
            <pc:docMk/>
            <pc:sldMk cId="567234835" sldId="466"/>
            <ac:spMk id="11" creationId="{6535F741-82C8-C806-EA4D-14C801606BC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36627" cy="720679"/>
          </a:xfrm>
          <a:prstGeom prst="rect">
            <a:avLst/>
          </a:prstGeom>
        </p:spPr>
        <p:txBody>
          <a:bodyPr vert="horz" lIns="139263" tIns="69632" rIns="139263" bIns="69632" rtlCol="0"/>
          <a:lstStyle>
            <a:lvl1pPr algn="l">
              <a:defRPr sz="18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68657" y="0"/>
            <a:ext cx="4336627" cy="720679"/>
          </a:xfrm>
          <a:prstGeom prst="rect">
            <a:avLst/>
          </a:prstGeom>
        </p:spPr>
        <p:txBody>
          <a:bodyPr vert="horz" lIns="139263" tIns="69632" rIns="139263" bIns="69632" rtlCol="0"/>
          <a:lstStyle>
            <a:lvl1pPr algn="r">
              <a:defRPr sz="1800"/>
            </a:lvl1pPr>
          </a:lstStyle>
          <a:p>
            <a:fld id="{2EAA5521-74A0-4497-BD3C-B34596D79315}" type="datetimeFigureOut">
              <a:rPr kumimoji="1" lang="ja-JP" altLang="en-US" smtClean="0"/>
              <a:t>2024/10/15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13643023"/>
            <a:ext cx="4336627" cy="720678"/>
          </a:xfrm>
          <a:prstGeom prst="rect">
            <a:avLst/>
          </a:prstGeom>
        </p:spPr>
        <p:txBody>
          <a:bodyPr vert="horz" lIns="139263" tIns="69632" rIns="139263" bIns="69632" rtlCol="0" anchor="b"/>
          <a:lstStyle>
            <a:lvl1pPr algn="l">
              <a:defRPr sz="18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68657" y="13643023"/>
            <a:ext cx="4336627" cy="720678"/>
          </a:xfrm>
          <a:prstGeom prst="rect">
            <a:avLst/>
          </a:prstGeom>
        </p:spPr>
        <p:txBody>
          <a:bodyPr vert="horz" lIns="139263" tIns="69632" rIns="139263" bIns="69632" rtlCol="0" anchor="b"/>
          <a:lstStyle>
            <a:lvl1pPr algn="r">
              <a:defRPr sz="1800"/>
            </a:lvl1pPr>
          </a:lstStyle>
          <a:p>
            <a:fld id="{DA3E434F-EFAF-4CC8-962E-737203C16E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3599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68657" y="0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5900" y="1077913"/>
            <a:ext cx="9575800" cy="5386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0760" y="6822758"/>
            <a:ext cx="8006080" cy="646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643022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68657" y="13643022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7A636EC-557D-4F00-BFDF-6F57ED43287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818637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515939" y="3788390"/>
            <a:ext cx="11160124" cy="9702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aseline="0">
                <a:solidFill>
                  <a:schemeClr val="tx1"/>
                </a:solidFill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Presentation Title</a:t>
            </a:r>
          </a:p>
        </p:txBody>
      </p:sp>
      <p:sp>
        <p:nvSpPr>
          <p:cNvPr id="7" name="テキスト プレースホルダー 2"/>
          <p:cNvSpPr>
            <a:spLocks noGrp="1"/>
          </p:cNvSpPr>
          <p:nvPr>
            <p:ph type="body" sz="quarter" idx="13" hasCustomPrompt="1"/>
          </p:nvPr>
        </p:nvSpPr>
        <p:spPr>
          <a:xfrm>
            <a:off x="515939" y="4836920"/>
            <a:ext cx="11160124" cy="127049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chemeClr val="tx1"/>
                </a:solidFill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Presenter Name, Title</a:t>
            </a:r>
          </a:p>
          <a:p>
            <a:pPr lvl="0"/>
            <a:r>
              <a:rPr kumimoji="1" lang="en-US" altLang="ja-JP" dirty="0"/>
              <a:t>Department/Division</a:t>
            </a:r>
          </a:p>
          <a:p>
            <a:pPr lvl="0"/>
            <a:r>
              <a:rPr kumimoji="1" lang="en-US" altLang="ja-JP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39386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Template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55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c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9"/>
          <p:cNvSpPr>
            <a:spLocks noChangeShapeType="1"/>
          </p:cNvSpPr>
          <p:nvPr userDrawn="1"/>
        </p:nvSpPr>
        <p:spPr bwMode="auto">
          <a:xfrm>
            <a:off x="407989" y="1614578"/>
            <a:ext cx="11376024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タイトル 1"/>
          <p:cNvSpPr txBox="1">
            <a:spLocks/>
          </p:cNvSpPr>
          <p:nvPr userDrawn="1"/>
        </p:nvSpPr>
        <p:spPr>
          <a:xfrm>
            <a:off x="263525" y="188914"/>
            <a:ext cx="414248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16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3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45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61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b="0" kern="0" dirty="0">
                <a:solidFill>
                  <a:schemeClr val="tx1"/>
                </a:solidFill>
                <a:latin typeface="Nissan Pro Bold" panose="02000803050000020004" pitchFamily="50" charset="0"/>
              </a:rPr>
              <a:t>Today’s Expectation</a:t>
            </a: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33011" y="6563989"/>
            <a:ext cx="925983" cy="209354"/>
          </a:xfrm>
          <a:prstGeom prst="rect">
            <a:avLst/>
          </a:prstGeom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68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/>
              </a:buClr>
              <a:defRPr sz="1800"/>
            </a:lvl1pPr>
            <a:lvl2pPr>
              <a:buClr>
                <a:schemeClr val="bg2"/>
              </a:buClr>
              <a:defRPr sz="1500"/>
            </a:lvl2pPr>
            <a:lvl3pPr>
              <a:buClr>
                <a:schemeClr val="tx2"/>
              </a:buClr>
              <a:defRPr sz="135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341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04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263524" y="208032"/>
            <a:ext cx="11664951" cy="563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Nissan Pro Bold" panose="02000803050000020004" pitchFamily="50" charset="0"/>
              </a:defRPr>
            </a:lvl1pPr>
          </a:lstStyle>
          <a:p>
            <a:pPr lvl="0"/>
            <a:r>
              <a:rPr kumimoji="1" lang="en-US" altLang="ja-JP" dirty="0"/>
              <a:t>Title, Nissan Pro Bold 32pt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270415" y="976343"/>
            <a:ext cx="11658059" cy="446057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n"/>
              <a:defRPr sz="2400" baseline="0"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Body Title, Nissan Pro Regular 24pt</a:t>
            </a:r>
            <a:endParaRPr kumimoji="1" lang="ja-JP" altLang="en-US" dirty="0"/>
          </a:p>
        </p:txBody>
      </p:sp>
      <p:sp>
        <p:nvSpPr>
          <p:cNvPr id="9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270415" y="1422400"/>
            <a:ext cx="11658059" cy="4622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Body Text, Nissan Pro Regular 18pt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98794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19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b="5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正方形/長方形 5"/>
          <p:cNvSpPr/>
          <p:nvPr userDrawn="1"/>
        </p:nvSpPr>
        <p:spPr>
          <a:xfrm flipH="1">
            <a:off x="-1" y="0"/>
            <a:ext cx="12192000" cy="6858000"/>
          </a:xfrm>
          <a:prstGeom prst="rect">
            <a:avLst/>
          </a:prstGeom>
          <a:gradFill>
            <a:gsLst>
              <a:gs pos="0">
                <a:sysClr val="window" lastClr="FFFFFF">
                  <a:lumMod val="95000"/>
                  <a:alpha val="0"/>
                </a:sysClr>
              </a:gs>
              <a:gs pos="100000">
                <a:srgbClr val="B3B5B5">
                  <a:lumMod val="23000"/>
                  <a:lumOff val="77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27111" y="1635979"/>
            <a:ext cx="3337777" cy="754632"/>
          </a:xfrm>
          <a:prstGeom prst="rect">
            <a:avLst/>
          </a:prstGeom>
        </p:spPr>
      </p:pic>
      <p:sp>
        <p:nvSpPr>
          <p:cNvPr id="7" name="Alliance_Labeling"/>
          <p:cNvSpPr txBox="1"/>
          <p:nvPr userDrawn="1"/>
        </p:nvSpPr>
        <p:spPr>
          <a:xfrm>
            <a:off x="10338964" y="6605004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000" b="0" dirty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  <a:endParaRPr kumimoji="1" lang="ja-JP" altLang="en-US" sz="1000" b="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88" y="173410"/>
            <a:ext cx="1739432" cy="61349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0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16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3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45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61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11" indent="-342911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75" indent="-285759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38" indent="-228608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53" indent="-228608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69" indent="-228608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83" indent="-228608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99" indent="-228608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114" indent="-228608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330" indent="-228608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6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0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5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1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7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91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7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22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pos="325" userDrawn="1">
          <p15:clr>
            <a:srgbClr val="F26B43"/>
          </p15:clr>
        </p15:guide>
        <p15:guide id="8" pos="735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b="5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ysClr val="window" lastClr="FFFFFF">
                  <a:lumMod val="95000"/>
                  <a:alpha val="0"/>
                </a:sysClr>
              </a:gs>
              <a:gs pos="100000">
                <a:srgbClr val="B3B5B5">
                  <a:lumMod val="23000"/>
                  <a:lumOff val="77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" name="Alliance_Labeling"/>
          <p:cNvSpPr txBox="1"/>
          <p:nvPr userDrawn="1"/>
        </p:nvSpPr>
        <p:spPr>
          <a:xfrm>
            <a:off x="10124688" y="6571294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000" b="0" dirty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  <a:endParaRPr kumimoji="1" lang="ja-JP" altLang="en-US" sz="1000" b="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88" y="173410"/>
            <a:ext cx="1739432" cy="61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4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011" y="6563989"/>
            <a:ext cx="925983" cy="209354"/>
          </a:xfrm>
          <a:prstGeom prst="rect">
            <a:avLst/>
          </a:prstGeom>
        </p:spPr>
      </p:pic>
      <p:sp>
        <p:nvSpPr>
          <p:cNvPr id="16" name="Text Box 25"/>
          <p:cNvSpPr txBox="1">
            <a:spLocks noChangeArrowheads="1"/>
          </p:cNvSpPr>
          <p:nvPr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Alliance_Labeling"/>
          <p:cNvSpPr txBox="1"/>
          <p:nvPr userDrawn="1"/>
        </p:nvSpPr>
        <p:spPr>
          <a:xfrm>
            <a:off x="10358015" y="6589179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000" b="0" dirty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  <a:endParaRPr kumimoji="1" lang="ja-JP" altLang="en-US" sz="1000" b="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88" y="173410"/>
            <a:ext cx="1739432" cy="61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6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pos="1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jp.nissan.biz/EDMS_RL/ui/#!/doc/180a36df-4281-4c3d-94b6-a25c98bc55bb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jp.nissan.biz/EDMS_RL/ui/#!/doc/10a5767e-efd4-447e-a8c9-d329fea65e23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ja-JP" dirty="0"/>
              <a:t>Engineering Documents (ED) - Search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EDMS AMO Team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5805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0" y="95723"/>
            <a:ext cx="2884123" cy="461665"/>
          </a:xfrm>
        </p:spPr>
        <p:txBody>
          <a:bodyPr wrap="none">
            <a:spAutoFit/>
          </a:bodyPr>
          <a:lstStyle/>
          <a:p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Table Of Contents</a:t>
            </a:r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237FA88D-B24B-9DF2-6574-5DA000E35012}"/>
              </a:ext>
            </a:extLst>
          </p:cNvPr>
          <p:cNvSpPr txBox="1">
            <a:spLocks/>
          </p:cNvSpPr>
          <p:nvPr/>
        </p:nvSpPr>
        <p:spPr bwMode="auto">
          <a:xfrm>
            <a:off x="2884123" y="95723"/>
            <a:ext cx="29658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sz="2400" kern="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- User Guide(ED)</a:t>
            </a:r>
            <a:r>
              <a:rPr lang="ja-JP" altLang="en-US" sz="2400" kern="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8A033A74-BB0E-FD9E-0B74-94903E3CA063}"/>
              </a:ext>
            </a:extLst>
          </p:cNvPr>
          <p:cNvSpPr txBox="1"/>
          <p:nvPr/>
        </p:nvSpPr>
        <p:spPr>
          <a:xfrm>
            <a:off x="140926" y="788915"/>
            <a:ext cx="11083648" cy="2085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342900" indent="-342900">
              <a:spcBef>
                <a:spcPts val="325"/>
              </a:spcBef>
              <a:buAutoNum type="arabicPeriod"/>
              <a:defRPr sz="1400" b="1" u="sng">
                <a:solidFill>
                  <a:srgbClr val="0070C0"/>
                </a:solid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defRPr>
            </a:lvl1pPr>
          </a:lstStyle>
          <a:p>
            <a:r>
              <a:rPr lang="en-US" altLang="ja-JP" dirty="0">
                <a:hlinkClick r:id="" action="ppaction://noaction"/>
              </a:rPr>
              <a:t>Search Overview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>
                <a:hlinkClick r:id="" action="ppaction://noaction"/>
              </a:rPr>
              <a:t>Full Text Search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>
                <a:hlinkClick r:id="" action="ppaction://noaction"/>
              </a:rPr>
              <a:t>Attribute Search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view document</a:t>
            </a:r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5773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A21070-D2E0-0F8B-07CA-A0A8C0477165}"/>
              </a:ext>
            </a:extLst>
          </p:cNvPr>
          <p:cNvSpPr txBox="1"/>
          <p:nvPr/>
        </p:nvSpPr>
        <p:spPr>
          <a:xfrm>
            <a:off x="184935" y="118421"/>
            <a:ext cx="610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1</a:t>
            </a:r>
            <a:r>
              <a:rPr kumimoji="1" lang="en-US" altLang="ja-JP" dirty="0"/>
              <a:t>.Search Overview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CC93B-B7F9-2728-EFE3-4540CDD22D22}"/>
              </a:ext>
            </a:extLst>
          </p:cNvPr>
          <p:cNvSpPr txBox="1"/>
          <p:nvPr/>
        </p:nvSpPr>
        <p:spPr>
          <a:xfrm>
            <a:off x="-1" y="668290"/>
            <a:ext cx="11445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To use Search function, please click         button from navigation bar in left side.</a:t>
            </a:r>
          </a:p>
        </p:txBody>
      </p:sp>
      <p:pic>
        <p:nvPicPr>
          <p:cNvPr id="6" name="図 8">
            <a:extLst>
              <a:ext uri="{FF2B5EF4-FFF2-40B4-BE49-F238E27FC236}">
                <a16:creationId xmlns:a16="http://schemas.microsoft.com/office/drawing/2014/main" id="{7191F060-90E1-2ADB-32F6-D332D77CB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855" y="675298"/>
            <a:ext cx="411302" cy="369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BA4557-98D6-AD4C-2756-E9982D081C15}"/>
              </a:ext>
            </a:extLst>
          </p:cNvPr>
          <p:cNvSpPr txBox="1"/>
          <p:nvPr/>
        </p:nvSpPr>
        <p:spPr>
          <a:xfrm>
            <a:off x="0" y="1037622"/>
            <a:ext cx="6113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EDMS search screen will appear as below.</a:t>
            </a:r>
          </a:p>
        </p:txBody>
      </p:sp>
      <p:pic>
        <p:nvPicPr>
          <p:cNvPr id="9" name="図 4">
            <a:extLst>
              <a:ext uri="{FF2B5EF4-FFF2-40B4-BE49-F238E27FC236}">
                <a16:creationId xmlns:a16="http://schemas.microsoft.com/office/drawing/2014/main" id="{08A0C17A-B971-5EF8-BE3B-A5EA13CAA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05" y="1714731"/>
            <a:ext cx="1782464" cy="3390557"/>
          </a:xfrm>
          <a:prstGeom prst="rect">
            <a:avLst/>
          </a:prstGeom>
        </p:spPr>
      </p:pic>
      <p:sp>
        <p:nvSpPr>
          <p:cNvPr id="10" name="正方形/長方形 15">
            <a:extLst>
              <a:ext uri="{FF2B5EF4-FFF2-40B4-BE49-F238E27FC236}">
                <a16:creationId xmlns:a16="http://schemas.microsoft.com/office/drawing/2014/main" id="{E733C241-F909-E3AC-235D-98C76F7E96BF}"/>
              </a:ext>
            </a:extLst>
          </p:cNvPr>
          <p:cNvSpPr/>
          <p:nvPr/>
        </p:nvSpPr>
        <p:spPr bwMode="auto">
          <a:xfrm>
            <a:off x="303356" y="2402128"/>
            <a:ext cx="1786373" cy="47368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5118F4-23CB-402C-FBB0-17287D3EAF22}"/>
              </a:ext>
            </a:extLst>
          </p:cNvPr>
          <p:cNvCxnSpPr/>
          <p:nvPr/>
        </p:nvCxnSpPr>
        <p:spPr bwMode="auto">
          <a:xfrm>
            <a:off x="2089729" y="2678752"/>
            <a:ext cx="77271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図 7">
            <a:extLst>
              <a:ext uri="{FF2B5EF4-FFF2-40B4-BE49-F238E27FC236}">
                <a16:creationId xmlns:a16="http://schemas.microsoft.com/office/drawing/2014/main" id="{43538795-221C-971B-7436-561B7C42A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145" y="1345399"/>
            <a:ext cx="2001485" cy="4683251"/>
          </a:xfrm>
          <a:prstGeom prst="rect">
            <a:avLst/>
          </a:prstGeom>
        </p:spPr>
      </p:pic>
      <p:sp>
        <p:nvSpPr>
          <p:cNvPr id="13" name="正方形/長方形 16">
            <a:extLst>
              <a:ext uri="{FF2B5EF4-FFF2-40B4-BE49-F238E27FC236}">
                <a16:creationId xmlns:a16="http://schemas.microsoft.com/office/drawing/2014/main" id="{E45A9625-A02B-E311-3F44-0922AE6DC877}"/>
              </a:ext>
            </a:extLst>
          </p:cNvPr>
          <p:cNvSpPr/>
          <p:nvPr/>
        </p:nvSpPr>
        <p:spPr bwMode="auto">
          <a:xfrm>
            <a:off x="3006620" y="3203609"/>
            <a:ext cx="1908130" cy="27133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4" name="正方形/長方形 17">
            <a:extLst>
              <a:ext uri="{FF2B5EF4-FFF2-40B4-BE49-F238E27FC236}">
                <a16:creationId xmlns:a16="http://schemas.microsoft.com/office/drawing/2014/main" id="{5DC63E0B-185C-EB76-E4A5-C2305DCF137C}"/>
              </a:ext>
            </a:extLst>
          </p:cNvPr>
          <p:cNvSpPr/>
          <p:nvPr/>
        </p:nvSpPr>
        <p:spPr bwMode="auto">
          <a:xfrm>
            <a:off x="3006620" y="3858288"/>
            <a:ext cx="1908130" cy="27133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43B92B-EE43-9F50-9506-D9DAFB8190B2}"/>
              </a:ext>
            </a:extLst>
          </p:cNvPr>
          <p:cNvSpPr txBox="1"/>
          <p:nvPr/>
        </p:nvSpPr>
        <p:spPr>
          <a:xfrm>
            <a:off x="5440167" y="1391565"/>
            <a:ext cx="6113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Once you select EDMS Advanced Search button, search filter will display on the right side as below.</a:t>
            </a:r>
          </a:p>
        </p:txBody>
      </p:sp>
      <p:sp>
        <p:nvSpPr>
          <p:cNvPr id="17" name="テキスト ボックス 12">
            <a:extLst>
              <a:ext uri="{FF2B5EF4-FFF2-40B4-BE49-F238E27FC236}">
                <a16:creationId xmlns:a16="http://schemas.microsoft.com/office/drawing/2014/main" id="{C080E31B-0E5E-3CB4-09AD-90EAD2F44009}"/>
              </a:ext>
            </a:extLst>
          </p:cNvPr>
          <p:cNvSpPr txBox="1"/>
          <p:nvPr/>
        </p:nvSpPr>
        <p:spPr>
          <a:xfrm>
            <a:off x="5712429" y="2280109"/>
            <a:ext cx="487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There are two types of search in this system</a:t>
            </a:r>
          </a:p>
          <a:p>
            <a:r>
              <a:rPr lang="ja-JP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①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Full Text Search</a:t>
            </a:r>
          </a:p>
          <a:p>
            <a:r>
              <a:rPr lang="ja-JP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②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Attribute Search</a:t>
            </a:r>
          </a:p>
        </p:txBody>
      </p:sp>
      <p:cxnSp>
        <p:nvCxnSpPr>
          <p:cNvPr id="18" name="直線矢印コネクタ 18">
            <a:extLst>
              <a:ext uri="{FF2B5EF4-FFF2-40B4-BE49-F238E27FC236}">
                <a16:creationId xmlns:a16="http://schemas.microsoft.com/office/drawing/2014/main" id="{571F5B10-63A5-FF24-3C34-A0F914ADC959}"/>
              </a:ext>
            </a:extLst>
          </p:cNvPr>
          <p:cNvCxnSpPr>
            <a:stCxn id="13" idx="3"/>
          </p:cNvCxnSpPr>
          <p:nvPr/>
        </p:nvCxnSpPr>
        <p:spPr bwMode="auto">
          <a:xfrm flipV="1">
            <a:off x="4914750" y="3022219"/>
            <a:ext cx="756799" cy="31705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矢印コネクタ 18">
            <a:extLst>
              <a:ext uri="{FF2B5EF4-FFF2-40B4-BE49-F238E27FC236}">
                <a16:creationId xmlns:a16="http://schemas.microsoft.com/office/drawing/2014/main" id="{4BAC84A0-2B58-D052-934F-2B21043995E7}"/>
              </a:ext>
            </a:extLst>
          </p:cNvPr>
          <p:cNvCxnSpPr/>
          <p:nvPr/>
        </p:nvCxnSpPr>
        <p:spPr bwMode="auto">
          <a:xfrm flipV="1">
            <a:off x="4914750" y="3339274"/>
            <a:ext cx="905296" cy="66512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37910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7"/>
    </mc:Choice>
    <mc:Fallback xmlns="">
      <p:transition spd="slow" advTm="191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D09E22-BAFE-1C4A-7B3B-A56A37728BDA}"/>
              </a:ext>
            </a:extLst>
          </p:cNvPr>
          <p:cNvSpPr txBox="1">
            <a:spLocks/>
          </p:cNvSpPr>
          <p:nvPr/>
        </p:nvSpPr>
        <p:spPr>
          <a:xfrm>
            <a:off x="0" y="2222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/>
              <a:t>6-1.Search Overview</a:t>
            </a:r>
            <a:endParaRPr lang="ja-JP" altLang="en-US" kern="0" dirty="0"/>
          </a:p>
        </p:txBody>
      </p:sp>
      <p:pic>
        <p:nvPicPr>
          <p:cNvPr id="4" name="図 2">
            <a:extLst>
              <a:ext uri="{FF2B5EF4-FFF2-40B4-BE49-F238E27FC236}">
                <a16:creationId xmlns:a16="http://schemas.microsoft.com/office/drawing/2014/main" id="{027BCF21-4238-840C-B13F-A97CD0C31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42" y="715157"/>
            <a:ext cx="2449257" cy="5730987"/>
          </a:xfrm>
          <a:prstGeom prst="rect">
            <a:avLst/>
          </a:prstGeom>
        </p:spPr>
      </p:pic>
      <p:grpSp>
        <p:nvGrpSpPr>
          <p:cNvPr id="5" name="グループ化 10">
            <a:extLst>
              <a:ext uri="{FF2B5EF4-FFF2-40B4-BE49-F238E27FC236}">
                <a16:creationId xmlns:a16="http://schemas.microsoft.com/office/drawing/2014/main" id="{FC203E63-4411-9F89-9524-0C542DC687C9}"/>
              </a:ext>
            </a:extLst>
          </p:cNvPr>
          <p:cNvGrpSpPr/>
          <p:nvPr/>
        </p:nvGrpSpPr>
        <p:grpSpPr>
          <a:xfrm>
            <a:off x="251722" y="1388506"/>
            <a:ext cx="11563559" cy="3829003"/>
            <a:chOff x="210625" y="1367957"/>
            <a:chExt cx="11563559" cy="3829003"/>
          </a:xfrm>
        </p:grpSpPr>
        <p:sp>
          <p:nvSpPr>
            <p:cNvPr id="6" name="テキスト ボックス 4">
              <a:extLst>
                <a:ext uri="{FF2B5EF4-FFF2-40B4-BE49-F238E27FC236}">
                  <a16:creationId xmlns:a16="http://schemas.microsoft.com/office/drawing/2014/main" id="{55577F32-C30D-7A75-B2CD-F1AFD388E669}"/>
                </a:ext>
              </a:extLst>
            </p:cNvPr>
            <p:cNvSpPr txBox="1"/>
            <p:nvPr/>
          </p:nvSpPr>
          <p:spPr>
            <a:xfrm>
              <a:off x="3124200" y="1476375"/>
              <a:ext cx="8362950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At first, specify document type you want to search by check ON the checkbox.</a:t>
              </a:r>
            </a:p>
            <a:p>
              <a:r>
                <a:rPr lang="en-US" altLang="ja-JP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You also can specify multiple document types.</a:t>
              </a:r>
            </a:p>
            <a:p>
              <a:r>
                <a:rPr lang="en-US" altLang="ja-JP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※This manual explains for ED document type. Please select ED.</a:t>
              </a:r>
            </a:p>
          </p:txBody>
        </p:sp>
        <p:sp>
          <p:nvSpPr>
            <p:cNvPr id="7" name="テキスト ボックス 5">
              <a:extLst>
                <a:ext uri="{FF2B5EF4-FFF2-40B4-BE49-F238E27FC236}">
                  <a16:creationId xmlns:a16="http://schemas.microsoft.com/office/drawing/2014/main" id="{F4BBEC15-5561-5063-F21F-49DA79F1014B}"/>
                </a:ext>
              </a:extLst>
            </p:cNvPr>
            <p:cNvSpPr txBox="1"/>
            <p:nvPr/>
          </p:nvSpPr>
          <p:spPr>
            <a:xfrm>
              <a:off x="3124200" y="3996631"/>
              <a:ext cx="836295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You can filter search result by 3 types: Document set, File, Folder</a:t>
              </a:r>
            </a:p>
            <a:p>
              <a:r>
                <a:rPr lang="ja-JP" altLang="en-US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（</a:t>
              </a:r>
              <a:r>
                <a:rPr lang="en-US" altLang="ja-JP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By default, Document set is selected. It is basically recommended to search by Document set)</a:t>
              </a:r>
            </a:p>
            <a:p>
              <a:endParaRPr lang="en-US" altLang="ja-JP" sz="1800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8" name="正方形/長方形 6">
              <a:extLst>
                <a:ext uri="{FF2B5EF4-FFF2-40B4-BE49-F238E27FC236}">
                  <a16:creationId xmlns:a16="http://schemas.microsoft.com/office/drawing/2014/main" id="{011917FB-C1C3-8EE0-F3C8-F8F80CB5C3F6}"/>
                </a:ext>
              </a:extLst>
            </p:cNvPr>
            <p:cNvSpPr/>
            <p:nvPr/>
          </p:nvSpPr>
          <p:spPr bwMode="auto">
            <a:xfrm>
              <a:off x="210625" y="1804037"/>
              <a:ext cx="1256226" cy="1167764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  <p:sp>
          <p:nvSpPr>
            <p:cNvPr id="9" name="正方形/長方形 7">
              <a:extLst>
                <a:ext uri="{FF2B5EF4-FFF2-40B4-BE49-F238E27FC236}">
                  <a16:creationId xmlns:a16="http://schemas.microsoft.com/office/drawing/2014/main" id="{C0DD3E33-6465-0C91-7813-0F57BF920953}"/>
                </a:ext>
              </a:extLst>
            </p:cNvPr>
            <p:cNvSpPr/>
            <p:nvPr/>
          </p:nvSpPr>
          <p:spPr bwMode="auto">
            <a:xfrm>
              <a:off x="210625" y="4141290"/>
              <a:ext cx="1256226" cy="859336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  <p:sp>
          <p:nvSpPr>
            <p:cNvPr id="10" name="吹き出し: 角を丸めた四角形 8">
              <a:extLst>
                <a:ext uri="{FF2B5EF4-FFF2-40B4-BE49-F238E27FC236}">
                  <a16:creationId xmlns:a16="http://schemas.microsoft.com/office/drawing/2014/main" id="{32803A55-409A-21AA-8D42-1C16619F52FF}"/>
                </a:ext>
              </a:extLst>
            </p:cNvPr>
            <p:cNvSpPr/>
            <p:nvPr/>
          </p:nvSpPr>
          <p:spPr bwMode="auto">
            <a:xfrm>
              <a:off x="2967658" y="1367957"/>
              <a:ext cx="8362950" cy="1775934"/>
            </a:xfrm>
            <a:prstGeom prst="wedgeRoundRectCallout">
              <a:avLst>
                <a:gd name="adj1" fmla="val -70081"/>
                <a:gd name="adj2" fmla="val 15478"/>
                <a:gd name="adj3" fmla="val 16667"/>
              </a:avLst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ja-JP" altLang="en-US" sz="1100" dirty="0" err="1">
                <a:solidFill>
                  <a:schemeClr val="lt1"/>
                </a:solidFill>
              </a:endParaRPr>
            </a:p>
          </p:txBody>
        </p:sp>
        <p:sp>
          <p:nvSpPr>
            <p:cNvPr id="11" name="吹き出し: 角を丸めた四角形 9">
              <a:extLst>
                <a:ext uri="{FF2B5EF4-FFF2-40B4-BE49-F238E27FC236}">
                  <a16:creationId xmlns:a16="http://schemas.microsoft.com/office/drawing/2014/main" id="{6535F741-82C8-C806-EA4D-14C801606BCB}"/>
                </a:ext>
              </a:extLst>
            </p:cNvPr>
            <p:cNvSpPr/>
            <p:nvPr/>
          </p:nvSpPr>
          <p:spPr bwMode="auto">
            <a:xfrm>
              <a:off x="3124200" y="3867150"/>
              <a:ext cx="8649984" cy="1329810"/>
            </a:xfrm>
            <a:prstGeom prst="wedgeRoundRectCallout">
              <a:avLst>
                <a:gd name="adj1" fmla="val -73238"/>
                <a:gd name="adj2" fmla="val 12877"/>
                <a:gd name="adj3" fmla="val 16667"/>
              </a:avLst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ja-JP" altLang="en-US" sz="1100" dirty="0" err="1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723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5E98B9-48C5-95A9-BCD7-4A5D9C91704C}"/>
              </a:ext>
            </a:extLst>
          </p:cNvPr>
          <p:cNvSpPr txBox="1"/>
          <p:nvPr/>
        </p:nvSpPr>
        <p:spPr>
          <a:xfrm>
            <a:off x="0" y="108147"/>
            <a:ext cx="610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6-1.Search Overview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24B7A-D11C-07FB-382B-083F0A7AC349}"/>
              </a:ext>
            </a:extLst>
          </p:cNvPr>
          <p:cNvSpPr txBox="1"/>
          <p:nvPr/>
        </p:nvSpPr>
        <p:spPr>
          <a:xfrm>
            <a:off x="0" y="611580"/>
            <a:ext cx="6128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In default state “Auto-search” is ON.</a:t>
            </a:r>
            <a:endParaRPr lang="en-US" altLang="ja-JP" sz="18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6" name="グループ化 19">
            <a:extLst>
              <a:ext uri="{FF2B5EF4-FFF2-40B4-BE49-F238E27FC236}">
                <a16:creationId xmlns:a16="http://schemas.microsoft.com/office/drawing/2014/main" id="{81AC877B-5F3F-B198-43CF-7C40EDF123DE}"/>
              </a:ext>
            </a:extLst>
          </p:cNvPr>
          <p:cNvGrpSpPr/>
          <p:nvPr/>
        </p:nvGrpSpPr>
        <p:grpSpPr>
          <a:xfrm>
            <a:off x="185605" y="1056798"/>
            <a:ext cx="10415720" cy="5520215"/>
            <a:chOff x="185605" y="1056798"/>
            <a:chExt cx="10415720" cy="5520215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FCCEEA1B-A765-F094-DB66-04E292F04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606" y="1056798"/>
              <a:ext cx="2359179" cy="5520215"/>
            </a:xfrm>
            <a:prstGeom prst="rect">
              <a:avLst/>
            </a:prstGeom>
          </p:spPr>
        </p:pic>
        <p:sp>
          <p:nvSpPr>
            <p:cNvPr id="8" name="正方形/長方形 3">
              <a:extLst>
                <a:ext uri="{FF2B5EF4-FFF2-40B4-BE49-F238E27FC236}">
                  <a16:creationId xmlns:a16="http://schemas.microsoft.com/office/drawing/2014/main" id="{AF1B15DD-E94C-161A-024F-E182724F1691}"/>
                </a:ext>
              </a:extLst>
            </p:cNvPr>
            <p:cNvSpPr/>
            <p:nvPr/>
          </p:nvSpPr>
          <p:spPr bwMode="auto">
            <a:xfrm>
              <a:off x="185605" y="5848143"/>
              <a:ext cx="1246700" cy="3048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  <p:sp>
          <p:nvSpPr>
            <p:cNvPr id="9" name="テキスト ボックス 5">
              <a:extLst>
                <a:ext uri="{FF2B5EF4-FFF2-40B4-BE49-F238E27FC236}">
                  <a16:creationId xmlns:a16="http://schemas.microsoft.com/office/drawing/2014/main" id="{9783979D-7E55-66D3-C7A1-030A5C648A2D}"/>
                </a:ext>
              </a:extLst>
            </p:cNvPr>
            <p:cNvSpPr txBox="1"/>
            <p:nvPr/>
          </p:nvSpPr>
          <p:spPr>
            <a:xfrm>
              <a:off x="2867025" y="1428750"/>
              <a:ext cx="688657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✔</a:t>
              </a:r>
              <a:r>
                <a:rPr lang="en-US" altLang="ja-JP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When “Auto-search” is ON:</a:t>
              </a:r>
            </a:p>
            <a:p>
              <a:r>
                <a:rPr lang="en-US" altLang="ja-JP" sz="18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The search is performed automatically when each filter is selected.</a:t>
              </a:r>
            </a:p>
          </p:txBody>
        </p:sp>
        <p:sp>
          <p:nvSpPr>
            <p:cNvPr id="10" name="テキスト ボックス 7">
              <a:extLst>
                <a:ext uri="{FF2B5EF4-FFF2-40B4-BE49-F238E27FC236}">
                  <a16:creationId xmlns:a16="http://schemas.microsoft.com/office/drawing/2014/main" id="{BD58CBB1-C7A4-2E92-94D3-4FF57B15C007}"/>
                </a:ext>
              </a:extLst>
            </p:cNvPr>
            <p:cNvSpPr txBox="1"/>
            <p:nvPr/>
          </p:nvSpPr>
          <p:spPr>
            <a:xfrm>
              <a:off x="2867024" y="2800350"/>
              <a:ext cx="773430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✔</a:t>
              </a:r>
              <a:r>
                <a:rPr lang="en-US" altLang="ja-JP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When “Auto-search” is OFF: </a:t>
              </a:r>
            </a:p>
            <a:p>
              <a:r>
                <a:rPr lang="en-US" altLang="ja-JP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Below “Search” button will display</a:t>
              </a:r>
            </a:p>
            <a:p>
              <a:r>
                <a:rPr lang="en-US" altLang="ja-JP" sz="1800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In this case, after you select search filter, you have to manually press “Search” button to perform search.</a:t>
              </a:r>
            </a:p>
          </p:txBody>
        </p:sp>
        <p:sp>
          <p:nvSpPr>
            <p:cNvPr id="11" name="正方形/長方形 8">
              <a:extLst>
                <a:ext uri="{FF2B5EF4-FFF2-40B4-BE49-F238E27FC236}">
                  <a16:creationId xmlns:a16="http://schemas.microsoft.com/office/drawing/2014/main" id="{210C4BA9-3C6B-D2B0-0C63-2BC245BB6F54}"/>
                </a:ext>
              </a:extLst>
            </p:cNvPr>
            <p:cNvSpPr/>
            <p:nvPr/>
          </p:nvSpPr>
          <p:spPr bwMode="auto">
            <a:xfrm>
              <a:off x="185605" y="6171606"/>
              <a:ext cx="2056325" cy="3048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82AEB0E-AC09-7AF9-FF15-14CF5F3866A7}"/>
                </a:ext>
              </a:extLst>
            </p:cNvPr>
            <p:cNvSpPr txBox="1"/>
            <p:nvPr/>
          </p:nvSpPr>
          <p:spPr>
            <a:xfrm>
              <a:off x="2867025" y="5958662"/>
              <a:ext cx="6886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✔</a:t>
              </a:r>
              <a:r>
                <a:rPr lang="en-US" altLang="ja-JP" dirty="0">
                  <a:latin typeface="Meiryo UI" panose="020B0604030504040204" pitchFamily="34" charset="-128"/>
                  <a:ea typeface="Meiryo UI" panose="020B0604030504040204" pitchFamily="34" charset="-128"/>
                </a:rPr>
                <a:t>Press “Reset” button to reset all filters you specified.</a:t>
              </a:r>
              <a:endParaRPr lang="en-US" altLang="ja-JP" sz="1800" dirty="0"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sp>
          <p:nvSpPr>
            <p:cNvPr id="13" name="吹き出し: 角を丸めた四角形 13">
              <a:extLst>
                <a:ext uri="{FF2B5EF4-FFF2-40B4-BE49-F238E27FC236}">
                  <a16:creationId xmlns:a16="http://schemas.microsoft.com/office/drawing/2014/main" id="{0E3A6901-9E2C-FB1E-E41F-D38D14D75F2F}"/>
                </a:ext>
              </a:extLst>
            </p:cNvPr>
            <p:cNvSpPr/>
            <p:nvPr/>
          </p:nvSpPr>
          <p:spPr bwMode="auto">
            <a:xfrm>
              <a:off x="2752725" y="1367956"/>
              <a:ext cx="7606334" cy="3414963"/>
            </a:xfrm>
            <a:prstGeom prst="wedgeRoundRectCallout">
              <a:avLst>
                <a:gd name="adj1" fmla="val -67570"/>
                <a:gd name="adj2" fmla="val 80967"/>
                <a:gd name="adj3" fmla="val 16667"/>
              </a:avLst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ja-JP" altLang="en-US" sz="1100" dirty="0" err="1">
                <a:solidFill>
                  <a:schemeClr val="lt1"/>
                </a:solidFill>
              </a:endParaRPr>
            </a:p>
          </p:txBody>
        </p:sp>
        <p:sp>
          <p:nvSpPr>
            <p:cNvPr id="14" name="吹き出し: 角を丸めた四角形 14">
              <a:extLst>
                <a:ext uri="{FF2B5EF4-FFF2-40B4-BE49-F238E27FC236}">
                  <a16:creationId xmlns:a16="http://schemas.microsoft.com/office/drawing/2014/main" id="{82AF22FE-075B-607B-B20F-F6EBB74AE7D0}"/>
                </a:ext>
              </a:extLst>
            </p:cNvPr>
            <p:cNvSpPr/>
            <p:nvPr/>
          </p:nvSpPr>
          <p:spPr bwMode="auto">
            <a:xfrm>
              <a:off x="2867024" y="5905501"/>
              <a:ext cx="6581776" cy="514052"/>
            </a:xfrm>
            <a:prstGeom prst="wedgeRoundRectCallout">
              <a:avLst>
                <a:gd name="adj1" fmla="val -60990"/>
                <a:gd name="adj2" fmla="val 30301"/>
                <a:gd name="adj3" fmla="val 16667"/>
              </a:avLst>
            </a:prstGeom>
            <a:noFill/>
            <a:ln w="3810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ja-JP" altLang="en-US" sz="1100" dirty="0" err="1">
                <a:solidFill>
                  <a:schemeClr val="lt1"/>
                </a:solidFill>
              </a:endParaRPr>
            </a:p>
          </p:txBody>
        </p:sp>
        <p:pic>
          <p:nvPicPr>
            <p:cNvPr id="15" name="図 12">
              <a:extLst>
                <a:ext uri="{FF2B5EF4-FFF2-40B4-BE49-F238E27FC236}">
                  <a16:creationId xmlns:a16="http://schemas.microsoft.com/office/drawing/2014/main" id="{1975F195-4425-E990-ECCF-2B43BE121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0863" y="4019182"/>
              <a:ext cx="2214562" cy="6885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855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46E292D8-9CFF-11AD-2335-B38A947E9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24" y="1983041"/>
            <a:ext cx="8470790" cy="427471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FAA7A87-6432-C687-2263-619A5B75A3C6}"/>
              </a:ext>
            </a:extLst>
          </p:cNvPr>
          <p:cNvSpPr txBox="1">
            <a:spLocks/>
          </p:cNvSpPr>
          <p:nvPr/>
        </p:nvSpPr>
        <p:spPr>
          <a:xfrm>
            <a:off x="0" y="12703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/>
              <a:t>6-1.Search Overview</a:t>
            </a:r>
            <a:endParaRPr lang="ja-JP" altLang="en-US" kern="0" dirty="0"/>
          </a:p>
        </p:txBody>
      </p:sp>
      <p:sp>
        <p:nvSpPr>
          <p:cNvPr id="3" name="テキスト ボックス 4">
            <a:extLst>
              <a:ext uri="{FF2B5EF4-FFF2-40B4-BE49-F238E27FC236}">
                <a16:creationId xmlns:a16="http://schemas.microsoft.com/office/drawing/2014/main" id="{BB08CCEA-9ACB-99B7-A080-628CCD3E7905}"/>
              </a:ext>
            </a:extLst>
          </p:cNvPr>
          <p:cNvSpPr txBox="1"/>
          <p:nvPr/>
        </p:nvSpPr>
        <p:spPr>
          <a:xfrm>
            <a:off x="57149" y="550832"/>
            <a:ext cx="1127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When you perform a search, search result appears in the field on the right side of screen as below image( Below sample is case of filtering result with “Document set”)</a:t>
            </a:r>
          </a:p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If there are many search results, you can further filter by attribute values, </a:t>
            </a:r>
            <a:r>
              <a:rPr lang="en-US" altLang="ja-JP" sz="1600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etc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)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F3B9080-927E-44C2-E954-B3E1C7C0851D}"/>
              </a:ext>
            </a:extLst>
          </p:cNvPr>
          <p:cNvSpPr/>
          <p:nvPr/>
        </p:nvSpPr>
        <p:spPr bwMode="auto">
          <a:xfrm>
            <a:off x="732224" y="2091837"/>
            <a:ext cx="660070" cy="30565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7" name="正方形/長方形 8">
            <a:extLst>
              <a:ext uri="{FF2B5EF4-FFF2-40B4-BE49-F238E27FC236}">
                <a16:creationId xmlns:a16="http://schemas.microsoft.com/office/drawing/2014/main" id="{066361ED-68A6-330C-5C3C-85B0758763C9}"/>
              </a:ext>
            </a:extLst>
          </p:cNvPr>
          <p:cNvSpPr/>
          <p:nvPr/>
        </p:nvSpPr>
        <p:spPr bwMode="auto">
          <a:xfrm>
            <a:off x="8824902" y="2449952"/>
            <a:ext cx="400050" cy="29051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8" name="テキスト ボックス 10">
            <a:extLst>
              <a:ext uri="{FF2B5EF4-FFF2-40B4-BE49-F238E27FC236}">
                <a16:creationId xmlns:a16="http://schemas.microsoft.com/office/drawing/2014/main" id="{34AF5FD3-10A9-DEE8-3181-426E09648302}"/>
              </a:ext>
            </a:extLst>
          </p:cNvPr>
          <p:cNvSpPr txBox="1"/>
          <p:nvPr/>
        </p:nvSpPr>
        <p:spPr>
          <a:xfrm>
            <a:off x="9627391" y="2253555"/>
            <a:ext cx="2066925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>
                <a:latin typeface="Meiryo UI" panose="020B0604030504040204" pitchFamily="34" charset="-128"/>
                <a:ea typeface="Meiryo UI" panose="020B0604030504040204" pitchFamily="34" charset="-128"/>
              </a:rPr>
              <a:t>Press the setting button in the upper right of the screen. Column settings window appears.</a:t>
            </a:r>
          </a:p>
          <a:p>
            <a:r>
              <a:rPr lang="en-US" altLang="ja-JP" sz="1100" dirty="0">
                <a:latin typeface="Meiryo UI" panose="020B0604030504040204" pitchFamily="34" charset="-128"/>
                <a:ea typeface="Meiryo UI" panose="020B0604030504040204" pitchFamily="34" charset="-128"/>
              </a:rPr>
              <a:t>You can select to show/hide each column with this checkbox.</a:t>
            </a:r>
          </a:p>
          <a:p>
            <a:r>
              <a:rPr lang="en-US" altLang="ja-JP" sz="1100" dirty="0">
                <a:latin typeface="Meiryo UI" panose="020B0604030504040204" pitchFamily="34" charset="-128"/>
                <a:ea typeface="Meiryo UI" panose="020B0604030504040204" pitchFamily="34" charset="-128"/>
              </a:rPr>
              <a:t>The settings is inherited in next time you log in.</a:t>
            </a:r>
            <a:endParaRPr lang="ja-JP" altLang="en-US" sz="1100" dirty="0"/>
          </a:p>
        </p:txBody>
      </p:sp>
      <p:sp>
        <p:nvSpPr>
          <p:cNvPr id="9" name="吹き出し: 角を丸めた四角形 11">
            <a:extLst>
              <a:ext uri="{FF2B5EF4-FFF2-40B4-BE49-F238E27FC236}">
                <a16:creationId xmlns:a16="http://schemas.microsoft.com/office/drawing/2014/main" id="{65824206-7592-93D0-22D6-64A04053AE21}"/>
              </a:ext>
            </a:extLst>
          </p:cNvPr>
          <p:cNvSpPr/>
          <p:nvPr/>
        </p:nvSpPr>
        <p:spPr bwMode="auto">
          <a:xfrm>
            <a:off x="5695949" y="1443426"/>
            <a:ext cx="2425701" cy="766371"/>
          </a:xfrm>
          <a:prstGeom prst="wedgeRoundRectCallout">
            <a:avLst>
              <a:gd name="adj1" fmla="val 11035"/>
              <a:gd name="adj2" fmla="val 91162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10" name="テキスト ボックス 13">
            <a:extLst>
              <a:ext uri="{FF2B5EF4-FFF2-40B4-BE49-F238E27FC236}">
                <a16:creationId xmlns:a16="http://schemas.microsoft.com/office/drawing/2014/main" id="{12A077CC-145E-C453-F5F9-954F84C23B6E}"/>
              </a:ext>
            </a:extLst>
          </p:cNvPr>
          <p:cNvSpPr txBox="1"/>
          <p:nvPr/>
        </p:nvSpPr>
        <p:spPr>
          <a:xfrm>
            <a:off x="104725" y="1499565"/>
            <a:ext cx="14763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Search count</a:t>
            </a:r>
            <a:endParaRPr lang="ja-JP" altLang="en-US" sz="1200" dirty="0"/>
          </a:p>
        </p:txBody>
      </p:sp>
      <p:sp>
        <p:nvSpPr>
          <p:cNvPr id="11" name="テキスト ボックス 14">
            <a:extLst>
              <a:ext uri="{FF2B5EF4-FFF2-40B4-BE49-F238E27FC236}">
                <a16:creationId xmlns:a16="http://schemas.microsoft.com/office/drawing/2014/main" id="{1B001952-9FEA-FEE4-7349-5DBE9615D3B9}"/>
              </a:ext>
            </a:extLst>
          </p:cNvPr>
          <p:cNvSpPr txBox="1"/>
          <p:nvPr/>
        </p:nvSpPr>
        <p:spPr>
          <a:xfrm>
            <a:off x="5713693" y="1406697"/>
            <a:ext cx="25788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Able to sort in descending/Ascending order by clicking arrow     next to each attribute</a:t>
            </a:r>
            <a:endParaRPr lang="ja-JP" altLang="en-US" sz="1200" dirty="0"/>
          </a:p>
        </p:txBody>
      </p:sp>
      <p:sp>
        <p:nvSpPr>
          <p:cNvPr id="12" name="正方形/長方形 15">
            <a:extLst>
              <a:ext uri="{FF2B5EF4-FFF2-40B4-BE49-F238E27FC236}">
                <a16:creationId xmlns:a16="http://schemas.microsoft.com/office/drawing/2014/main" id="{533F0895-5FFE-6CB4-2649-D054B5A9079F}"/>
              </a:ext>
            </a:extLst>
          </p:cNvPr>
          <p:cNvSpPr/>
          <p:nvPr/>
        </p:nvSpPr>
        <p:spPr bwMode="auto">
          <a:xfrm>
            <a:off x="1422681" y="2014052"/>
            <a:ext cx="849656" cy="38344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3" name="正方形/長方形 16">
            <a:extLst>
              <a:ext uri="{FF2B5EF4-FFF2-40B4-BE49-F238E27FC236}">
                <a16:creationId xmlns:a16="http://schemas.microsoft.com/office/drawing/2014/main" id="{BE075D8F-9896-87C1-56A0-2BEE0E56E936}"/>
              </a:ext>
            </a:extLst>
          </p:cNvPr>
          <p:cNvSpPr/>
          <p:nvPr/>
        </p:nvSpPr>
        <p:spPr bwMode="auto">
          <a:xfrm>
            <a:off x="6708774" y="2482439"/>
            <a:ext cx="400050" cy="29527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4" name="吹き出し: 角を丸めた四角形 19">
            <a:extLst>
              <a:ext uri="{FF2B5EF4-FFF2-40B4-BE49-F238E27FC236}">
                <a16:creationId xmlns:a16="http://schemas.microsoft.com/office/drawing/2014/main" id="{105C0005-C3BF-D8EA-EA0D-5533C14D87A7}"/>
              </a:ext>
            </a:extLst>
          </p:cNvPr>
          <p:cNvSpPr/>
          <p:nvPr/>
        </p:nvSpPr>
        <p:spPr bwMode="auto">
          <a:xfrm>
            <a:off x="9513686" y="2185910"/>
            <a:ext cx="2468764" cy="4243465"/>
          </a:xfrm>
          <a:prstGeom prst="wedgeRoundRectCallout">
            <a:avLst>
              <a:gd name="adj1" fmla="val -62275"/>
              <a:gd name="adj2" fmla="val -36185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16" name="吹き出し: 角を丸めた四角形 22">
            <a:extLst>
              <a:ext uri="{FF2B5EF4-FFF2-40B4-BE49-F238E27FC236}">
                <a16:creationId xmlns:a16="http://schemas.microsoft.com/office/drawing/2014/main" id="{08AAEF57-FA20-B5D8-D388-A36632206B0C}"/>
              </a:ext>
            </a:extLst>
          </p:cNvPr>
          <p:cNvSpPr/>
          <p:nvPr/>
        </p:nvSpPr>
        <p:spPr bwMode="auto">
          <a:xfrm>
            <a:off x="126053" y="1525599"/>
            <a:ext cx="1250684" cy="276999"/>
          </a:xfrm>
          <a:prstGeom prst="wedgeRoundRectCallout">
            <a:avLst>
              <a:gd name="adj1" fmla="val 6666"/>
              <a:gd name="adj2" fmla="val 160105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17" name="吹き出し: 角を丸めた四角形 23">
            <a:extLst>
              <a:ext uri="{FF2B5EF4-FFF2-40B4-BE49-F238E27FC236}">
                <a16:creationId xmlns:a16="http://schemas.microsoft.com/office/drawing/2014/main" id="{67F55D5F-2BF1-9BB4-BF32-243BAE49C40F}"/>
              </a:ext>
            </a:extLst>
          </p:cNvPr>
          <p:cNvSpPr/>
          <p:nvPr/>
        </p:nvSpPr>
        <p:spPr bwMode="auto">
          <a:xfrm>
            <a:off x="2373330" y="1343652"/>
            <a:ext cx="2650809" cy="490546"/>
          </a:xfrm>
          <a:prstGeom prst="wedgeRoundRectCallout">
            <a:avLst>
              <a:gd name="adj1" fmla="val -56112"/>
              <a:gd name="adj2" fmla="val 129175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18" name="テキスト ボックス 24">
            <a:extLst>
              <a:ext uri="{FF2B5EF4-FFF2-40B4-BE49-F238E27FC236}">
                <a16:creationId xmlns:a16="http://schemas.microsoft.com/office/drawing/2014/main" id="{1E878D01-74B6-A3A1-F53B-B406B8FFE0BB}"/>
              </a:ext>
            </a:extLst>
          </p:cNvPr>
          <p:cNvSpPr txBox="1"/>
          <p:nvPr/>
        </p:nvSpPr>
        <p:spPr>
          <a:xfrm>
            <a:off x="2373330" y="1372533"/>
            <a:ext cx="27972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Turn “Latest Issued” ON to filter only latest issued document</a:t>
            </a:r>
            <a:endParaRPr lang="ja-JP" altLang="en-US" sz="12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正方形/長方形 25">
            <a:extLst>
              <a:ext uri="{FF2B5EF4-FFF2-40B4-BE49-F238E27FC236}">
                <a16:creationId xmlns:a16="http://schemas.microsoft.com/office/drawing/2014/main" id="{C8B15448-1897-E6A0-421D-5DCC5C8D306E}"/>
              </a:ext>
            </a:extLst>
          </p:cNvPr>
          <p:cNvSpPr/>
          <p:nvPr/>
        </p:nvSpPr>
        <p:spPr bwMode="auto">
          <a:xfrm>
            <a:off x="8486639" y="2107046"/>
            <a:ext cx="204138" cy="14317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20" name="テキスト ボックス 26">
            <a:extLst>
              <a:ext uri="{FF2B5EF4-FFF2-40B4-BE49-F238E27FC236}">
                <a16:creationId xmlns:a16="http://schemas.microsoft.com/office/drawing/2014/main" id="{629183CA-D7EA-9DE9-EDB6-1649BADC24F6}"/>
              </a:ext>
            </a:extLst>
          </p:cNvPr>
          <p:cNvSpPr txBox="1"/>
          <p:nvPr/>
        </p:nvSpPr>
        <p:spPr>
          <a:xfrm>
            <a:off x="8824902" y="1372533"/>
            <a:ext cx="1476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Able to export search result to Excel</a:t>
            </a:r>
            <a:endParaRPr lang="ja-JP" altLang="en-US" sz="1200" dirty="0"/>
          </a:p>
        </p:txBody>
      </p:sp>
      <p:sp>
        <p:nvSpPr>
          <p:cNvPr id="21" name="吹き出し: 角を丸めた四角形 27">
            <a:extLst>
              <a:ext uri="{FF2B5EF4-FFF2-40B4-BE49-F238E27FC236}">
                <a16:creationId xmlns:a16="http://schemas.microsoft.com/office/drawing/2014/main" id="{4CF88800-82A8-5215-D8A5-B355D12EA3B5}"/>
              </a:ext>
            </a:extLst>
          </p:cNvPr>
          <p:cNvSpPr/>
          <p:nvPr/>
        </p:nvSpPr>
        <p:spPr bwMode="auto">
          <a:xfrm>
            <a:off x="8824902" y="1362884"/>
            <a:ext cx="1562099" cy="656281"/>
          </a:xfrm>
          <a:prstGeom prst="wedgeRoundRectCallout">
            <a:avLst>
              <a:gd name="adj1" fmla="val -65089"/>
              <a:gd name="adj2" fmla="val 54709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22" name="正方形/長方形 29">
            <a:extLst>
              <a:ext uri="{FF2B5EF4-FFF2-40B4-BE49-F238E27FC236}">
                <a16:creationId xmlns:a16="http://schemas.microsoft.com/office/drawing/2014/main" id="{CEBF7F2C-1515-5FB1-537A-9D1C79F974DC}"/>
              </a:ext>
            </a:extLst>
          </p:cNvPr>
          <p:cNvSpPr/>
          <p:nvPr/>
        </p:nvSpPr>
        <p:spPr bwMode="auto">
          <a:xfrm>
            <a:off x="1085850" y="3485942"/>
            <a:ext cx="7477125" cy="38344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23" name="テキスト ボックス 31">
            <a:extLst>
              <a:ext uri="{FF2B5EF4-FFF2-40B4-BE49-F238E27FC236}">
                <a16:creationId xmlns:a16="http://schemas.microsoft.com/office/drawing/2014/main" id="{773D13F6-FDF9-7F68-2CE7-F8FBD3488432}"/>
              </a:ext>
            </a:extLst>
          </p:cNvPr>
          <p:cNvSpPr txBox="1"/>
          <p:nvPr/>
        </p:nvSpPr>
        <p:spPr>
          <a:xfrm>
            <a:off x="11299" y="3424450"/>
            <a:ext cx="89505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dirty="0">
                <a:latin typeface="Meiryo UI" panose="020B0604030504040204" pitchFamily="34" charset="-128"/>
                <a:ea typeface="Meiryo UI" panose="020B0604030504040204" pitchFamily="34" charset="-128"/>
              </a:rPr>
              <a:t>Click on document you want to view, detail screen will open</a:t>
            </a:r>
            <a:endParaRPr lang="ja-JP" altLang="en-US" sz="11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4" name="吹き出し: 角を丸めた四角形 32">
            <a:extLst>
              <a:ext uri="{FF2B5EF4-FFF2-40B4-BE49-F238E27FC236}">
                <a16:creationId xmlns:a16="http://schemas.microsoft.com/office/drawing/2014/main" id="{976A6E28-4FBD-0DC2-4F96-5AF905532061}"/>
              </a:ext>
            </a:extLst>
          </p:cNvPr>
          <p:cNvSpPr/>
          <p:nvPr/>
        </p:nvSpPr>
        <p:spPr bwMode="auto">
          <a:xfrm>
            <a:off x="-12414" y="3435808"/>
            <a:ext cx="804504" cy="1241962"/>
          </a:xfrm>
          <a:prstGeom prst="wedgeRoundRectCallout">
            <a:avLst>
              <a:gd name="adj1" fmla="val 77356"/>
              <a:gd name="adj2" fmla="val -30101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9AEB9B4-1851-F53E-0809-C7FE67997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4137" y="3791886"/>
            <a:ext cx="1813431" cy="271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18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525B62E6-CFEF-F4D4-6639-FCF2CAA83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652" y="1457225"/>
            <a:ext cx="7172032" cy="144801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A4335F0-0D6C-7E00-1D8E-FFB7FF861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651" y="3846145"/>
            <a:ext cx="6597723" cy="2336330"/>
          </a:xfrm>
          <a:prstGeom prst="rect">
            <a:avLst/>
          </a:prstGeom>
        </p:spPr>
      </p:pic>
      <p:sp>
        <p:nvSpPr>
          <p:cNvPr id="2" name="テキスト ボックス 18">
            <a:extLst>
              <a:ext uri="{FF2B5EF4-FFF2-40B4-BE49-F238E27FC236}">
                <a16:creationId xmlns:a16="http://schemas.microsoft.com/office/drawing/2014/main" id="{1AFBEC7C-7F9A-FC14-0FAE-A0C592419E13}"/>
              </a:ext>
            </a:extLst>
          </p:cNvPr>
          <p:cNvSpPr txBox="1"/>
          <p:nvPr/>
        </p:nvSpPr>
        <p:spPr>
          <a:xfrm>
            <a:off x="104775" y="614949"/>
            <a:ext cx="1127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The advance search screen provides multiple views.</a:t>
            </a:r>
          </a:p>
          <a:p>
            <a:r>
              <a:rPr lang="en-US" altLang="ja-JP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Click the button in red frame to switch the display.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1D26CF69-A95E-8207-D22F-73290AA1AB5A}"/>
              </a:ext>
            </a:extLst>
          </p:cNvPr>
          <p:cNvSpPr txBox="1">
            <a:spLocks/>
          </p:cNvSpPr>
          <p:nvPr/>
        </p:nvSpPr>
        <p:spPr>
          <a:xfrm>
            <a:off x="0" y="2222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/>
              <a:t>6-1.Search Overview</a:t>
            </a:r>
            <a:endParaRPr lang="ja-JP" altLang="en-US" kern="0" dirty="0"/>
          </a:p>
        </p:txBody>
      </p:sp>
      <p:pic>
        <p:nvPicPr>
          <p:cNvPr id="8" name="図 2">
            <a:extLst>
              <a:ext uri="{FF2B5EF4-FFF2-40B4-BE49-F238E27FC236}">
                <a16:creationId xmlns:a16="http://schemas.microsoft.com/office/drawing/2014/main" id="{A79D924C-D9A7-4ED9-21DD-96AFDC61D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78" y="1599238"/>
            <a:ext cx="1883178" cy="4406426"/>
          </a:xfrm>
          <a:prstGeom prst="rect">
            <a:avLst/>
          </a:prstGeom>
        </p:spPr>
      </p:pic>
      <p:sp>
        <p:nvSpPr>
          <p:cNvPr id="9" name="正方形/長方形 14">
            <a:extLst>
              <a:ext uri="{FF2B5EF4-FFF2-40B4-BE49-F238E27FC236}">
                <a16:creationId xmlns:a16="http://schemas.microsoft.com/office/drawing/2014/main" id="{5CBD8CE0-F17C-9EA6-9ADF-2CB3B5715400}"/>
              </a:ext>
            </a:extLst>
          </p:cNvPr>
          <p:cNvSpPr/>
          <p:nvPr/>
        </p:nvSpPr>
        <p:spPr bwMode="auto">
          <a:xfrm>
            <a:off x="1630433" y="1572050"/>
            <a:ext cx="442955" cy="33337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1" name="正方形/長方形 16">
            <a:extLst>
              <a:ext uri="{FF2B5EF4-FFF2-40B4-BE49-F238E27FC236}">
                <a16:creationId xmlns:a16="http://schemas.microsoft.com/office/drawing/2014/main" id="{EC504130-1004-DC2D-B53B-1BDAC2B0D1BE}"/>
              </a:ext>
            </a:extLst>
          </p:cNvPr>
          <p:cNvSpPr/>
          <p:nvPr/>
        </p:nvSpPr>
        <p:spPr bwMode="auto">
          <a:xfrm>
            <a:off x="11630288" y="1472499"/>
            <a:ext cx="151524" cy="36426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2" name="正方形/長方形 17">
            <a:extLst>
              <a:ext uri="{FF2B5EF4-FFF2-40B4-BE49-F238E27FC236}">
                <a16:creationId xmlns:a16="http://schemas.microsoft.com/office/drawing/2014/main" id="{573CE510-C2F8-4C62-8F51-9B3B20A6CD87}"/>
              </a:ext>
            </a:extLst>
          </p:cNvPr>
          <p:cNvSpPr/>
          <p:nvPr/>
        </p:nvSpPr>
        <p:spPr bwMode="auto">
          <a:xfrm>
            <a:off x="11124159" y="4197192"/>
            <a:ext cx="232005" cy="29524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3" name="テキスト ボックス 20">
            <a:extLst>
              <a:ext uri="{FF2B5EF4-FFF2-40B4-BE49-F238E27FC236}">
                <a16:creationId xmlns:a16="http://schemas.microsoft.com/office/drawing/2014/main" id="{B26B3E1D-09E7-FC41-FAC5-7296D1B06752}"/>
              </a:ext>
            </a:extLst>
          </p:cNvPr>
          <p:cNvSpPr txBox="1"/>
          <p:nvPr/>
        </p:nvSpPr>
        <p:spPr>
          <a:xfrm>
            <a:off x="333375" y="5969594"/>
            <a:ext cx="2196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u="sng" dirty="0">
                <a:latin typeface="Meiryo UI" panose="020B0604030504040204" pitchFamily="34" charset="-128"/>
                <a:ea typeface="Meiryo UI" panose="020B0604030504040204" pitchFamily="34" charset="-128"/>
              </a:rPr>
              <a:t>Filter View</a:t>
            </a:r>
          </a:p>
          <a:p>
            <a:pPr algn="ctr"/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（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Specify Search Conditions Screen</a:t>
            </a:r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  <a:endParaRPr lang="ja-JP" altLang="en-US" sz="1200" dirty="0"/>
          </a:p>
        </p:txBody>
      </p:sp>
      <p:sp>
        <p:nvSpPr>
          <p:cNvPr id="14" name="テキスト ボックス 21">
            <a:extLst>
              <a:ext uri="{FF2B5EF4-FFF2-40B4-BE49-F238E27FC236}">
                <a16:creationId xmlns:a16="http://schemas.microsoft.com/office/drawing/2014/main" id="{EB2AD378-5943-EA5C-0B60-3891E3B1CE63}"/>
              </a:ext>
            </a:extLst>
          </p:cNvPr>
          <p:cNvSpPr txBox="1"/>
          <p:nvPr/>
        </p:nvSpPr>
        <p:spPr>
          <a:xfrm>
            <a:off x="2893194" y="5943150"/>
            <a:ext cx="2196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u="sng" dirty="0">
                <a:latin typeface="Meiryo UI" panose="020B0604030504040204" pitchFamily="34" charset="-128"/>
                <a:ea typeface="Meiryo UI" panose="020B0604030504040204" pitchFamily="34" charset="-128"/>
              </a:rPr>
              <a:t>Queue View</a:t>
            </a:r>
          </a:p>
          <a:p>
            <a:pPr algn="ctr"/>
            <a:r>
              <a:rPr lang="ja-JP" altLang="en-US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（</a:t>
            </a:r>
            <a:r>
              <a:rPr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List of search result)</a:t>
            </a:r>
            <a:endParaRPr lang="ja-JP" altLang="en-US" sz="1200" dirty="0"/>
          </a:p>
        </p:txBody>
      </p:sp>
      <p:sp>
        <p:nvSpPr>
          <p:cNvPr id="15" name="テキスト ボックス 22">
            <a:extLst>
              <a:ext uri="{FF2B5EF4-FFF2-40B4-BE49-F238E27FC236}">
                <a16:creationId xmlns:a16="http://schemas.microsoft.com/office/drawing/2014/main" id="{15BC321C-292E-0E7D-23C6-C3246D10E8D8}"/>
              </a:ext>
            </a:extLst>
          </p:cNvPr>
          <p:cNvSpPr txBox="1"/>
          <p:nvPr/>
        </p:nvSpPr>
        <p:spPr>
          <a:xfrm>
            <a:off x="6929117" y="3286014"/>
            <a:ext cx="2196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u="sng" dirty="0">
                <a:latin typeface="Meiryo UI" panose="020B0604030504040204" pitchFamily="34" charset="-128"/>
                <a:ea typeface="Meiryo UI" panose="020B0604030504040204" pitchFamily="34" charset="-128"/>
              </a:rPr>
              <a:t>Table View</a:t>
            </a:r>
          </a:p>
        </p:txBody>
      </p:sp>
      <p:sp>
        <p:nvSpPr>
          <p:cNvPr id="16" name="テキスト ボックス 23">
            <a:extLst>
              <a:ext uri="{FF2B5EF4-FFF2-40B4-BE49-F238E27FC236}">
                <a16:creationId xmlns:a16="http://schemas.microsoft.com/office/drawing/2014/main" id="{638C42EA-2054-4693-3407-DC71FD6221A5}"/>
              </a:ext>
            </a:extLst>
          </p:cNvPr>
          <p:cNvSpPr txBox="1"/>
          <p:nvPr/>
        </p:nvSpPr>
        <p:spPr>
          <a:xfrm>
            <a:off x="6929116" y="6023617"/>
            <a:ext cx="2196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u="sng" dirty="0">
                <a:latin typeface="Meiryo UI" panose="020B0604030504040204" pitchFamily="34" charset="-128"/>
                <a:ea typeface="Meiryo UI" panose="020B0604030504040204" pitchFamily="34" charset="-128"/>
              </a:rPr>
              <a:t>List View</a:t>
            </a:r>
          </a:p>
        </p:txBody>
      </p:sp>
      <p:sp>
        <p:nvSpPr>
          <p:cNvPr id="18" name="矢印: 左右 25">
            <a:extLst>
              <a:ext uri="{FF2B5EF4-FFF2-40B4-BE49-F238E27FC236}">
                <a16:creationId xmlns:a16="http://schemas.microsoft.com/office/drawing/2014/main" id="{E2919BC3-67E4-D65D-245A-E7BCB8B81F2A}"/>
              </a:ext>
            </a:extLst>
          </p:cNvPr>
          <p:cNvSpPr/>
          <p:nvPr/>
        </p:nvSpPr>
        <p:spPr bwMode="auto">
          <a:xfrm rot="5400000">
            <a:off x="7738712" y="3679145"/>
            <a:ext cx="513551" cy="252477"/>
          </a:xfrm>
          <a:prstGeom prst="leftRightArrow">
            <a:avLst/>
          </a:prstGeom>
          <a:solidFill>
            <a:schemeClr val="accent2"/>
          </a:solidFill>
          <a:ln w="1270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sz="2400" dirty="0" err="1">
              <a:solidFill>
                <a:schemeClr val="bg1"/>
              </a:solidFill>
              <a:ea typeface="ＭＳ Ｐゴシック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D0D7146-A37F-5948-2C8C-B044E15A1922}"/>
              </a:ext>
            </a:extLst>
          </p:cNvPr>
          <p:cNvCxnSpPr/>
          <p:nvPr/>
        </p:nvCxnSpPr>
        <p:spPr bwMode="auto">
          <a:xfrm>
            <a:off x="1583360" y="3802451"/>
            <a:ext cx="888021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7197BE3C-746B-96BE-CB6E-9EE7F1571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381" y="1801267"/>
            <a:ext cx="2136812" cy="3888859"/>
          </a:xfrm>
          <a:prstGeom prst="rect">
            <a:avLst/>
          </a:prstGeom>
        </p:spPr>
      </p:pic>
      <p:sp>
        <p:nvSpPr>
          <p:cNvPr id="34" name="正方形/長方形 14">
            <a:extLst>
              <a:ext uri="{FF2B5EF4-FFF2-40B4-BE49-F238E27FC236}">
                <a16:creationId xmlns:a16="http://schemas.microsoft.com/office/drawing/2014/main" id="{F117EE4F-DA95-D8FA-DF9B-335EE22555B8}"/>
              </a:ext>
            </a:extLst>
          </p:cNvPr>
          <p:cNvSpPr/>
          <p:nvPr/>
        </p:nvSpPr>
        <p:spPr bwMode="auto">
          <a:xfrm>
            <a:off x="4143741" y="1738737"/>
            <a:ext cx="442955" cy="33337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0C9143-6331-DF5A-F808-96FCC263019D}"/>
              </a:ext>
            </a:extLst>
          </p:cNvPr>
          <p:cNvCxnSpPr/>
          <p:nvPr/>
        </p:nvCxnSpPr>
        <p:spPr bwMode="auto">
          <a:xfrm>
            <a:off x="3896631" y="3745696"/>
            <a:ext cx="888021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5248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A36DAA-3292-6E95-BA62-242ECF5DA3C2}"/>
              </a:ext>
            </a:extLst>
          </p:cNvPr>
          <p:cNvSpPr txBox="1">
            <a:spLocks/>
          </p:cNvSpPr>
          <p:nvPr/>
        </p:nvSpPr>
        <p:spPr>
          <a:xfrm>
            <a:off x="0" y="2222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/>
              <a:t>6-2.Full Text Search</a:t>
            </a:r>
            <a:endParaRPr lang="ja-JP" altLang="en-US" kern="0" dirty="0"/>
          </a:p>
        </p:txBody>
      </p:sp>
      <p:sp>
        <p:nvSpPr>
          <p:cNvPr id="3" name="テキスト ボックス 4">
            <a:extLst>
              <a:ext uri="{FF2B5EF4-FFF2-40B4-BE49-F238E27FC236}">
                <a16:creationId xmlns:a16="http://schemas.microsoft.com/office/drawing/2014/main" id="{16061F5C-2809-9A40-730E-33BB0EFBF39A}"/>
              </a:ext>
            </a:extLst>
          </p:cNvPr>
          <p:cNvSpPr txBox="1"/>
          <p:nvPr/>
        </p:nvSpPr>
        <p:spPr>
          <a:xfrm>
            <a:off x="104775" y="604675"/>
            <a:ext cx="1127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When you enter a keyword you want to search in the text entry field of “FULL TEXT SEARCH”, you can </a:t>
            </a:r>
          </a:p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perform a full-text search on all documents registered in the system for the specified document type.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441EF-925C-E0A2-668A-24155149ED28}"/>
              </a:ext>
            </a:extLst>
          </p:cNvPr>
          <p:cNvSpPr txBox="1"/>
          <p:nvPr/>
        </p:nvSpPr>
        <p:spPr>
          <a:xfrm>
            <a:off x="5558170" y="1361819"/>
            <a:ext cx="61403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※ Refer to below link for full text search in detail.</a:t>
            </a:r>
          </a:p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  <a:hlinkClick r:id="rId2"/>
              </a:rPr>
              <a:t>https://jp.nissan.biz/EDMS_RL/ui/#!/doc/180a36df-4281-4c3d-94b6-a25c98bc55bb</a:t>
            </a:r>
            <a:endParaRPr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1A460-B28D-CACF-0974-0CB5CBBAC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50" y="1395474"/>
            <a:ext cx="2851032" cy="4863526"/>
          </a:xfrm>
          <a:prstGeom prst="rect">
            <a:avLst/>
          </a:prstGeom>
        </p:spPr>
      </p:pic>
      <p:sp>
        <p:nvSpPr>
          <p:cNvPr id="8" name="吹き出し: 角を丸めた四角形 8">
            <a:extLst>
              <a:ext uri="{FF2B5EF4-FFF2-40B4-BE49-F238E27FC236}">
                <a16:creationId xmlns:a16="http://schemas.microsoft.com/office/drawing/2014/main" id="{F0C4A0EA-6F52-F4B3-4CD5-23CC87A1A0F1}"/>
              </a:ext>
            </a:extLst>
          </p:cNvPr>
          <p:cNvSpPr/>
          <p:nvPr/>
        </p:nvSpPr>
        <p:spPr bwMode="auto">
          <a:xfrm>
            <a:off x="3390899" y="3223839"/>
            <a:ext cx="3310891" cy="1206796"/>
          </a:xfrm>
          <a:prstGeom prst="wedgeRoundRectCallout">
            <a:avLst>
              <a:gd name="adj1" fmla="val -69394"/>
              <a:gd name="adj2" fmla="val 62902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3E5837-CF7F-B3A6-7CE3-881634628F81}"/>
              </a:ext>
            </a:extLst>
          </p:cNvPr>
          <p:cNvSpPr txBox="1"/>
          <p:nvPr/>
        </p:nvSpPr>
        <p:spPr>
          <a:xfrm>
            <a:off x="3455582" y="3319371"/>
            <a:ext cx="32462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A keyword full text search is a search that includes the keywords you enter. </a:t>
            </a:r>
          </a:p>
          <a:p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It is partial match search.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endParaRPr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61039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00CC923-D1AE-21B4-995B-1DC947017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1" y="979943"/>
            <a:ext cx="11851758" cy="496987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9A914BD-D309-8D65-7F8A-6B353958EE41}"/>
              </a:ext>
            </a:extLst>
          </p:cNvPr>
          <p:cNvSpPr txBox="1">
            <a:spLocks/>
          </p:cNvSpPr>
          <p:nvPr/>
        </p:nvSpPr>
        <p:spPr>
          <a:xfrm>
            <a:off x="0" y="2222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/>
              <a:t>6-2.Full Text Search</a:t>
            </a:r>
            <a:endParaRPr lang="ja-JP" altLang="en-US" kern="0" dirty="0"/>
          </a:p>
        </p:txBody>
      </p:sp>
      <p:sp>
        <p:nvSpPr>
          <p:cNvPr id="3" name="テキスト ボックス 5">
            <a:extLst>
              <a:ext uri="{FF2B5EF4-FFF2-40B4-BE49-F238E27FC236}">
                <a16:creationId xmlns:a16="http://schemas.microsoft.com/office/drawing/2014/main" id="{1F4D000B-5323-F612-CF01-737114CFFD44}"/>
              </a:ext>
            </a:extLst>
          </p:cNvPr>
          <p:cNvSpPr txBox="1"/>
          <p:nvPr/>
        </p:nvSpPr>
        <p:spPr>
          <a:xfrm>
            <a:off x="0" y="584707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1) "Starts with" search</a:t>
            </a:r>
            <a:endParaRPr lang="ja-JP" altLang="en-US" dirty="0"/>
          </a:p>
        </p:txBody>
      </p:sp>
      <p:sp>
        <p:nvSpPr>
          <p:cNvPr id="6" name="正方形/長方形 16">
            <a:extLst>
              <a:ext uri="{FF2B5EF4-FFF2-40B4-BE49-F238E27FC236}">
                <a16:creationId xmlns:a16="http://schemas.microsoft.com/office/drawing/2014/main" id="{B0D30D37-C78C-CE45-01CB-8EC53BCD5435}"/>
              </a:ext>
            </a:extLst>
          </p:cNvPr>
          <p:cNvSpPr/>
          <p:nvPr/>
        </p:nvSpPr>
        <p:spPr bwMode="auto">
          <a:xfrm>
            <a:off x="109871" y="3366017"/>
            <a:ext cx="1481587" cy="45726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8" name="角丸四角形 26">
            <a:extLst>
              <a:ext uri="{FF2B5EF4-FFF2-40B4-BE49-F238E27FC236}">
                <a16:creationId xmlns:a16="http://schemas.microsoft.com/office/drawing/2014/main" id="{A98D1C91-5BC0-D910-14F1-584A55DB5566}"/>
              </a:ext>
            </a:extLst>
          </p:cNvPr>
          <p:cNvSpPr/>
          <p:nvPr/>
        </p:nvSpPr>
        <p:spPr>
          <a:xfrm>
            <a:off x="6191249" y="4293164"/>
            <a:ext cx="804973" cy="363895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9" name="角丸四角形 26">
            <a:extLst>
              <a:ext uri="{FF2B5EF4-FFF2-40B4-BE49-F238E27FC236}">
                <a16:creationId xmlns:a16="http://schemas.microsoft.com/office/drawing/2014/main" id="{23D53C46-D03D-69F5-6AC1-BDB1FC6BC44C}"/>
              </a:ext>
            </a:extLst>
          </p:cNvPr>
          <p:cNvSpPr/>
          <p:nvPr/>
        </p:nvSpPr>
        <p:spPr>
          <a:xfrm>
            <a:off x="2856787" y="3818868"/>
            <a:ext cx="611960" cy="305036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0" name="角丸四角形 26">
            <a:extLst>
              <a:ext uri="{FF2B5EF4-FFF2-40B4-BE49-F238E27FC236}">
                <a16:creationId xmlns:a16="http://schemas.microsoft.com/office/drawing/2014/main" id="{CD55A62A-C95D-C8D9-BB8F-02FEC9EEED7B}"/>
              </a:ext>
            </a:extLst>
          </p:cNvPr>
          <p:cNvSpPr/>
          <p:nvPr/>
        </p:nvSpPr>
        <p:spPr>
          <a:xfrm>
            <a:off x="3904060" y="5157295"/>
            <a:ext cx="611960" cy="305036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1" name="角丸四角形 26">
            <a:extLst>
              <a:ext uri="{FF2B5EF4-FFF2-40B4-BE49-F238E27FC236}">
                <a16:creationId xmlns:a16="http://schemas.microsoft.com/office/drawing/2014/main" id="{E000C27C-FD17-33F9-720F-B0AED6AF617B}"/>
              </a:ext>
            </a:extLst>
          </p:cNvPr>
          <p:cNvSpPr/>
          <p:nvPr/>
        </p:nvSpPr>
        <p:spPr>
          <a:xfrm>
            <a:off x="2859702" y="5141727"/>
            <a:ext cx="611960" cy="305036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2" name="角丸四角形 26">
            <a:extLst>
              <a:ext uri="{FF2B5EF4-FFF2-40B4-BE49-F238E27FC236}">
                <a16:creationId xmlns:a16="http://schemas.microsoft.com/office/drawing/2014/main" id="{3640EBF5-3117-62F9-DF6A-FE158D8BD95E}"/>
              </a:ext>
            </a:extLst>
          </p:cNvPr>
          <p:cNvSpPr/>
          <p:nvPr/>
        </p:nvSpPr>
        <p:spPr>
          <a:xfrm flipV="1">
            <a:off x="2806158" y="2984576"/>
            <a:ext cx="713219" cy="305036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3" name="角丸四角形 26">
            <a:extLst>
              <a:ext uri="{FF2B5EF4-FFF2-40B4-BE49-F238E27FC236}">
                <a16:creationId xmlns:a16="http://schemas.microsoft.com/office/drawing/2014/main" id="{3C4298EF-9D51-4D74-322D-842F62F17515}"/>
              </a:ext>
            </a:extLst>
          </p:cNvPr>
          <p:cNvSpPr/>
          <p:nvPr/>
        </p:nvSpPr>
        <p:spPr>
          <a:xfrm flipV="1">
            <a:off x="3904060" y="3823279"/>
            <a:ext cx="444436" cy="305036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6" name="角丸四角形 26">
            <a:extLst>
              <a:ext uri="{FF2B5EF4-FFF2-40B4-BE49-F238E27FC236}">
                <a16:creationId xmlns:a16="http://schemas.microsoft.com/office/drawing/2014/main" id="{1F38E4C8-02D5-F8B0-FD8A-BC151331BC14}"/>
              </a:ext>
            </a:extLst>
          </p:cNvPr>
          <p:cNvSpPr/>
          <p:nvPr/>
        </p:nvSpPr>
        <p:spPr>
          <a:xfrm flipV="1">
            <a:off x="3925105" y="3030754"/>
            <a:ext cx="713218" cy="258858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8" name="角丸四角形 26">
            <a:extLst>
              <a:ext uri="{FF2B5EF4-FFF2-40B4-BE49-F238E27FC236}">
                <a16:creationId xmlns:a16="http://schemas.microsoft.com/office/drawing/2014/main" id="{34AD2076-C8F3-E08D-5E38-E72767C80C8E}"/>
              </a:ext>
            </a:extLst>
          </p:cNvPr>
          <p:cNvSpPr/>
          <p:nvPr/>
        </p:nvSpPr>
        <p:spPr>
          <a:xfrm>
            <a:off x="6221493" y="5141727"/>
            <a:ext cx="804973" cy="363895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9" name="角丸四角形 26">
            <a:extLst>
              <a:ext uri="{FF2B5EF4-FFF2-40B4-BE49-F238E27FC236}">
                <a16:creationId xmlns:a16="http://schemas.microsoft.com/office/drawing/2014/main" id="{83AEFA13-B9F9-88CC-F417-AF670F3AE9CF}"/>
              </a:ext>
            </a:extLst>
          </p:cNvPr>
          <p:cNvSpPr/>
          <p:nvPr/>
        </p:nvSpPr>
        <p:spPr>
          <a:xfrm>
            <a:off x="6221493" y="5585925"/>
            <a:ext cx="804973" cy="363895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20" name="角丸四角形 26">
            <a:extLst>
              <a:ext uri="{FF2B5EF4-FFF2-40B4-BE49-F238E27FC236}">
                <a16:creationId xmlns:a16="http://schemas.microsoft.com/office/drawing/2014/main" id="{BBD37987-2B99-DFA3-147A-95A54EF6244E}"/>
              </a:ext>
            </a:extLst>
          </p:cNvPr>
          <p:cNvSpPr/>
          <p:nvPr/>
        </p:nvSpPr>
        <p:spPr>
          <a:xfrm>
            <a:off x="6191248" y="2639319"/>
            <a:ext cx="804973" cy="363895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21" name="正方形/長方形 17">
            <a:extLst>
              <a:ext uri="{FF2B5EF4-FFF2-40B4-BE49-F238E27FC236}">
                <a16:creationId xmlns:a16="http://schemas.microsoft.com/office/drawing/2014/main" id="{393506A0-D763-6E9C-92E2-B1DDC62D92C5}"/>
              </a:ext>
            </a:extLst>
          </p:cNvPr>
          <p:cNvSpPr/>
          <p:nvPr/>
        </p:nvSpPr>
        <p:spPr>
          <a:xfrm>
            <a:off x="975494" y="3893294"/>
            <a:ext cx="1881293" cy="9387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If user want to partial(starting with) search, user can add wildcard * at the end of the term</a:t>
            </a:r>
            <a:endParaRPr lang="en-US" altLang="ja-JP" sz="1100" kern="100" dirty="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2" name="四角形吹き出し 40">
            <a:extLst>
              <a:ext uri="{FF2B5EF4-FFF2-40B4-BE49-F238E27FC236}">
                <a16:creationId xmlns:a16="http://schemas.microsoft.com/office/drawing/2014/main" id="{97A4DCAE-8EB9-14DB-E99B-85192D738AFC}"/>
              </a:ext>
            </a:extLst>
          </p:cNvPr>
          <p:cNvSpPr/>
          <p:nvPr/>
        </p:nvSpPr>
        <p:spPr>
          <a:xfrm>
            <a:off x="3136482" y="5890688"/>
            <a:ext cx="2759075" cy="600624"/>
          </a:xfrm>
          <a:prstGeom prst="wedgeRectCallout">
            <a:avLst>
              <a:gd name="adj1" fmla="val -37937"/>
              <a:gd name="adj2" fmla="val -121510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If any attribute starts with the term</a:t>
            </a:r>
          </a:p>
          <a:p>
            <a:r>
              <a:rPr lang="en-US" altLang="ja-JP" sz="1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then the document will be filtered into search results</a:t>
            </a:r>
            <a:endParaRPr lang="ja-JP" altLang="en-US" sz="10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4261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EE6189-40D5-1290-306C-D48B05033880}"/>
              </a:ext>
            </a:extLst>
          </p:cNvPr>
          <p:cNvSpPr txBox="1">
            <a:spLocks/>
          </p:cNvSpPr>
          <p:nvPr/>
        </p:nvSpPr>
        <p:spPr>
          <a:xfrm>
            <a:off x="0" y="2222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/>
              <a:t>6-2.Full Text Search</a:t>
            </a:r>
            <a:endParaRPr lang="ja-JP" altLang="en-US" kern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E671A-26A3-CA8A-D1F6-0AB119D50F17}"/>
              </a:ext>
            </a:extLst>
          </p:cNvPr>
          <p:cNvSpPr txBox="1"/>
          <p:nvPr/>
        </p:nvSpPr>
        <p:spPr>
          <a:xfrm>
            <a:off x="0" y="660623"/>
            <a:ext cx="6140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2) OR search</a:t>
            </a:r>
            <a:endParaRPr lang="ja-JP" altLang="en-US" dirty="0"/>
          </a:p>
        </p:txBody>
      </p:sp>
      <p:pic>
        <p:nvPicPr>
          <p:cNvPr id="6" name="Picture 114">
            <a:extLst>
              <a:ext uri="{FF2B5EF4-FFF2-40B4-BE49-F238E27FC236}">
                <a16:creationId xmlns:a16="http://schemas.microsoft.com/office/drawing/2014/main" id="{F6352E91-AD5B-117A-BD51-002ADCB66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55" y="1201417"/>
            <a:ext cx="8194400" cy="4767862"/>
          </a:xfrm>
          <a:prstGeom prst="rect">
            <a:avLst/>
          </a:prstGeom>
        </p:spPr>
      </p:pic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190305EF-672A-0B53-D587-00429DACE597}"/>
              </a:ext>
            </a:extLst>
          </p:cNvPr>
          <p:cNvSpPr/>
          <p:nvPr/>
        </p:nvSpPr>
        <p:spPr bwMode="auto">
          <a:xfrm>
            <a:off x="1346874" y="3257191"/>
            <a:ext cx="1394276" cy="47995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8" name="正方形/長方形 15">
            <a:extLst>
              <a:ext uri="{FF2B5EF4-FFF2-40B4-BE49-F238E27FC236}">
                <a16:creationId xmlns:a16="http://schemas.microsoft.com/office/drawing/2014/main" id="{07006281-A63C-776B-1BDB-3ED662775271}"/>
              </a:ext>
            </a:extLst>
          </p:cNvPr>
          <p:cNvSpPr/>
          <p:nvPr/>
        </p:nvSpPr>
        <p:spPr>
          <a:xfrm>
            <a:off x="1268722" y="3919413"/>
            <a:ext cx="2371733" cy="96980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ja-JP" sz="1100" kern="100" dirty="0"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If user want to search by multiple terms and need all those in which at least one term can be found, user can add "OR" between two terms</a:t>
            </a:r>
          </a:p>
        </p:txBody>
      </p:sp>
      <p:sp>
        <p:nvSpPr>
          <p:cNvPr id="10" name="四角形吹き出し 40">
            <a:extLst>
              <a:ext uri="{FF2B5EF4-FFF2-40B4-BE49-F238E27FC236}">
                <a16:creationId xmlns:a16="http://schemas.microsoft.com/office/drawing/2014/main" id="{CAB36E45-DF6C-527A-2671-13D0E6523CBB}"/>
              </a:ext>
            </a:extLst>
          </p:cNvPr>
          <p:cNvSpPr/>
          <p:nvPr/>
        </p:nvSpPr>
        <p:spPr>
          <a:xfrm>
            <a:off x="3842710" y="4123470"/>
            <a:ext cx="2759075" cy="973931"/>
          </a:xfrm>
          <a:prstGeom prst="wedgeRectCallout">
            <a:avLst>
              <a:gd name="adj1" fmla="val 3686"/>
              <a:gd name="adj2" fmla="val -125877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1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吹き出し 40">
            <a:extLst>
              <a:ext uri="{FF2B5EF4-FFF2-40B4-BE49-F238E27FC236}">
                <a16:creationId xmlns:a16="http://schemas.microsoft.com/office/drawing/2014/main" id="{CEB548E9-E806-8AAC-29E8-E9F93AA839E4}"/>
              </a:ext>
            </a:extLst>
          </p:cNvPr>
          <p:cNvSpPr/>
          <p:nvPr/>
        </p:nvSpPr>
        <p:spPr>
          <a:xfrm>
            <a:off x="3842710" y="4123470"/>
            <a:ext cx="2759075" cy="973931"/>
          </a:xfrm>
          <a:prstGeom prst="wedgeRectCallout">
            <a:avLst>
              <a:gd name="adj1" fmla="val 47618"/>
              <a:gd name="adj2" fmla="val -208847"/>
            </a:avLst>
          </a:prstGeom>
          <a:solidFill>
            <a:srgbClr val="FFFF99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If in a document at least one term can be found some attribute,</a:t>
            </a:r>
          </a:p>
          <a:p>
            <a:r>
              <a:rPr lang="en-US" altLang="ja-JP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then the document will be filtered into search results</a:t>
            </a:r>
            <a:endParaRPr lang="ja-JP" altLang="en-US" sz="10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角丸四角形 26">
            <a:extLst>
              <a:ext uri="{FF2B5EF4-FFF2-40B4-BE49-F238E27FC236}">
                <a16:creationId xmlns:a16="http://schemas.microsoft.com/office/drawing/2014/main" id="{81D64438-4170-9ABE-496B-94CF28A4D889}"/>
              </a:ext>
            </a:extLst>
          </p:cNvPr>
          <p:cNvSpPr/>
          <p:nvPr/>
        </p:nvSpPr>
        <p:spPr>
          <a:xfrm flipV="1">
            <a:off x="5020259" y="3170142"/>
            <a:ext cx="713218" cy="258858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2" name="角丸四角形 26">
            <a:extLst>
              <a:ext uri="{FF2B5EF4-FFF2-40B4-BE49-F238E27FC236}">
                <a16:creationId xmlns:a16="http://schemas.microsoft.com/office/drawing/2014/main" id="{2B40DE5D-A0D1-5E9D-D775-D8881B03C550}"/>
              </a:ext>
            </a:extLst>
          </p:cNvPr>
          <p:cNvSpPr/>
          <p:nvPr/>
        </p:nvSpPr>
        <p:spPr>
          <a:xfrm flipV="1">
            <a:off x="6245176" y="2272385"/>
            <a:ext cx="713218" cy="258858"/>
          </a:xfrm>
          <a:prstGeom prst="roundRect">
            <a:avLst>
              <a:gd name="adj" fmla="val 7598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4080397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2458BE8B-3556-0AF4-AF7F-1D0F223CE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033" y="3372407"/>
            <a:ext cx="2800350" cy="24955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1B700F6-B7AC-9939-0E19-8BD8607AC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634" y="1762906"/>
            <a:ext cx="1687334" cy="479312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8317875-9E38-5D3D-DFD1-E1F0E9B21572}"/>
              </a:ext>
            </a:extLst>
          </p:cNvPr>
          <p:cNvSpPr txBox="1">
            <a:spLocks/>
          </p:cNvSpPr>
          <p:nvPr/>
        </p:nvSpPr>
        <p:spPr>
          <a:xfrm>
            <a:off x="0" y="2222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/>
              <a:t>6-3.Attribute Search</a:t>
            </a:r>
            <a:endParaRPr lang="ja-JP" altLang="en-US" kern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C1EE3-D490-A546-A637-841A91C66AA9}"/>
              </a:ext>
            </a:extLst>
          </p:cNvPr>
          <p:cNvSpPr txBox="1"/>
          <p:nvPr/>
        </p:nvSpPr>
        <p:spPr>
          <a:xfrm>
            <a:off x="-1" y="558803"/>
            <a:ext cx="116001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You can filter by Attributes, not just by keyword</a:t>
            </a:r>
          </a:p>
          <a:p>
            <a:r>
              <a:rPr lang="ja-JP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（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Supporting searching for keywords only, attribute values only, keyword</a:t>
            </a:r>
            <a:r>
              <a:rPr lang="ja-JP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＋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attribute values</a:t>
            </a:r>
            <a:r>
              <a:rPr lang="ja-JP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  <a:endParaRPr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テキスト ボックス 19">
            <a:extLst>
              <a:ext uri="{FF2B5EF4-FFF2-40B4-BE49-F238E27FC236}">
                <a16:creationId xmlns:a16="http://schemas.microsoft.com/office/drawing/2014/main" id="{320E8B0F-249F-4AD7-0288-0BB2CC9F4E26}"/>
              </a:ext>
            </a:extLst>
          </p:cNvPr>
          <p:cNvSpPr txBox="1"/>
          <p:nvPr/>
        </p:nvSpPr>
        <p:spPr>
          <a:xfrm>
            <a:off x="6830458" y="3377106"/>
            <a:ext cx="50078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※Refer to below link for Attribute Search in detail.</a:t>
            </a:r>
          </a:p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  <a:hlinkClick r:id="rId4"/>
              </a:rPr>
              <a:t>https://jp.nissan.biz/EDMS_RL/ui/#!/doc/10a5767e-efd4-447e-a8c9-d329fea65e23</a:t>
            </a:r>
            <a:endParaRPr lang="en-US" altLang="ja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BFF50708-39C1-8E41-2118-E2F4687F1D75}"/>
              </a:ext>
            </a:extLst>
          </p:cNvPr>
          <p:cNvSpPr/>
          <p:nvPr/>
        </p:nvSpPr>
        <p:spPr bwMode="auto">
          <a:xfrm>
            <a:off x="1248626" y="2076377"/>
            <a:ext cx="736631" cy="71983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1" name="矢印: 右カーブ 7">
            <a:extLst>
              <a:ext uri="{FF2B5EF4-FFF2-40B4-BE49-F238E27FC236}">
                <a16:creationId xmlns:a16="http://schemas.microsoft.com/office/drawing/2014/main" id="{C0476E25-9ADB-2376-59D2-3B8011665BCB}"/>
              </a:ext>
            </a:extLst>
          </p:cNvPr>
          <p:cNvSpPr/>
          <p:nvPr/>
        </p:nvSpPr>
        <p:spPr bwMode="auto">
          <a:xfrm>
            <a:off x="631671" y="2646790"/>
            <a:ext cx="468737" cy="929613"/>
          </a:xfrm>
          <a:prstGeom prst="curvedRightArrow">
            <a:avLst/>
          </a:prstGeom>
          <a:solidFill>
            <a:schemeClr val="accent2"/>
          </a:solidFill>
          <a:ln w="1270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sz="2400" dirty="0" err="1">
              <a:solidFill>
                <a:schemeClr val="bg1"/>
              </a:solidFill>
              <a:ea typeface="ＭＳ Ｐゴシック" charset="-128"/>
            </a:endParaRPr>
          </a:p>
        </p:txBody>
      </p:sp>
      <p:sp>
        <p:nvSpPr>
          <p:cNvPr id="12" name="楕円 8">
            <a:extLst>
              <a:ext uri="{FF2B5EF4-FFF2-40B4-BE49-F238E27FC236}">
                <a16:creationId xmlns:a16="http://schemas.microsoft.com/office/drawing/2014/main" id="{8B01D9F4-52CA-885A-3E7A-F55BEAC546E1}"/>
              </a:ext>
            </a:extLst>
          </p:cNvPr>
          <p:cNvSpPr/>
          <p:nvPr/>
        </p:nvSpPr>
        <p:spPr bwMode="auto">
          <a:xfrm>
            <a:off x="2570174" y="2232140"/>
            <a:ext cx="358794" cy="920623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3" name="矢印: 右 9">
            <a:extLst>
              <a:ext uri="{FF2B5EF4-FFF2-40B4-BE49-F238E27FC236}">
                <a16:creationId xmlns:a16="http://schemas.microsoft.com/office/drawing/2014/main" id="{7089B36C-DC6A-A059-FB84-0BECB2436A28}"/>
              </a:ext>
            </a:extLst>
          </p:cNvPr>
          <p:cNvSpPr/>
          <p:nvPr/>
        </p:nvSpPr>
        <p:spPr bwMode="auto">
          <a:xfrm rot="5400000">
            <a:off x="2709676" y="3042492"/>
            <a:ext cx="480708" cy="188520"/>
          </a:xfrm>
          <a:prstGeom prst="rightArrow">
            <a:avLst>
              <a:gd name="adj1" fmla="val 50001"/>
              <a:gd name="adj2" fmla="val 50000"/>
            </a:avLst>
          </a:prstGeom>
          <a:solidFill>
            <a:schemeClr val="accent2"/>
          </a:solidFill>
          <a:ln w="1270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4" name="正方形/長方形 14">
            <a:extLst>
              <a:ext uri="{FF2B5EF4-FFF2-40B4-BE49-F238E27FC236}">
                <a16:creationId xmlns:a16="http://schemas.microsoft.com/office/drawing/2014/main" id="{5B683F32-D270-F894-7D8F-2B015F66EB12}"/>
              </a:ext>
            </a:extLst>
          </p:cNvPr>
          <p:cNvSpPr/>
          <p:nvPr/>
        </p:nvSpPr>
        <p:spPr bwMode="auto">
          <a:xfrm>
            <a:off x="3458410" y="5455595"/>
            <a:ext cx="3395977" cy="41236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5" name="吹き出し: 角を丸めた四角形 15">
            <a:extLst>
              <a:ext uri="{FF2B5EF4-FFF2-40B4-BE49-F238E27FC236}">
                <a16:creationId xmlns:a16="http://schemas.microsoft.com/office/drawing/2014/main" id="{B9495913-F824-82A8-CBDE-A5EA8784F72E}"/>
              </a:ext>
            </a:extLst>
          </p:cNvPr>
          <p:cNvSpPr/>
          <p:nvPr/>
        </p:nvSpPr>
        <p:spPr bwMode="auto">
          <a:xfrm>
            <a:off x="7983157" y="4992281"/>
            <a:ext cx="3855150" cy="987751"/>
          </a:xfrm>
          <a:prstGeom prst="wedgeRoundRectCallout">
            <a:avLst>
              <a:gd name="adj1" fmla="val -78882"/>
              <a:gd name="adj2" fmla="val 12878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16" name="テキスト ボックス 17">
            <a:extLst>
              <a:ext uri="{FF2B5EF4-FFF2-40B4-BE49-F238E27FC236}">
                <a16:creationId xmlns:a16="http://schemas.microsoft.com/office/drawing/2014/main" id="{5361615C-023C-3AC0-090F-B6C9A2E29BA0}"/>
              </a:ext>
            </a:extLst>
          </p:cNvPr>
          <p:cNvSpPr txBox="1"/>
          <p:nvPr/>
        </p:nvSpPr>
        <p:spPr>
          <a:xfrm>
            <a:off x="7983158" y="5170381"/>
            <a:ext cx="3769055" cy="836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✔　</a:t>
            </a:r>
            <a:r>
              <a:rPr lang="en-US" altLang="ja-JP" sz="16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When hover the mouse over some attributes filter, Search tips will show.</a:t>
            </a:r>
            <a:endParaRPr lang="en-US" altLang="ja-JP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7" name="テキスト ボックス 21">
            <a:extLst>
              <a:ext uri="{FF2B5EF4-FFF2-40B4-BE49-F238E27FC236}">
                <a16:creationId xmlns:a16="http://schemas.microsoft.com/office/drawing/2014/main" id="{5CD04BFD-B29C-089B-77B9-14E50891362A}"/>
              </a:ext>
            </a:extLst>
          </p:cNvPr>
          <p:cNvSpPr txBox="1"/>
          <p:nvPr/>
        </p:nvSpPr>
        <p:spPr>
          <a:xfrm>
            <a:off x="95693" y="4640100"/>
            <a:ext cx="1047646" cy="263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1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Attributes</a:t>
            </a:r>
            <a:endParaRPr lang="ja-JP" altLang="en-US" sz="1100" b="1" dirty="0"/>
          </a:p>
        </p:txBody>
      </p:sp>
      <p:sp>
        <p:nvSpPr>
          <p:cNvPr id="18" name="吹き出し: 角を丸めた四角形 22">
            <a:extLst>
              <a:ext uri="{FF2B5EF4-FFF2-40B4-BE49-F238E27FC236}">
                <a16:creationId xmlns:a16="http://schemas.microsoft.com/office/drawing/2014/main" id="{AAA23240-9F83-D843-4EC7-F4FB29CFE87B}"/>
              </a:ext>
            </a:extLst>
          </p:cNvPr>
          <p:cNvSpPr/>
          <p:nvPr/>
        </p:nvSpPr>
        <p:spPr bwMode="auto">
          <a:xfrm>
            <a:off x="1143340" y="3289497"/>
            <a:ext cx="1731458" cy="3030384"/>
          </a:xfrm>
          <a:prstGeom prst="wedgeRoundRectCallout">
            <a:avLst>
              <a:gd name="adj1" fmla="val -70164"/>
              <a:gd name="adj2" fmla="val 2349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19" name="テキスト ボックス 28">
            <a:extLst>
              <a:ext uri="{FF2B5EF4-FFF2-40B4-BE49-F238E27FC236}">
                <a16:creationId xmlns:a16="http://schemas.microsoft.com/office/drawing/2014/main" id="{EA3EAC95-07DB-45E5-2D02-684162AEFE4F}"/>
              </a:ext>
            </a:extLst>
          </p:cNvPr>
          <p:cNvSpPr txBox="1"/>
          <p:nvPr/>
        </p:nvSpPr>
        <p:spPr>
          <a:xfrm>
            <a:off x="2913144" y="1797493"/>
            <a:ext cx="1090532" cy="27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Scroll bar</a:t>
            </a:r>
            <a:endParaRPr lang="ja-JP" altLang="en-US" sz="1200" b="1" dirty="0"/>
          </a:p>
        </p:txBody>
      </p:sp>
      <p:cxnSp>
        <p:nvCxnSpPr>
          <p:cNvPr id="20" name="直線矢印コネクタ 30">
            <a:extLst>
              <a:ext uri="{FF2B5EF4-FFF2-40B4-BE49-F238E27FC236}">
                <a16:creationId xmlns:a16="http://schemas.microsoft.com/office/drawing/2014/main" id="{22727E08-0FE9-FE8A-7E4B-64B9C30B7755}"/>
              </a:ext>
            </a:extLst>
          </p:cNvPr>
          <p:cNvCxnSpPr>
            <a:endCxn id="12" idx="7"/>
          </p:cNvCxnSpPr>
          <p:nvPr/>
        </p:nvCxnSpPr>
        <p:spPr bwMode="auto">
          <a:xfrm flipH="1">
            <a:off x="2876424" y="2121466"/>
            <a:ext cx="262954" cy="24549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54004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0FCE6C-0FC9-6B7D-A310-7EC8AF734860}"/>
              </a:ext>
            </a:extLst>
          </p:cNvPr>
          <p:cNvSpPr txBox="1">
            <a:spLocks/>
          </p:cNvSpPr>
          <p:nvPr/>
        </p:nvSpPr>
        <p:spPr>
          <a:xfrm>
            <a:off x="0" y="2222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kern="0"/>
              <a:t>6-4.How to view document</a:t>
            </a:r>
            <a:endParaRPr lang="ja-JP" altLang="en-US" kern="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DB7C8E-379B-6C1F-CF29-3DDD648F25D7}"/>
              </a:ext>
            </a:extLst>
          </p:cNvPr>
          <p:cNvSpPr txBox="1"/>
          <p:nvPr/>
        </p:nvSpPr>
        <p:spPr>
          <a:xfrm>
            <a:off x="104775" y="614949"/>
            <a:ext cx="1127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Search document via search function -&gt; click on target document in search result</a:t>
            </a:r>
            <a:r>
              <a:rPr lang="ja-JP" altLang="en-US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-&gt; Detail screen will open.</a:t>
            </a:r>
          </a:p>
          <a:p>
            <a:endParaRPr lang="en-US" altLang="ja-JP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6A7C2-D570-9935-2D1B-562A88228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77" y="907335"/>
            <a:ext cx="10105874" cy="407933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A168916-E2F8-60D4-9A3B-EECE2EB5646F}"/>
              </a:ext>
            </a:extLst>
          </p:cNvPr>
          <p:cNvSpPr/>
          <p:nvPr/>
        </p:nvSpPr>
        <p:spPr bwMode="auto">
          <a:xfrm>
            <a:off x="318977" y="4474158"/>
            <a:ext cx="920416" cy="42745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9" name="正方形/長方形 5">
            <a:extLst>
              <a:ext uri="{FF2B5EF4-FFF2-40B4-BE49-F238E27FC236}">
                <a16:creationId xmlns:a16="http://schemas.microsoft.com/office/drawing/2014/main" id="{5DC50C71-463C-93EA-9B3B-9693963D4467}"/>
              </a:ext>
            </a:extLst>
          </p:cNvPr>
          <p:cNvSpPr/>
          <p:nvPr/>
        </p:nvSpPr>
        <p:spPr bwMode="auto">
          <a:xfrm>
            <a:off x="2679404" y="1599829"/>
            <a:ext cx="1010093" cy="58477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0" name="正方形/長方形 15">
            <a:extLst>
              <a:ext uri="{FF2B5EF4-FFF2-40B4-BE49-F238E27FC236}">
                <a16:creationId xmlns:a16="http://schemas.microsoft.com/office/drawing/2014/main" id="{E47CEC68-FB07-979E-AABD-617B50B844EB}"/>
              </a:ext>
            </a:extLst>
          </p:cNvPr>
          <p:cNvSpPr/>
          <p:nvPr/>
        </p:nvSpPr>
        <p:spPr>
          <a:xfrm>
            <a:off x="354081" y="4986670"/>
            <a:ext cx="1432708" cy="430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pPr>
              <a:spcAft>
                <a:spcPts val="0"/>
              </a:spcAft>
            </a:pPr>
            <a:r>
              <a:rPr lang="ja-JP" altLang="en-US" sz="1100" kern="100" dirty="0"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r>
              <a:rPr lang="en-US" altLang="ja-JP" sz="1100" kern="100" dirty="0"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Searc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h target document</a:t>
            </a:r>
            <a:endParaRPr lang="en-US" altLang="ja-JP" sz="1100" kern="100" dirty="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正方形/長方形 18">
            <a:extLst>
              <a:ext uri="{FF2B5EF4-FFF2-40B4-BE49-F238E27FC236}">
                <a16:creationId xmlns:a16="http://schemas.microsoft.com/office/drawing/2014/main" id="{E31A42B7-F0A9-1FFC-9CB3-E926933CCDB4}"/>
              </a:ext>
            </a:extLst>
          </p:cNvPr>
          <p:cNvSpPr/>
          <p:nvPr/>
        </p:nvSpPr>
        <p:spPr>
          <a:xfrm>
            <a:off x="2962276" y="2369265"/>
            <a:ext cx="2740762" cy="430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pPr>
              <a:spcAft>
                <a:spcPts val="0"/>
              </a:spcAft>
            </a:pPr>
            <a:r>
              <a:rPr lang="ja-JP" altLang="en-US" sz="1100" kern="100" dirty="0"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r>
              <a:rPr lang="en-US" altLang="ja-JP" sz="1100" kern="100" dirty="0"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Click on target document in search result</a:t>
            </a:r>
          </a:p>
        </p:txBody>
      </p:sp>
      <p:sp>
        <p:nvSpPr>
          <p:cNvPr id="12" name="テキスト ボックス 17">
            <a:extLst>
              <a:ext uri="{FF2B5EF4-FFF2-40B4-BE49-F238E27FC236}">
                <a16:creationId xmlns:a16="http://schemas.microsoft.com/office/drawing/2014/main" id="{3FB0035C-E75B-C9F5-5854-52A7855FC6CF}"/>
              </a:ext>
            </a:extLst>
          </p:cNvPr>
          <p:cNvSpPr txBox="1"/>
          <p:nvPr/>
        </p:nvSpPr>
        <p:spPr>
          <a:xfrm>
            <a:off x="2679404" y="2421442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テキスト ボックス 16">
            <a:extLst>
              <a:ext uri="{FF2B5EF4-FFF2-40B4-BE49-F238E27FC236}">
                <a16:creationId xmlns:a16="http://schemas.microsoft.com/office/drawing/2014/main" id="{734775B1-0738-A820-AEEE-8862F9F58518}"/>
              </a:ext>
            </a:extLst>
          </p:cNvPr>
          <p:cNvSpPr txBox="1"/>
          <p:nvPr/>
        </p:nvSpPr>
        <p:spPr>
          <a:xfrm>
            <a:off x="104775" y="5055458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112005-07FF-15DB-55F9-18E8BAB52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577" y="2544982"/>
            <a:ext cx="6786002" cy="3858352"/>
          </a:xfrm>
          <a:prstGeom prst="rect">
            <a:avLst/>
          </a:prstGeom>
        </p:spPr>
      </p:pic>
      <p:sp>
        <p:nvSpPr>
          <p:cNvPr id="18" name="正方形/長方形 20">
            <a:extLst>
              <a:ext uri="{FF2B5EF4-FFF2-40B4-BE49-F238E27FC236}">
                <a16:creationId xmlns:a16="http://schemas.microsoft.com/office/drawing/2014/main" id="{4ECD43D6-D037-6F7A-D79A-AED4427FFBC1}"/>
              </a:ext>
            </a:extLst>
          </p:cNvPr>
          <p:cNvSpPr/>
          <p:nvPr/>
        </p:nvSpPr>
        <p:spPr>
          <a:xfrm>
            <a:off x="7384445" y="2735176"/>
            <a:ext cx="2740762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pPr>
              <a:spcAft>
                <a:spcPts val="0"/>
              </a:spcAft>
            </a:pPr>
            <a:r>
              <a:rPr lang="ja-JP" altLang="en-US" sz="1100" kern="100" dirty="0"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Detail screen is opened.</a:t>
            </a:r>
            <a:endParaRPr lang="en-US" altLang="ja-JP" sz="1100" kern="100" dirty="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1FEE23-61B3-2CF6-FE81-6B39296B7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577" y="5031451"/>
            <a:ext cx="6786002" cy="1371883"/>
          </a:xfrm>
          <a:prstGeom prst="rect">
            <a:avLst/>
          </a:prstGeom>
        </p:spPr>
      </p:pic>
      <p:sp>
        <p:nvSpPr>
          <p:cNvPr id="21" name="吹き出し: 角を丸めた四角形 24">
            <a:extLst>
              <a:ext uri="{FF2B5EF4-FFF2-40B4-BE49-F238E27FC236}">
                <a16:creationId xmlns:a16="http://schemas.microsoft.com/office/drawing/2014/main" id="{888C0570-A2E4-85CC-0E38-1CF16F26CADD}"/>
              </a:ext>
            </a:extLst>
          </p:cNvPr>
          <p:cNvSpPr/>
          <p:nvPr/>
        </p:nvSpPr>
        <p:spPr bwMode="auto">
          <a:xfrm>
            <a:off x="4838577" y="3172503"/>
            <a:ext cx="3843451" cy="1701132"/>
          </a:xfrm>
          <a:prstGeom prst="wedgeRoundRectCallout">
            <a:avLst>
              <a:gd name="adj1" fmla="val -69385"/>
              <a:gd name="adj2" fmla="val 15786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22" name="吹き出し: 角を丸めた四角形 25">
            <a:extLst>
              <a:ext uri="{FF2B5EF4-FFF2-40B4-BE49-F238E27FC236}">
                <a16:creationId xmlns:a16="http://schemas.microsoft.com/office/drawing/2014/main" id="{833CABFE-44A2-8CF7-87CA-F78A319E0FAE}"/>
              </a:ext>
            </a:extLst>
          </p:cNvPr>
          <p:cNvSpPr/>
          <p:nvPr/>
        </p:nvSpPr>
        <p:spPr bwMode="auto">
          <a:xfrm>
            <a:off x="4876800" y="5053260"/>
            <a:ext cx="4026637" cy="1394855"/>
          </a:xfrm>
          <a:prstGeom prst="wedgeRoundRectCallout">
            <a:avLst>
              <a:gd name="adj1" fmla="val -63465"/>
              <a:gd name="adj2" fmla="val 2826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23" name="テキスト ボックス 27">
            <a:extLst>
              <a:ext uri="{FF2B5EF4-FFF2-40B4-BE49-F238E27FC236}">
                <a16:creationId xmlns:a16="http://schemas.microsoft.com/office/drawing/2014/main" id="{5FA6B65B-0320-F355-3839-B655456C9183}"/>
              </a:ext>
            </a:extLst>
          </p:cNvPr>
          <p:cNvSpPr txBox="1"/>
          <p:nvPr/>
        </p:nvSpPr>
        <p:spPr>
          <a:xfrm>
            <a:off x="1857351" y="4134762"/>
            <a:ext cx="28651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Top: Attribute value.</a:t>
            </a:r>
          </a:p>
          <a:p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Defined attribute information is displayed</a:t>
            </a:r>
            <a:endParaRPr lang="ja-JP" altLang="en-US" sz="1400" dirty="0"/>
          </a:p>
        </p:txBody>
      </p:sp>
      <p:sp>
        <p:nvSpPr>
          <p:cNvPr id="24" name="テキスト ボックス 28">
            <a:extLst>
              <a:ext uri="{FF2B5EF4-FFF2-40B4-BE49-F238E27FC236}">
                <a16:creationId xmlns:a16="http://schemas.microsoft.com/office/drawing/2014/main" id="{D34F2CED-8930-A89C-1B0A-E6DB5F22954F}"/>
              </a:ext>
            </a:extLst>
          </p:cNvPr>
          <p:cNvSpPr txBox="1"/>
          <p:nvPr/>
        </p:nvSpPr>
        <p:spPr>
          <a:xfrm>
            <a:off x="1606425" y="5423142"/>
            <a:ext cx="2865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Bottom: Attachment list</a:t>
            </a:r>
          </a:p>
          <a:p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A set of attached file displays.</a:t>
            </a:r>
          </a:p>
          <a:p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You can click on target file to check content.</a:t>
            </a:r>
            <a:endParaRPr lang="ja-JP" altLang="en-US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452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123714" y="3136612"/>
            <a:ext cx="1944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dirty="0">
                <a:latin typeface="Nissan Pro Regular" panose="02000503030000020003" pitchFamily="50" charset="0"/>
              </a:rPr>
              <a:t>Thank you</a:t>
            </a:r>
            <a:endParaRPr kumimoji="1" lang="ja-JP" altLang="en-US" sz="3200" dirty="0">
              <a:latin typeface="Nissan Pro Regular" panose="0200050303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461841"/>
      </p:ext>
    </p:extLst>
  </p:cSld>
  <p:clrMapOvr>
    <a:masterClrMapping/>
  </p:clrMapOvr>
</p:sld>
</file>

<file path=ppt/theme/theme1.xml><?xml version="1.0" encoding="utf-8"?>
<a:theme xmlns:a="http://schemas.openxmlformats.org/drawingml/2006/main" name="1. Cover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. Expec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Blank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38023c-351b-4ee8-a88e-8f6363b5466e">
      <Value>4</Value>
    </TaxCatchAll>
    <_ip_UnifiedCompliancePolicyUIAction xmlns="http://schemas.microsoft.com/sharepoint/v3" xsi:nil="true"/>
    <lcf76f155ced4ddcb4097134ff3c332f xmlns="452b68de-9366-4a6d-8b6e-45428c3cd271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FD94448B71AFC4A8B1EBDDDC854B0DE" ma:contentTypeVersion="16" ma:contentTypeDescription="新しいドキュメントを作成します。" ma:contentTypeScope="" ma:versionID="ebda6bb7a9766a19165573f96521afa2">
  <xsd:schema xmlns:xsd="http://www.w3.org/2001/XMLSchema" xmlns:xs="http://www.w3.org/2001/XMLSchema" xmlns:p="http://schemas.microsoft.com/office/2006/metadata/properties" xmlns:ns1="http://schemas.microsoft.com/sharepoint/v3" xmlns:ns2="452b68de-9366-4a6d-8b6e-45428c3cd271" xmlns:ns3="ec38023c-351b-4ee8-a88e-8f6363b5466e" targetNamespace="http://schemas.microsoft.com/office/2006/metadata/properties" ma:root="true" ma:fieldsID="7fa6882473ca470321a00f2a5b04302e" ns1:_="" ns2:_="" ns3:_="">
    <xsd:import namespace="http://schemas.microsoft.com/sharepoint/v3"/>
    <xsd:import namespace="452b68de-9366-4a6d-8b6e-45428c3cd271"/>
    <xsd:import namespace="ec38023c-351b-4ee8-a88e-8f6363b546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統合コンプライアンス ポリシーのプロパティ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統合コンプライアンス ポリシーの UI アクション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b68de-9366-4a6d-8b6e-45428c3c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4e993f94-6c0e-4a87-8957-b0e4ba0de1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8023c-351b-4ee8-a88e-8f6363b5466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0f2b330-1e26-4f81-b56a-fa51a7a3ebf6}" ma:internalName="TaxCatchAll" ma:showField="CatchAllData" ma:web="ec38023c-351b-4ee8-a88e-8f6363b546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F7788A-C23C-465D-8064-A50C91A5D78E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CEDDF703-E9F5-456C-BB9E-9A3971734E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152c0564-0d49-45bb-8ba5-6417696b9a04"/>
    <ds:schemaRef ds:uri="ec38023c-351b-4ee8-a88e-8f6363b5466e"/>
    <ds:schemaRef ds:uri="452b68de-9366-4a6d-8b6e-45428c3cd271"/>
  </ds:schemaRefs>
</ds:datastoreItem>
</file>

<file path=customXml/itemProps3.xml><?xml version="1.0" encoding="utf-8"?>
<ds:datastoreItem xmlns:ds="http://schemas.openxmlformats.org/officeDocument/2006/customXml" ds:itemID="{A9E2D947-EFDE-4344-B6D7-91E6C21F22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52b68de-9366-4a6d-8b6e-45428c3cd271"/>
    <ds:schemaRef ds:uri="ec38023c-351b-4ee8-a88e-8f6363b546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978CB5E-DCDF-4123-8B1F-4541C3EC9CD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f30fc12-c89a-4829-a476-5bf9e2086332}" enabled="1" method="Privileged" siteId="{d6b0bbee-7cd9-4d60-bce6-4a67b543e2a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4498</TotalTime>
  <Words>798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Meiryo UI</vt:lpstr>
      <vt:lpstr>ＭＳ Ｐゴシック</vt:lpstr>
      <vt:lpstr>Nissan Pro Bold</vt:lpstr>
      <vt:lpstr>Nissan Pro Regular</vt:lpstr>
      <vt:lpstr>Arial</vt:lpstr>
      <vt:lpstr>Calibri</vt:lpstr>
      <vt:lpstr>Verdana</vt:lpstr>
      <vt:lpstr>Wingdings</vt:lpstr>
      <vt:lpstr>1. Cover Slide</vt:lpstr>
      <vt:lpstr>2. Expectation</vt:lpstr>
      <vt:lpstr>3. Blank Slide</vt:lpstr>
      <vt:lpstr>PowerPoint Presentation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INFORMATION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MANIVANNAN Subha</dc:creator>
  <cp:keywords>Alliance;N-C;Nissan Confidential C</cp:keywords>
  <cp:lastModifiedBy>KUMAR Rokesh</cp:lastModifiedBy>
  <cp:revision>335</cp:revision>
  <cp:lastPrinted>2020-05-13T04:25:47Z</cp:lastPrinted>
  <dcterms:created xsi:type="dcterms:W3CDTF">2012-03-12T00:47:51Z</dcterms:created>
  <dcterms:modified xsi:type="dcterms:W3CDTF">2024-10-15T10:00:47Z</dcterms:modified>
  <cp:category>N-C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ExpireDate">
    <vt:lpwstr>2017-03-13T00:00:00Z</vt:lpwstr>
  </property>
  <property fmtid="{D5CDD505-2E9C-101B-9397-08002B2CF9AE}" pid="3" name="ItemRetentionFormula">
    <vt:lpwstr/>
  </property>
  <property fmtid="{D5CDD505-2E9C-101B-9397-08002B2CF9AE}" pid="4" name="_dlc_policyId">
    <vt:lpwstr>0x01010066E3D1BD537B466A9FB4715B858074E90086CBB1B2C534404481B05826C05EBC4F|473777199</vt:lpwstr>
  </property>
  <property fmtid="{D5CDD505-2E9C-101B-9397-08002B2CF9AE}" pid="5" name="ACP_Nissan_SecurityClassification">
    <vt:lpwstr>4;#CU/NC|e41da57d-3dff-4267-98d4-5ef0a8afe73e</vt:lpwstr>
  </property>
  <property fmtid="{D5CDD505-2E9C-101B-9397-08002B2CF9AE}" pid="6" name="ACP_Nissan_DocumentType">
    <vt:lpwstr/>
  </property>
  <property fmtid="{D5CDD505-2E9C-101B-9397-08002B2CF9AE}" pid="7" name="ACP_OwnerOrganization">
    <vt:lpwstr/>
  </property>
  <property fmtid="{D5CDD505-2E9C-101B-9397-08002B2CF9AE}" pid="8" name="ACP_Nissan_RelevantRegion">
    <vt:lpwstr/>
  </property>
  <property fmtid="{D5CDD505-2E9C-101B-9397-08002B2CF9AE}" pid="9" name="ContentTypeId">
    <vt:lpwstr>0x0101006FD94448B71AFC4A8B1EBDDDC854B0DE</vt:lpwstr>
  </property>
  <property fmtid="{D5CDD505-2E9C-101B-9397-08002B2CF9AE}" pid="10" name="_dlc_ItemStageId">
    <vt:lpwstr>1</vt:lpwstr>
  </property>
  <property fmtid="{D5CDD505-2E9C-101B-9397-08002B2CF9AE}" pid="11" name="_dlc_LastRun">
    <vt:lpwstr>03/19/2017 01:29:10</vt:lpwstr>
  </property>
  <property fmtid="{D5CDD505-2E9C-101B-9397-08002B2CF9AE}" pid="12" name="ClassificationContentMarkingFooterText">
    <vt:lpwstr>Internal I</vt:lpwstr>
  </property>
</Properties>
</file>